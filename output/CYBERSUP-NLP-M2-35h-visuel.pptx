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a0fc5db1bf4482" /><Relationship Type="http://schemas.openxmlformats.org/officeDocument/2006/relationships/extended-properties" Target="/docProps/app.xml" Id="Rbe6b09625c094feb" /><Relationship Type="http://schemas.openxmlformats.org/officeDocument/2006/relationships/officeDocument" Target="/ppt/presentation.xml" Id="Radb0dcc08aa54fb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8eebff47b9e407c"/>
  </p:sldMasterIdLst>
  <p:notesMasterIdLst>
    <p:notesMasterId xmlns:r="http://schemas.openxmlformats.org/officeDocument/2006/relationships" r:id="Ra4e10c4ef51c4907"/>
  </p:notesMasterIdLst>
  <p:sldIdLst>
    <p:sldId xmlns:r="http://schemas.openxmlformats.org/officeDocument/2006/relationships" id="256" r:id="R139389942aa640da"/>
    <p:sldId xmlns:r="http://schemas.openxmlformats.org/officeDocument/2006/relationships" id="257" r:id="R2f0e9078ac6e4ec9"/>
    <p:sldId xmlns:r="http://schemas.openxmlformats.org/officeDocument/2006/relationships" id="258" r:id="Ra7e25bfe94514546"/>
    <p:sldId xmlns:r="http://schemas.openxmlformats.org/officeDocument/2006/relationships" id="259" r:id="R628fa81d1acf4f87"/>
    <p:sldId xmlns:r="http://schemas.openxmlformats.org/officeDocument/2006/relationships" id="260" r:id="R9887844862a645ff"/>
    <p:sldId xmlns:r="http://schemas.openxmlformats.org/officeDocument/2006/relationships" id="261" r:id="Rc4cd590316ae4d61"/>
    <p:sldId xmlns:r="http://schemas.openxmlformats.org/officeDocument/2006/relationships" id="262" r:id="Red6ba72b04d74bef"/>
    <p:sldId xmlns:r="http://schemas.openxmlformats.org/officeDocument/2006/relationships" id="263" r:id="Rb0327f8d03a145cc"/>
    <p:sldId xmlns:r="http://schemas.openxmlformats.org/officeDocument/2006/relationships" id="264" r:id="Rf46d1b5d3c1a4a22"/>
    <p:sldId xmlns:r="http://schemas.openxmlformats.org/officeDocument/2006/relationships" id="265" r:id="Rb0c6fd89f61f4e24"/>
    <p:sldId xmlns:r="http://schemas.openxmlformats.org/officeDocument/2006/relationships" id="266" r:id="Rab6c8b7447a84e3a"/>
    <p:sldId xmlns:r="http://schemas.openxmlformats.org/officeDocument/2006/relationships" id="267" r:id="R98f61b1670d14130"/>
    <p:sldId xmlns:r="http://schemas.openxmlformats.org/officeDocument/2006/relationships" id="268" r:id="R4e91377e5ac14866"/>
    <p:sldId xmlns:r="http://schemas.openxmlformats.org/officeDocument/2006/relationships" id="269" r:id="Ra9ad0ec689124fd4"/>
    <p:sldId xmlns:r="http://schemas.openxmlformats.org/officeDocument/2006/relationships" id="270" r:id="R687210b510014fc4"/>
    <p:sldId xmlns:r="http://schemas.openxmlformats.org/officeDocument/2006/relationships" id="271" r:id="Rdc1111a9dfa741f8"/>
    <p:sldId xmlns:r="http://schemas.openxmlformats.org/officeDocument/2006/relationships" id="272" r:id="R5ad6e34050514281"/>
    <p:sldId xmlns:r="http://schemas.openxmlformats.org/officeDocument/2006/relationships" id="273" r:id="R5154e83eb5384e3e"/>
    <p:sldId xmlns:r="http://schemas.openxmlformats.org/officeDocument/2006/relationships" id="274" r:id="R696ae189dcca4db8"/>
    <p:sldId xmlns:r="http://schemas.openxmlformats.org/officeDocument/2006/relationships" id="275" r:id="R2cb4a918c1e44134"/>
    <p:sldId xmlns:r="http://schemas.openxmlformats.org/officeDocument/2006/relationships" id="276" r:id="R7869a7df806e468d"/>
    <p:sldId xmlns:r="http://schemas.openxmlformats.org/officeDocument/2006/relationships" id="277" r:id="R316a8dd7532a4376"/>
    <p:sldId xmlns:r="http://schemas.openxmlformats.org/officeDocument/2006/relationships" id="278" r:id="R653e9a511dab40f0"/>
    <p:sldId xmlns:r="http://schemas.openxmlformats.org/officeDocument/2006/relationships" id="279" r:id="R16c2f99ba2584afe"/>
    <p:sldId xmlns:r="http://schemas.openxmlformats.org/officeDocument/2006/relationships" id="280" r:id="Re71272d067094025"/>
    <p:sldId xmlns:r="http://schemas.openxmlformats.org/officeDocument/2006/relationships" id="281" r:id="R6df5c98b4ec84f4e"/>
    <p:sldId xmlns:r="http://schemas.openxmlformats.org/officeDocument/2006/relationships" id="282" r:id="Rf196c9483214430c"/>
    <p:sldId xmlns:r="http://schemas.openxmlformats.org/officeDocument/2006/relationships" id="283" r:id="R95658ab6444e49fd"/>
    <p:sldId xmlns:r="http://schemas.openxmlformats.org/officeDocument/2006/relationships" id="284" r:id="Rfe17ee708ec4486c"/>
    <p:sldId xmlns:r="http://schemas.openxmlformats.org/officeDocument/2006/relationships" id="285" r:id="Raf5e8211ad344731"/>
    <p:sldId xmlns:r="http://schemas.openxmlformats.org/officeDocument/2006/relationships" id="286" r:id="Rf4c5c2e350b34ee0"/>
    <p:sldId xmlns:r="http://schemas.openxmlformats.org/officeDocument/2006/relationships" id="287" r:id="R3a4fbbc04195427c"/>
    <p:sldId xmlns:r="http://schemas.openxmlformats.org/officeDocument/2006/relationships" id="288" r:id="Rb6c03004cb5648a2"/>
    <p:sldId xmlns:r="http://schemas.openxmlformats.org/officeDocument/2006/relationships" id="289" r:id="R7ca15b8b5a134ab5"/>
    <p:sldId xmlns:r="http://schemas.openxmlformats.org/officeDocument/2006/relationships" id="290" r:id="Rc1fe00f584e344c4"/>
    <p:sldId xmlns:r="http://schemas.openxmlformats.org/officeDocument/2006/relationships" id="291" r:id="R2d3f353dc7624fe7"/>
    <p:sldId xmlns:r="http://schemas.openxmlformats.org/officeDocument/2006/relationships" id="292" r:id="Re23356438aa443ec"/>
    <p:sldId xmlns:r="http://schemas.openxmlformats.org/officeDocument/2006/relationships" id="293" r:id="R5c2ef8f6101e417f"/>
    <p:sldId xmlns:r="http://schemas.openxmlformats.org/officeDocument/2006/relationships" id="294" r:id="Rafa26ea18abf4d61"/>
    <p:sldId xmlns:r="http://schemas.openxmlformats.org/officeDocument/2006/relationships" id="295" r:id="R9a6278eb674248a7"/>
    <p:sldId xmlns:r="http://schemas.openxmlformats.org/officeDocument/2006/relationships" id="296" r:id="R1bfeaee90dfe4580"/>
    <p:sldId xmlns:r="http://schemas.openxmlformats.org/officeDocument/2006/relationships" id="297" r:id="R424c989bafb945d2"/>
    <p:sldId xmlns:r="http://schemas.openxmlformats.org/officeDocument/2006/relationships" id="298" r:id="Rcc376f7099f84f78"/>
    <p:sldId xmlns:r="http://schemas.openxmlformats.org/officeDocument/2006/relationships" id="299" r:id="Re5a4e5fe421d4612"/>
    <p:sldId xmlns:r="http://schemas.openxmlformats.org/officeDocument/2006/relationships" id="300" r:id="R58097375f85140bc"/>
    <p:sldId xmlns:r="http://schemas.openxmlformats.org/officeDocument/2006/relationships" id="301" r:id="Rba81066809244ce9"/>
    <p:sldId xmlns:r="http://schemas.openxmlformats.org/officeDocument/2006/relationships" id="302" r:id="Radee6fe5d7a8404c"/>
    <p:sldId xmlns:r="http://schemas.openxmlformats.org/officeDocument/2006/relationships" id="303" r:id="Rbd7287a186574160"/>
    <p:sldId xmlns:r="http://schemas.openxmlformats.org/officeDocument/2006/relationships" id="304" r:id="R6a5883ccb69342ef"/>
    <p:sldId xmlns:r="http://schemas.openxmlformats.org/officeDocument/2006/relationships" id="305" r:id="R6d679293adff4f65"/>
    <p:sldId xmlns:r="http://schemas.openxmlformats.org/officeDocument/2006/relationships" id="306" r:id="Ra9a52b65079f41a0"/>
    <p:sldId xmlns:r="http://schemas.openxmlformats.org/officeDocument/2006/relationships" id="307" r:id="Rcf7b55fb5c18472c"/>
    <p:sldId xmlns:r="http://schemas.openxmlformats.org/officeDocument/2006/relationships" id="308" r:id="R518b01ef669f46ce"/>
    <p:sldId xmlns:r="http://schemas.openxmlformats.org/officeDocument/2006/relationships" id="309" r:id="R376910b3aa1640e8"/>
    <p:sldId xmlns:r="http://schemas.openxmlformats.org/officeDocument/2006/relationships" id="310" r:id="R9a3f1a1ea1d34320"/>
    <p:sldId xmlns:r="http://schemas.openxmlformats.org/officeDocument/2006/relationships" id="311" r:id="Ra59984bc9593438a"/>
    <p:sldId xmlns:r="http://schemas.openxmlformats.org/officeDocument/2006/relationships" id="312" r:id="R423c0a67c98a4ab1"/>
    <p:sldId xmlns:r="http://schemas.openxmlformats.org/officeDocument/2006/relationships" id="313" r:id="Rc70f8f19683645d5"/>
    <p:sldId xmlns:r="http://schemas.openxmlformats.org/officeDocument/2006/relationships" id="314" r:id="Rb2ca19cad2a54ea5"/>
    <p:sldId xmlns:r="http://schemas.openxmlformats.org/officeDocument/2006/relationships" id="315" r:id="R9dd9eba26ada48ce"/>
    <p:sldId xmlns:r="http://schemas.openxmlformats.org/officeDocument/2006/relationships" id="316" r:id="Rdcd07812604d4382"/>
    <p:sldId xmlns:r="http://schemas.openxmlformats.org/officeDocument/2006/relationships" id="317" r:id="R96d55ad116784552"/>
    <p:sldId xmlns:r="http://schemas.openxmlformats.org/officeDocument/2006/relationships" id="318" r:id="Rea1d84a4cac14240"/>
    <p:sldId xmlns:r="http://schemas.openxmlformats.org/officeDocument/2006/relationships" id="319" r:id="R2dfc5583c8144c6b"/>
    <p:sldId xmlns:r="http://schemas.openxmlformats.org/officeDocument/2006/relationships" id="320" r:id="R70a87bc16c124a05"/>
    <p:sldId xmlns:r="http://schemas.openxmlformats.org/officeDocument/2006/relationships" id="321" r:id="Rbf18ba9093924c58"/>
    <p:sldId xmlns:r="http://schemas.openxmlformats.org/officeDocument/2006/relationships" id="322" r:id="R8733b36c292b4b16"/>
    <p:sldId xmlns:r="http://schemas.openxmlformats.org/officeDocument/2006/relationships" id="323" r:id="R59dd9f0b4baa4dfd"/>
    <p:sldId xmlns:r="http://schemas.openxmlformats.org/officeDocument/2006/relationships" id="324" r:id="Rb592db2b661b469f"/>
    <p:sldId xmlns:r="http://schemas.openxmlformats.org/officeDocument/2006/relationships" id="325" r:id="Rab49cf6df09d4912"/>
    <p:sldId xmlns:r="http://schemas.openxmlformats.org/officeDocument/2006/relationships" id="326" r:id="R28ddda42757a4af5"/>
    <p:sldId xmlns:r="http://schemas.openxmlformats.org/officeDocument/2006/relationships" id="327" r:id="R5414300c4b644e7b"/>
    <p:sldId xmlns:r="http://schemas.openxmlformats.org/officeDocument/2006/relationships" id="328" r:id="R3183df4e0d794366"/>
    <p:sldId xmlns:r="http://schemas.openxmlformats.org/officeDocument/2006/relationships" id="329" r:id="R657d00578d364a78"/>
    <p:sldId xmlns:r="http://schemas.openxmlformats.org/officeDocument/2006/relationships" id="330" r:id="R60abdfaba2564806"/>
    <p:sldId xmlns:r="http://schemas.openxmlformats.org/officeDocument/2006/relationships" id="331" r:id="Ra6a3d01b0a644c9d"/>
    <p:sldId xmlns:r="http://schemas.openxmlformats.org/officeDocument/2006/relationships" id="332" r:id="R6d187fd615184558"/>
    <p:sldId xmlns:r="http://schemas.openxmlformats.org/officeDocument/2006/relationships" id="333" r:id="Redafa9fb25b042c3"/>
    <p:sldId xmlns:r="http://schemas.openxmlformats.org/officeDocument/2006/relationships" id="334" r:id="R82afb38fd8174005"/>
    <p:sldId xmlns:r="http://schemas.openxmlformats.org/officeDocument/2006/relationships" id="335" r:id="R7e5e569b03814173"/>
    <p:sldId xmlns:r="http://schemas.openxmlformats.org/officeDocument/2006/relationships" id="336" r:id="R3e9ecb8f62d3472d"/>
    <p:sldId xmlns:r="http://schemas.openxmlformats.org/officeDocument/2006/relationships" id="337" r:id="R8baaf6e295964bb6"/>
    <p:sldId xmlns:r="http://schemas.openxmlformats.org/officeDocument/2006/relationships" id="338" r:id="R19f2af5e33d041ed"/>
    <p:sldId xmlns:r="http://schemas.openxmlformats.org/officeDocument/2006/relationships" id="339" r:id="Rc8c81b02f0ee442e"/>
    <p:sldId xmlns:r="http://schemas.openxmlformats.org/officeDocument/2006/relationships" id="340" r:id="Ra859bc4452dc4f4a"/>
    <p:sldId xmlns:r="http://schemas.openxmlformats.org/officeDocument/2006/relationships" id="341" r:id="R25c12fc5af864b0b"/>
    <p:sldId xmlns:r="http://schemas.openxmlformats.org/officeDocument/2006/relationships" id="342" r:id="Re485940de9fd4e00"/>
    <p:sldId xmlns:r="http://schemas.openxmlformats.org/officeDocument/2006/relationships" id="343" r:id="R8fc80c75644a4e24"/>
    <p:sldId xmlns:r="http://schemas.openxmlformats.org/officeDocument/2006/relationships" id="344" r:id="R5562e57d02ad4b15"/>
    <p:sldId xmlns:r="http://schemas.openxmlformats.org/officeDocument/2006/relationships" id="345" r:id="R96da6a30211b4b8f"/>
    <p:sldId xmlns:r="http://schemas.openxmlformats.org/officeDocument/2006/relationships" id="346" r:id="R47f6fafb5c56400b"/>
    <p:sldId xmlns:r="http://schemas.openxmlformats.org/officeDocument/2006/relationships" id="347" r:id="R15abc66601064f7f"/>
    <p:sldId xmlns:r="http://schemas.openxmlformats.org/officeDocument/2006/relationships" id="348" r:id="Re1a876f8c44c4a04"/>
    <p:sldId xmlns:r="http://schemas.openxmlformats.org/officeDocument/2006/relationships" id="349" r:id="R89b092cfc74c4e3b"/>
    <p:sldId xmlns:r="http://schemas.openxmlformats.org/officeDocument/2006/relationships" id="350" r:id="Rafac8314d37d4ba0"/>
    <p:sldId xmlns:r="http://schemas.openxmlformats.org/officeDocument/2006/relationships" id="351" r:id="R0295b2eb68204064"/>
    <p:sldId xmlns:r="http://schemas.openxmlformats.org/officeDocument/2006/relationships" id="352" r:id="R670d694a61704fa6"/>
    <p:sldId xmlns:r="http://schemas.openxmlformats.org/officeDocument/2006/relationships" id="353" r:id="Rc7e25f070ec046c4"/>
    <p:sldId xmlns:r="http://schemas.openxmlformats.org/officeDocument/2006/relationships" id="354" r:id="R7194017280df48ce"/>
    <p:sldId xmlns:r="http://schemas.openxmlformats.org/officeDocument/2006/relationships" id="355" r:id="Ra41762cc94004eb4"/>
    <p:sldId xmlns:r="http://schemas.openxmlformats.org/officeDocument/2006/relationships" id="356" r:id="R6057466d848944e5"/>
    <p:sldId xmlns:r="http://schemas.openxmlformats.org/officeDocument/2006/relationships" id="357" r:id="R389f2d24fe1d43d7"/>
    <p:sldId xmlns:r="http://schemas.openxmlformats.org/officeDocument/2006/relationships" id="358" r:id="Rbc6dfdb58b1b4d67"/>
    <p:sldId xmlns:r="http://schemas.openxmlformats.org/officeDocument/2006/relationships" id="359" r:id="R657b0853feee4cf0"/>
    <p:sldId xmlns:r="http://schemas.openxmlformats.org/officeDocument/2006/relationships" id="360" r:id="Rd8a324c97d894972"/>
    <p:sldId xmlns:r="http://schemas.openxmlformats.org/officeDocument/2006/relationships" id="361" r:id="R54295de9c63b4889"/>
    <p:sldId xmlns:r="http://schemas.openxmlformats.org/officeDocument/2006/relationships" id="362" r:id="R79f46d6a83c74493"/>
    <p:sldId xmlns:r="http://schemas.openxmlformats.org/officeDocument/2006/relationships" id="363" r:id="Rdd4bdec6c4314535"/>
    <p:sldId xmlns:r="http://schemas.openxmlformats.org/officeDocument/2006/relationships" id="364" r:id="R17a3064e24ad49ff"/>
    <p:sldId xmlns:r="http://schemas.openxmlformats.org/officeDocument/2006/relationships" id="365" r:id="R2c80f8baf2314c4d"/>
    <p:sldId xmlns:r="http://schemas.openxmlformats.org/officeDocument/2006/relationships" id="366" r:id="Re2d0a2ca29314832"/>
    <p:sldId xmlns:r="http://schemas.openxmlformats.org/officeDocument/2006/relationships" id="367" r:id="Rfb7c6eb09f064d3e"/>
    <p:sldId xmlns:r="http://schemas.openxmlformats.org/officeDocument/2006/relationships" id="368" r:id="R1a7fafbc07d74c77"/>
  </p:sldIdLst>
  <p:sldSz cx="12192000" cy="6858000"/>
  <p:notesSz cx="6858000" cy="9144000"/>
  <p:embeddedFontLst>
    <p:embeddedFont>
      <p:font typeface="Roboto Mono"/>
      <p:regular xmlns:r="http://schemas.openxmlformats.org/officeDocument/2006/relationships" r:id="R28124e3b3099489a"/>
      <p:bold xmlns:r="http://schemas.openxmlformats.org/officeDocument/2006/relationships" r:id="Rf73703feea104f4a"/>
      <p:italic xmlns:r="http://schemas.openxmlformats.org/officeDocument/2006/relationships" r:id="Rb2cfd68c7e2c43d8"/>
      <p:boldItalic xmlns:r="http://schemas.openxmlformats.org/officeDocument/2006/relationships" r:id="Rd615c28812b64b14"/>
    </p:embeddedFont>
    <p:embeddedFont>
      <p:font typeface="Archivo Black"/>
      <p:regular xmlns:r="http://schemas.openxmlformats.org/officeDocument/2006/relationships" r:id="Rd3304aa2a9414c19"/>
    </p:embeddedFont>
    <p:embeddedFont>
      <p:font typeface="DM Sans"/>
      <p:regular xmlns:r="http://schemas.openxmlformats.org/officeDocument/2006/relationships" r:id="Rf20e22ed24d54894"/>
      <p:bold xmlns:r="http://schemas.openxmlformats.org/officeDocument/2006/relationships" r:id="R2f625be767ce4590"/>
      <p:italic xmlns:r="http://schemas.openxmlformats.org/officeDocument/2006/relationships" r:id="R93412d6d1c8f478a"/>
      <p:boldItalic xmlns:r="http://schemas.openxmlformats.org/officeDocument/2006/relationships" r:id="R38f1435d3a0a442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ba393c41e24ff1" /><Relationship Type="http://schemas.openxmlformats.org/officeDocument/2006/relationships/slideMaster" Target="/ppt/slideMasters/slideMaster1.xml" Id="Rf8eebff47b9e407c" /><Relationship Type="http://schemas.openxmlformats.org/officeDocument/2006/relationships/notesMaster" Target="/ppt/notesMasters/notesMaster1.xml" Id="Ra4e10c4ef51c4907" /><Relationship Type="http://schemas.openxmlformats.org/officeDocument/2006/relationships/presProps" Target="/ppt/presProps.xml" Id="Rdf51f1d92a334f60" /><Relationship Type="http://schemas.openxmlformats.org/officeDocument/2006/relationships/tableStyles" Target="/ppt/tableStyles.xml" Id="Recefa1af408f49fb" /><Relationship Type="http://schemas.openxmlformats.org/officeDocument/2006/relationships/font" Target="/ppt/fonts/font.dat" Id="R28124e3b3099489a" /><Relationship Type="http://schemas.openxmlformats.org/officeDocument/2006/relationships/font" Target="/ppt/fonts/font2.dat" Id="Rf73703feea104f4a" /><Relationship Type="http://schemas.openxmlformats.org/officeDocument/2006/relationships/font" Target="/ppt/fonts/font3.dat" Id="Rb2cfd68c7e2c43d8" /><Relationship Type="http://schemas.openxmlformats.org/officeDocument/2006/relationships/font" Target="/ppt/fonts/font4.dat" Id="Rd615c28812b64b14" /><Relationship Type="http://schemas.openxmlformats.org/officeDocument/2006/relationships/font" Target="/ppt/fonts/font5.dat" Id="Rd3304aa2a9414c19" /><Relationship Type="http://schemas.openxmlformats.org/officeDocument/2006/relationships/font" Target="/ppt/fonts/font6.dat" Id="Rf20e22ed24d54894" /><Relationship Type="http://schemas.openxmlformats.org/officeDocument/2006/relationships/font" Target="/ppt/fonts/font7.dat" Id="R2f625be767ce4590" /><Relationship Type="http://schemas.openxmlformats.org/officeDocument/2006/relationships/font" Target="/ppt/fonts/font8.dat" Id="R93412d6d1c8f478a" /><Relationship Type="http://schemas.openxmlformats.org/officeDocument/2006/relationships/font" Target="/ppt/fonts/font9.dat" Id="R38f1435d3a0a4425" /><Relationship Type="http://schemas.openxmlformats.org/officeDocument/2006/relationships/slide" Target="/ppt/slides/slide1.xml" Id="R139389942aa640da" /><Relationship Type="http://schemas.openxmlformats.org/officeDocument/2006/relationships/slide" Target="/ppt/slides/slide2.xml" Id="R2f0e9078ac6e4ec9" /><Relationship Type="http://schemas.openxmlformats.org/officeDocument/2006/relationships/slide" Target="/ppt/slides/slide3.xml" Id="Ra7e25bfe94514546" /><Relationship Type="http://schemas.openxmlformats.org/officeDocument/2006/relationships/slide" Target="/ppt/slides/slide4.xml" Id="R628fa81d1acf4f87" /><Relationship Type="http://schemas.openxmlformats.org/officeDocument/2006/relationships/slide" Target="/ppt/slides/slide5.xml" Id="R9887844862a645ff" /><Relationship Type="http://schemas.openxmlformats.org/officeDocument/2006/relationships/slide" Target="/ppt/slides/slide6.xml" Id="Rc4cd590316ae4d61" /><Relationship Type="http://schemas.openxmlformats.org/officeDocument/2006/relationships/slide" Target="/ppt/slides/slide7.xml" Id="Red6ba72b04d74bef" /><Relationship Type="http://schemas.openxmlformats.org/officeDocument/2006/relationships/slide" Target="/ppt/slides/slide8.xml" Id="Rb0327f8d03a145cc" /><Relationship Type="http://schemas.openxmlformats.org/officeDocument/2006/relationships/slide" Target="/ppt/slides/slide9.xml" Id="Rf46d1b5d3c1a4a22" /><Relationship Type="http://schemas.openxmlformats.org/officeDocument/2006/relationships/slide" Target="/ppt/slides/slide10.xml" Id="Rb0c6fd89f61f4e24" /><Relationship Type="http://schemas.openxmlformats.org/officeDocument/2006/relationships/slide" Target="/ppt/slides/slide11.xml" Id="Rab6c8b7447a84e3a" /><Relationship Type="http://schemas.openxmlformats.org/officeDocument/2006/relationships/slide" Target="/ppt/slides/slide12.xml" Id="R98f61b1670d14130" /><Relationship Type="http://schemas.openxmlformats.org/officeDocument/2006/relationships/slide" Target="/ppt/slides/slide13.xml" Id="R4e91377e5ac14866" /><Relationship Type="http://schemas.openxmlformats.org/officeDocument/2006/relationships/slide" Target="/ppt/slides/slide14.xml" Id="Ra9ad0ec689124fd4" /><Relationship Type="http://schemas.openxmlformats.org/officeDocument/2006/relationships/slide" Target="/ppt/slides/slide15.xml" Id="R687210b510014fc4" /><Relationship Type="http://schemas.openxmlformats.org/officeDocument/2006/relationships/slide" Target="/ppt/slides/slide16.xml" Id="Rdc1111a9dfa741f8" /><Relationship Type="http://schemas.openxmlformats.org/officeDocument/2006/relationships/slide" Target="/ppt/slides/slide17.xml" Id="R5ad6e34050514281" /><Relationship Type="http://schemas.openxmlformats.org/officeDocument/2006/relationships/slide" Target="/ppt/slides/slide18.xml" Id="R5154e83eb5384e3e" /><Relationship Type="http://schemas.openxmlformats.org/officeDocument/2006/relationships/slide" Target="/ppt/slides/slide19.xml" Id="R696ae189dcca4db8" /><Relationship Type="http://schemas.openxmlformats.org/officeDocument/2006/relationships/slide" Target="/ppt/slides/slide20.xml" Id="R2cb4a918c1e44134" /><Relationship Type="http://schemas.openxmlformats.org/officeDocument/2006/relationships/slide" Target="/ppt/slides/slide21.xml" Id="R7869a7df806e468d" /><Relationship Type="http://schemas.openxmlformats.org/officeDocument/2006/relationships/slide" Target="/ppt/slides/slide22.xml" Id="R316a8dd7532a4376" /><Relationship Type="http://schemas.openxmlformats.org/officeDocument/2006/relationships/slide" Target="/ppt/slides/slide23.xml" Id="R653e9a511dab40f0" /><Relationship Type="http://schemas.openxmlformats.org/officeDocument/2006/relationships/slide" Target="/ppt/slides/slide24.xml" Id="R16c2f99ba2584afe" /><Relationship Type="http://schemas.openxmlformats.org/officeDocument/2006/relationships/slide" Target="/ppt/slides/slide25.xml" Id="Re71272d067094025" /><Relationship Type="http://schemas.openxmlformats.org/officeDocument/2006/relationships/slide" Target="/ppt/slides/slide26.xml" Id="R6df5c98b4ec84f4e" /><Relationship Type="http://schemas.openxmlformats.org/officeDocument/2006/relationships/slide" Target="/ppt/slides/slide27.xml" Id="Rf196c9483214430c" /><Relationship Type="http://schemas.openxmlformats.org/officeDocument/2006/relationships/slide" Target="/ppt/slides/slide28.xml" Id="R95658ab6444e49fd" /><Relationship Type="http://schemas.openxmlformats.org/officeDocument/2006/relationships/slide" Target="/ppt/slides/slide29.xml" Id="Rfe17ee708ec4486c" /><Relationship Type="http://schemas.openxmlformats.org/officeDocument/2006/relationships/slide" Target="/ppt/slides/slide30.xml" Id="Raf5e8211ad344731" /><Relationship Type="http://schemas.openxmlformats.org/officeDocument/2006/relationships/slide" Target="/ppt/slides/slide31.xml" Id="Rf4c5c2e350b34ee0" /><Relationship Type="http://schemas.openxmlformats.org/officeDocument/2006/relationships/slide" Target="/ppt/slides/slide32.xml" Id="R3a4fbbc04195427c" /><Relationship Type="http://schemas.openxmlformats.org/officeDocument/2006/relationships/slide" Target="/ppt/slides/slide33.xml" Id="Rb6c03004cb5648a2" /><Relationship Type="http://schemas.openxmlformats.org/officeDocument/2006/relationships/slide" Target="/ppt/slides/slide34.xml" Id="R7ca15b8b5a134ab5" /><Relationship Type="http://schemas.openxmlformats.org/officeDocument/2006/relationships/slide" Target="/ppt/slides/slide35.xml" Id="Rc1fe00f584e344c4" /><Relationship Type="http://schemas.openxmlformats.org/officeDocument/2006/relationships/slide" Target="/ppt/slides/slide36.xml" Id="R2d3f353dc7624fe7" /><Relationship Type="http://schemas.openxmlformats.org/officeDocument/2006/relationships/slide" Target="/ppt/slides/slide37.xml" Id="Re23356438aa443ec" /><Relationship Type="http://schemas.openxmlformats.org/officeDocument/2006/relationships/slide" Target="/ppt/slides/slide38.xml" Id="R5c2ef8f6101e417f" /><Relationship Type="http://schemas.openxmlformats.org/officeDocument/2006/relationships/slide" Target="/ppt/slides/slide39.xml" Id="Rafa26ea18abf4d61" /><Relationship Type="http://schemas.openxmlformats.org/officeDocument/2006/relationships/slide" Target="/ppt/slides/slide40.xml" Id="R9a6278eb674248a7" /><Relationship Type="http://schemas.openxmlformats.org/officeDocument/2006/relationships/slide" Target="/ppt/slides/slide41.xml" Id="R1bfeaee90dfe4580" /><Relationship Type="http://schemas.openxmlformats.org/officeDocument/2006/relationships/slide" Target="/ppt/slides/slide42.xml" Id="R424c989bafb945d2" /><Relationship Type="http://schemas.openxmlformats.org/officeDocument/2006/relationships/slide" Target="/ppt/slides/slide43.xml" Id="Rcc376f7099f84f78" /><Relationship Type="http://schemas.openxmlformats.org/officeDocument/2006/relationships/slide" Target="/ppt/slides/slide44.xml" Id="Re5a4e5fe421d4612" /><Relationship Type="http://schemas.openxmlformats.org/officeDocument/2006/relationships/slide" Target="/ppt/slides/slide45.xml" Id="R58097375f85140bc" /><Relationship Type="http://schemas.openxmlformats.org/officeDocument/2006/relationships/slide" Target="/ppt/slides/slide46.xml" Id="Rba81066809244ce9" /><Relationship Type="http://schemas.openxmlformats.org/officeDocument/2006/relationships/slide" Target="/ppt/slides/slide47.xml" Id="Radee6fe5d7a8404c" /><Relationship Type="http://schemas.openxmlformats.org/officeDocument/2006/relationships/slide" Target="/ppt/slides/slide48.xml" Id="Rbd7287a186574160" /><Relationship Type="http://schemas.openxmlformats.org/officeDocument/2006/relationships/slide" Target="/ppt/slides/slide49.xml" Id="R6a5883ccb69342ef" /><Relationship Type="http://schemas.openxmlformats.org/officeDocument/2006/relationships/slide" Target="/ppt/slides/slide50.xml" Id="R6d679293adff4f65" /><Relationship Type="http://schemas.openxmlformats.org/officeDocument/2006/relationships/slide" Target="/ppt/slides/slide51.xml" Id="Ra9a52b65079f41a0" /><Relationship Type="http://schemas.openxmlformats.org/officeDocument/2006/relationships/slide" Target="/ppt/slides/slide52.xml" Id="Rcf7b55fb5c18472c" /><Relationship Type="http://schemas.openxmlformats.org/officeDocument/2006/relationships/slide" Target="/ppt/slides/slide53.xml" Id="R518b01ef669f46ce" /><Relationship Type="http://schemas.openxmlformats.org/officeDocument/2006/relationships/slide" Target="/ppt/slides/slide54.xml" Id="R376910b3aa1640e8" /><Relationship Type="http://schemas.openxmlformats.org/officeDocument/2006/relationships/slide" Target="/ppt/slides/slide55.xml" Id="R9a3f1a1ea1d34320" /><Relationship Type="http://schemas.openxmlformats.org/officeDocument/2006/relationships/slide" Target="/ppt/slides/slide56.xml" Id="Ra59984bc9593438a" /><Relationship Type="http://schemas.openxmlformats.org/officeDocument/2006/relationships/slide" Target="/ppt/slides/slide57.xml" Id="R423c0a67c98a4ab1" /><Relationship Type="http://schemas.openxmlformats.org/officeDocument/2006/relationships/slide" Target="/ppt/slides/slide58.xml" Id="Rc70f8f19683645d5" /><Relationship Type="http://schemas.openxmlformats.org/officeDocument/2006/relationships/slide" Target="/ppt/slides/slide59.xml" Id="Rb2ca19cad2a54ea5" /><Relationship Type="http://schemas.openxmlformats.org/officeDocument/2006/relationships/slide" Target="/ppt/slides/slide60.xml" Id="R9dd9eba26ada48ce" /><Relationship Type="http://schemas.openxmlformats.org/officeDocument/2006/relationships/slide" Target="/ppt/slides/slide61.xml" Id="Rdcd07812604d4382" /><Relationship Type="http://schemas.openxmlformats.org/officeDocument/2006/relationships/slide" Target="/ppt/slides/slide62.xml" Id="R96d55ad116784552" /><Relationship Type="http://schemas.openxmlformats.org/officeDocument/2006/relationships/slide" Target="/ppt/slides/slide63.xml" Id="Rea1d84a4cac14240" /><Relationship Type="http://schemas.openxmlformats.org/officeDocument/2006/relationships/slide" Target="/ppt/slides/slide64.xml" Id="R2dfc5583c8144c6b" /><Relationship Type="http://schemas.openxmlformats.org/officeDocument/2006/relationships/slide" Target="/ppt/slides/slide65.xml" Id="R70a87bc16c124a05" /><Relationship Type="http://schemas.openxmlformats.org/officeDocument/2006/relationships/slide" Target="/ppt/slides/slide66.xml" Id="Rbf18ba9093924c58" /><Relationship Type="http://schemas.openxmlformats.org/officeDocument/2006/relationships/slide" Target="/ppt/slides/slide67.xml" Id="R8733b36c292b4b16" /><Relationship Type="http://schemas.openxmlformats.org/officeDocument/2006/relationships/slide" Target="/ppt/slides/slide68.xml" Id="R59dd9f0b4baa4dfd" /><Relationship Type="http://schemas.openxmlformats.org/officeDocument/2006/relationships/slide" Target="/ppt/slides/slide69.xml" Id="Rb592db2b661b469f" /><Relationship Type="http://schemas.openxmlformats.org/officeDocument/2006/relationships/slide" Target="/ppt/slides/slide70.xml" Id="Rab49cf6df09d4912" /><Relationship Type="http://schemas.openxmlformats.org/officeDocument/2006/relationships/slide" Target="/ppt/slides/slide71.xml" Id="R28ddda42757a4af5" /><Relationship Type="http://schemas.openxmlformats.org/officeDocument/2006/relationships/slide" Target="/ppt/slides/slide72.xml" Id="R5414300c4b644e7b" /><Relationship Type="http://schemas.openxmlformats.org/officeDocument/2006/relationships/slide" Target="/ppt/slides/slide73.xml" Id="R3183df4e0d794366" /><Relationship Type="http://schemas.openxmlformats.org/officeDocument/2006/relationships/slide" Target="/ppt/slides/slide74.xml" Id="R657d00578d364a78" /><Relationship Type="http://schemas.openxmlformats.org/officeDocument/2006/relationships/slide" Target="/ppt/slides/slide75.xml" Id="R60abdfaba2564806" /><Relationship Type="http://schemas.openxmlformats.org/officeDocument/2006/relationships/slide" Target="/ppt/slides/slide76.xml" Id="Ra6a3d01b0a644c9d" /><Relationship Type="http://schemas.openxmlformats.org/officeDocument/2006/relationships/slide" Target="/ppt/slides/slide77.xml" Id="R6d187fd615184558" /><Relationship Type="http://schemas.openxmlformats.org/officeDocument/2006/relationships/slide" Target="/ppt/slides/slide78.xml" Id="Redafa9fb25b042c3" /><Relationship Type="http://schemas.openxmlformats.org/officeDocument/2006/relationships/slide" Target="/ppt/slides/slide79.xml" Id="R82afb38fd8174005" /><Relationship Type="http://schemas.openxmlformats.org/officeDocument/2006/relationships/slide" Target="/ppt/slides/slide80.xml" Id="R7e5e569b03814173" /><Relationship Type="http://schemas.openxmlformats.org/officeDocument/2006/relationships/slide" Target="/ppt/slides/slide81.xml" Id="R3e9ecb8f62d3472d" /><Relationship Type="http://schemas.openxmlformats.org/officeDocument/2006/relationships/slide" Target="/ppt/slides/slide82.xml" Id="R8baaf6e295964bb6" /><Relationship Type="http://schemas.openxmlformats.org/officeDocument/2006/relationships/slide" Target="/ppt/slides/slide83.xml" Id="R19f2af5e33d041ed" /><Relationship Type="http://schemas.openxmlformats.org/officeDocument/2006/relationships/slide" Target="/ppt/slides/slide84.xml" Id="Rc8c81b02f0ee442e" /><Relationship Type="http://schemas.openxmlformats.org/officeDocument/2006/relationships/slide" Target="/ppt/slides/slide85.xml" Id="Ra859bc4452dc4f4a" /><Relationship Type="http://schemas.openxmlformats.org/officeDocument/2006/relationships/slide" Target="/ppt/slides/slide86.xml" Id="R25c12fc5af864b0b" /><Relationship Type="http://schemas.openxmlformats.org/officeDocument/2006/relationships/slide" Target="/ppt/slides/slide87.xml" Id="Re485940de9fd4e00" /><Relationship Type="http://schemas.openxmlformats.org/officeDocument/2006/relationships/slide" Target="/ppt/slides/slide88.xml" Id="R8fc80c75644a4e24" /><Relationship Type="http://schemas.openxmlformats.org/officeDocument/2006/relationships/slide" Target="/ppt/slides/slide89.xml" Id="R5562e57d02ad4b15" /><Relationship Type="http://schemas.openxmlformats.org/officeDocument/2006/relationships/slide" Target="/ppt/slides/slide90.xml" Id="R96da6a30211b4b8f" /><Relationship Type="http://schemas.openxmlformats.org/officeDocument/2006/relationships/slide" Target="/ppt/slides/slide91.xml" Id="R47f6fafb5c56400b" /><Relationship Type="http://schemas.openxmlformats.org/officeDocument/2006/relationships/slide" Target="/ppt/slides/slide92.xml" Id="R15abc66601064f7f" /><Relationship Type="http://schemas.openxmlformats.org/officeDocument/2006/relationships/slide" Target="/ppt/slides/slide93.xml" Id="Re1a876f8c44c4a04" /><Relationship Type="http://schemas.openxmlformats.org/officeDocument/2006/relationships/slide" Target="/ppt/slides/slide94.xml" Id="R89b092cfc74c4e3b" /><Relationship Type="http://schemas.openxmlformats.org/officeDocument/2006/relationships/slide" Target="/ppt/slides/slide95.xml" Id="Rafac8314d37d4ba0" /><Relationship Type="http://schemas.openxmlformats.org/officeDocument/2006/relationships/slide" Target="/ppt/slides/slide96.xml" Id="R0295b2eb68204064" /><Relationship Type="http://schemas.openxmlformats.org/officeDocument/2006/relationships/slide" Target="/ppt/slides/slide97.xml" Id="R670d694a61704fa6" /><Relationship Type="http://schemas.openxmlformats.org/officeDocument/2006/relationships/slide" Target="/ppt/slides/slide98.xml" Id="Rc7e25f070ec046c4" /><Relationship Type="http://schemas.openxmlformats.org/officeDocument/2006/relationships/slide" Target="/ppt/slides/slide99.xml" Id="R7194017280df48ce" /><Relationship Type="http://schemas.openxmlformats.org/officeDocument/2006/relationships/slide" Target="/ppt/slides/slide100.xml" Id="Ra41762cc94004eb4" /><Relationship Type="http://schemas.openxmlformats.org/officeDocument/2006/relationships/slide" Target="/ppt/slides/slide101.xml" Id="R6057466d848944e5" /><Relationship Type="http://schemas.openxmlformats.org/officeDocument/2006/relationships/slide" Target="/ppt/slides/slide102.xml" Id="R389f2d24fe1d43d7" /><Relationship Type="http://schemas.openxmlformats.org/officeDocument/2006/relationships/slide" Target="/ppt/slides/slide103.xml" Id="Rbc6dfdb58b1b4d67" /><Relationship Type="http://schemas.openxmlformats.org/officeDocument/2006/relationships/slide" Target="/ppt/slides/slide104.xml" Id="R657b0853feee4cf0" /><Relationship Type="http://schemas.openxmlformats.org/officeDocument/2006/relationships/slide" Target="/ppt/slides/slide105.xml" Id="Rd8a324c97d894972" /><Relationship Type="http://schemas.openxmlformats.org/officeDocument/2006/relationships/slide" Target="/ppt/slides/slide106.xml" Id="R54295de9c63b4889" /><Relationship Type="http://schemas.openxmlformats.org/officeDocument/2006/relationships/slide" Target="/ppt/slides/slide107.xml" Id="R79f46d6a83c74493" /><Relationship Type="http://schemas.openxmlformats.org/officeDocument/2006/relationships/slide" Target="/ppt/slides/slide108.xml" Id="Rdd4bdec6c4314535" /><Relationship Type="http://schemas.openxmlformats.org/officeDocument/2006/relationships/slide" Target="/ppt/slides/slide109.xml" Id="R17a3064e24ad49ff" /><Relationship Type="http://schemas.openxmlformats.org/officeDocument/2006/relationships/slide" Target="/ppt/slides/slide110.xml" Id="R2c80f8baf2314c4d" /><Relationship Type="http://schemas.openxmlformats.org/officeDocument/2006/relationships/slide" Target="/ppt/slides/slide111.xml" Id="Re2d0a2ca29314832" /><Relationship Type="http://schemas.openxmlformats.org/officeDocument/2006/relationships/slide" Target="/ppt/slides/slide112.xml" Id="Rfb7c6eb09f064d3e" /><Relationship Type="http://schemas.openxmlformats.org/officeDocument/2006/relationships/slide" Target="/ppt/slides/slide113.xml" Id="R1a7fafbc07d74c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b95fb9173d41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3495d60acd4aac" /><Relationship Type="http://schemas.openxmlformats.org/officeDocument/2006/relationships/notesMaster" Target="/ppt/notesMasters/notesMaster1.xml" Id="R0108a429510448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fd78f2257e40b2" /><Relationship Type="http://schemas.openxmlformats.org/officeDocument/2006/relationships/notesMaster" Target="/ppt/notesMasters/notesMaster1.xml" Id="R7cab22cd792b48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26e0243dec41c8" /><Relationship Type="http://schemas.openxmlformats.org/officeDocument/2006/relationships/notesMaster" Target="/ppt/notesMasters/notesMaster1.xml" Id="R46fc2b447bd449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501cd6d05f4bf4" /><Relationship Type="http://schemas.openxmlformats.org/officeDocument/2006/relationships/notesMaster" Target="/ppt/notesMasters/notesMaster1.xml" Id="Rd431a948ec254e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82f37a9d6d4abb" /><Relationship Type="http://schemas.openxmlformats.org/officeDocument/2006/relationships/notesMaster" Target="/ppt/notesMasters/notesMaster1.xml" Id="R6d6a92f85a4642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9cc317b83d4a7b" /><Relationship Type="http://schemas.openxmlformats.org/officeDocument/2006/relationships/notesMaster" Target="/ppt/notesMasters/notesMaster1.xml" Id="Rc9b96bb8b41643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5686b23f854a39" /><Relationship Type="http://schemas.openxmlformats.org/officeDocument/2006/relationships/notesMaster" Target="/ppt/notesMasters/notesMaster1.xml" Id="Rf2c042dd9faa40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a40ea51e7541e0" /><Relationship Type="http://schemas.openxmlformats.org/officeDocument/2006/relationships/notesMaster" Target="/ppt/notesMasters/notesMaster1.xml" Id="Rb5b8c22aa61b41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e251a5e98a4fdc" /><Relationship Type="http://schemas.openxmlformats.org/officeDocument/2006/relationships/notesMaster" Target="/ppt/notesMasters/notesMaster1.xml" Id="R83e8c424ee7144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ad1941b2024ec1" /><Relationship Type="http://schemas.openxmlformats.org/officeDocument/2006/relationships/notesMaster" Target="/ppt/notesMasters/notesMaster1.xml" Id="R4993036866ae44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aa27134ae047af" /><Relationship Type="http://schemas.openxmlformats.org/officeDocument/2006/relationships/notesMaster" Target="/ppt/notesMasters/notesMaster1.xml" Id="R542305c8302341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5f3afe9c4e47e2" /><Relationship Type="http://schemas.openxmlformats.org/officeDocument/2006/relationships/notesMaster" Target="/ppt/notesMasters/notesMaster1.xml" Id="R7e77122e967742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c2e25863174f11" /><Relationship Type="http://schemas.openxmlformats.org/officeDocument/2006/relationships/notesMaster" Target="/ppt/notesMasters/notesMaster1.xml" Id="R8c5928c8df7241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c28fa480554b9b" /><Relationship Type="http://schemas.openxmlformats.org/officeDocument/2006/relationships/notesMaster" Target="/ppt/notesMasters/notesMaster1.xml" Id="R00c25712c9c54e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0f92ddc07c447f" /><Relationship Type="http://schemas.openxmlformats.org/officeDocument/2006/relationships/notesMaster" Target="/ppt/notesMasters/notesMaster1.xml" Id="R35b0162f70344d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dd4ce50ff24b83" /><Relationship Type="http://schemas.openxmlformats.org/officeDocument/2006/relationships/notesMaster" Target="/ppt/notesMasters/notesMaster1.xml" Id="R67ba804ad22d49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a930659dcd642e1" /><Relationship Type="http://schemas.openxmlformats.org/officeDocument/2006/relationships/notesMaster" Target="/ppt/notesMasters/notesMaster1.xml" Id="R8cd7b95660384b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e505e078644c85" /><Relationship Type="http://schemas.openxmlformats.org/officeDocument/2006/relationships/notesMaster" Target="/ppt/notesMasters/notesMaster1.xml" Id="R4f34ac2c04984b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e258718db741b0" /><Relationship Type="http://schemas.openxmlformats.org/officeDocument/2006/relationships/notesMaster" Target="/ppt/notesMasters/notesMaster1.xml" Id="R7e314023088644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29ec463731417d" /><Relationship Type="http://schemas.openxmlformats.org/officeDocument/2006/relationships/notesMaster" Target="/ppt/notesMasters/notesMaster1.xml" Id="R45481830c12e453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2722389f2a94094" /><Relationship Type="http://schemas.openxmlformats.org/officeDocument/2006/relationships/notesMaster" Target="/ppt/notesMasters/notesMaster1.xml" Id="Ref0a0c3a022749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c451d4c716c4287" /><Relationship Type="http://schemas.openxmlformats.org/officeDocument/2006/relationships/notesMaster" Target="/ppt/notesMasters/notesMaster1.xml" Id="R50d103dfe96a41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5bab0b8b914019" /><Relationship Type="http://schemas.openxmlformats.org/officeDocument/2006/relationships/notesMaster" Target="/ppt/notesMasters/notesMaster1.xml" Id="R6eb5324ee97441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ef48db8e75447cb" /><Relationship Type="http://schemas.openxmlformats.org/officeDocument/2006/relationships/notesMaster" Target="/ppt/notesMasters/notesMaster1.xml" Id="R72bede6176a6423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3ce44b4092648bc" /><Relationship Type="http://schemas.openxmlformats.org/officeDocument/2006/relationships/notesMaster" Target="/ppt/notesMasters/notesMaster1.xml" Id="R12f3c2f4a329452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14037ef6d74da8" /><Relationship Type="http://schemas.openxmlformats.org/officeDocument/2006/relationships/notesMaster" Target="/ppt/notesMasters/notesMaster1.xml" Id="R5a2d84f14283462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adb6b63cdba49bb" /><Relationship Type="http://schemas.openxmlformats.org/officeDocument/2006/relationships/notesMaster" Target="/ppt/notesMasters/notesMaster1.xml" Id="R24bbeb3ea10c432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7b2ef5969e4a56" /><Relationship Type="http://schemas.openxmlformats.org/officeDocument/2006/relationships/notesMaster" Target="/ppt/notesMasters/notesMaster1.xml" Id="Re41198a0916d44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b9d1c95088142ca" /><Relationship Type="http://schemas.openxmlformats.org/officeDocument/2006/relationships/notesMaster" Target="/ppt/notesMasters/notesMaster1.xml" Id="R9b126f4600664b0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0bca6a620854df9" /><Relationship Type="http://schemas.openxmlformats.org/officeDocument/2006/relationships/notesMaster" Target="/ppt/notesMasters/notesMaster1.xml" Id="R385028994dc54a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926770ac0f449a" /><Relationship Type="http://schemas.openxmlformats.org/officeDocument/2006/relationships/notesMaster" Target="/ppt/notesMasters/notesMaster1.xml" Id="Rafc4fc955442478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749d07eb3d14b46" /><Relationship Type="http://schemas.openxmlformats.org/officeDocument/2006/relationships/notesMaster" Target="/ppt/notesMasters/notesMaster1.xml" Id="Rdd7e42bf8deb485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53486f658fa4a1f" /><Relationship Type="http://schemas.openxmlformats.org/officeDocument/2006/relationships/notesMaster" Target="/ppt/notesMasters/notesMaster1.xml" Id="R7d6968f39f9c4bf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909a88bffeb450e" /><Relationship Type="http://schemas.openxmlformats.org/officeDocument/2006/relationships/notesMaster" Target="/ppt/notesMasters/notesMaster1.xml" Id="R8f5d4ce5c0f7407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1142b66e4aa4059" /><Relationship Type="http://schemas.openxmlformats.org/officeDocument/2006/relationships/notesMaster" Target="/ppt/notesMasters/notesMaster1.xml" Id="R655ead45e166427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e6224bdc08140df" /><Relationship Type="http://schemas.openxmlformats.org/officeDocument/2006/relationships/notesMaster" Target="/ppt/notesMasters/notesMaster1.xml" Id="R4abfdae2f6b84d6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3412024512d40aa" /><Relationship Type="http://schemas.openxmlformats.org/officeDocument/2006/relationships/notesMaster" Target="/ppt/notesMasters/notesMaster1.xml" Id="R55460a405a404c6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f55c34382d24c59" /><Relationship Type="http://schemas.openxmlformats.org/officeDocument/2006/relationships/notesMaster" Target="/ppt/notesMasters/notesMaster1.xml" Id="Ra12a06c8856b488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019f246f2c54f0f" /><Relationship Type="http://schemas.openxmlformats.org/officeDocument/2006/relationships/notesMaster" Target="/ppt/notesMasters/notesMaster1.xml" Id="R6a069e0aa0804ba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22b0f0215724e23" /><Relationship Type="http://schemas.openxmlformats.org/officeDocument/2006/relationships/notesMaster" Target="/ppt/notesMasters/notesMaster1.xml" Id="Rb3e041d8a034456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85f544f157d4415" /><Relationship Type="http://schemas.openxmlformats.org/officeDocument/2006/relationships/notesMaster" Target="/ppt/notesMasters/notesMaster1.xml" Id="R20c49df6b63944d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9effc7347704274" /><Relationship Type="http://schemas.openxmlformats.org/officeDocument/2006/relationships/notesMaster" Target="/ppt/notesMasters/notesMaster1.xml" Id="R97c1271e89d24cd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021d2b58f5d4bb7" /><Relationship Type="http://schemas.openxmlformats.org/officeDocument/2006/relationships/notesMaster" Target="/ppt/notesMasters/notesMaster1.xml" Id="R6d747ebca84a4d2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0449137dbe44e40" /><Relationship Type="http://schemas.openxmlformats.org/officeDocument/2006/relationships/notesMaster" Target="/ppt/notesMasters/notesMaster1.xml" Id="Racf793ffb7a5497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814e2ef170d4f23" /><Relationship Type="http://schemas.openxmlformats.org/officeDocument/2006/relationships/notesMaster" Target="/ppt/notesMasters/notesMaster1.xml" Id="Rf402833047e845a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b0357e8b54d4c37" /><Relationship Type="http://schemas.openxmlformats.org/officeDocument/2006/relationships/notesMaster" Target="/ppt/notesMasters/notesMaster1.xml" Id="Raa1e9eaa8a5a43f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6be973bb05e41fc" /><Relationship Type="http://schemas.openxmlformats.org/officeDocument/2006/relationships/notesMaster" Target="/ppt/notesMasters/notesMaster1.xml" Id="Rc32b259425ff48b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a1a7d94920a44f6" /><Relationship Type="http://schemas.openxmlformats.org/officeDocument/2006/relationships/notesMaster" Target="/ppt/notesMasters/notesMaster1.xml" Id="R9809607bf18d470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0858449f7d64dea" /><Relationship Type="http://schemas.openxmlformats.org/officeDocument/2006/relationships/notesMaster" Target="/ppt/notesMasters/notesMaster1.xml" Id="Rf70b5e872d22431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c39c99fef3647a5" /><Relationship Type="http://schemas.openxmlformats.org/officeDocument/2006/relationships/notesMaster" Target="/ppt/notesMasters/notesMaster1.xml" Id="R22b0983361a04cd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53bfa23d6e14cb7" /><Relationship Type="http://schemas.openxmlformats.org/officeDocument/2006/relationships/notesMaster" Target="/ppt/notesMasters/notesMaster1.xml" Id="R080fb620c278469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70793c1ae6f4df6" /><Relationship Type="http://schemas.openxmlformats.org/officeDocument/2006/relationships/notesMaster" Target="/ppt/notesMasters/notesMaster1.xml" Id="R678bc1b938ec490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40a6fd7e9ae42d6" /><Relationship Type="http://schemas.openxmlformats.org/officeDocument/2006/relationships/notesMaster" Target="/ppt/notesMasters/notesMaster1.xml" Id="Ra30bf1da907d486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f743a324a6c4d3b" /><Relationship Type="http://schemas.openxmlformats.org/officeDocument/2006/relationships/notesMaster" Target="/ppt/notesMasters/notesMaster1.xml" Id="Ra1e71d9ba3e54d2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754087f83ef4ad5" /><Relationship Type="http://schemas.openxmlformats.org/officeDocument/2006/relationships/notesMaster" Target="/ppt/notesMasters/notesMaster1.xml" Id="R95899df9cdb946a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8e533b3f236469d" /><Relationship Type="http://schemas.openxmlformats.org/officeDocument/2006/relationships/notesMaster" Target="/ppt/notesMasters/notesMaster1.xml" Id="Rbf5d81bc3e8f423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c3d12b7cbc34430" /><Relationship Type="http://schemas.openxmlformats.org/officeDocument/2006/relationships/notesMaster" Target="/ppt/notesMasters/notesMaster1.xml" Id="Rd0facba1c7b3477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0250a1161fd40b4" /><Relationship Type="http://schemas.openxmlformats.org/officeDocument/2006/relationships/notesMaster" Target="/ppt/notesMasters/notesMaster1.xml" Id="R3f26576e2af3455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585dfb76bf74657" /><Relationship Type="http://schemas.openxmlformats.org/officeDocument/2006/relationships/notesMaster" Target="/ppt/notesMasters/notesMaster1.xml" Id="Rdcde1bb4c6cc46b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581a4bd09f2496c" /><Relationship Type="http://schemas.openxmlformats.org/officeDocument/2006/relationships/notesMaster" Target="/ppt/notesMasters/notesMaster1.xml" Id="R6b88ca8c75a34b6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b961befca024933" /><Relationship Type="http://schemas.openxmlformats.org/officeDocument/2006/relationships/notesMaster" Target="/ppt/notesMasters/notesMaster1.xml" Id="R2f9092d17c1a411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a844a08791f4310" /><Relationship Type="http://schemas.openxmlformats.org/officeDocument/2006/relationships/notesMaster" Target="/ppt/notesMasters/notesMaster1.xml" Id="Rcb8f937ddcb1496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77e2dc8335a4f97" /><Relationship Type="http://schemas.openxmlformats.org/officeDocument/2006/relationships/notesMaster" Target="/ppt/notesMasters/notesMaster1.xml" Id="R91754cc341554113"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47b4ba05dce54c16" /><Relationship Type="http://schemas.openxmlformats.org/officeDocument/2006/relationships/notesMaster" Target="/ppt/notesMasters/notesMaster1.xml" Id="Rea12439e06ac4f5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51b6280c80c4876" /><Relationship Type="http://schemas.openxmlformats.org/officeDocument/2006/relationships/notesMaster" Target="/ppt/notesMasters/notesMaster1.xml" Id="Rddaeda1a38d2455a"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839f53dc4c9474d" /><Relationship Type="http://schemas.openxmlformats.org/officeDocument/2006/relationships/notesMaster" Target="/ppt/notesMasters/notesMaster1.xml" Id="Rdebcb765e7774efc"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54470eb53df4d55" /><Relationship Type="http://schemas.openxmlformats.org/officeDocument/2006/relationships/notesMaster" Target="/ppt/notesMasters/notesMaster1.xml" Id="R51aa60ab78824a9d"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10ed440cb9a44aa4" /><Relationship Type="http://schemas.openxmlformats.org/officeDocument/2006/relationships/notesMaster" Target="/ppt/notesMasters/notesMaster1.xml" Id="R3c52c110cab24b77"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19c76f5d82b45bb" /><Relationship Type="http://schemas.openxmlformats.org/officeDocument/2006/relationships/notesMaster" Target="/ppt/notesMasters/notesMaster1.xml" Id="R459868f3427f408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48f87cf16ea40cf" /><Relationship Type="http://schemas.openxmlformats.org/officeDocument/2006/relationships/notesMaster" Target="/ppt/notesMasters/notesMaster1.xml" Id="Rdeae3e0cb51941e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6588c97dff104987" /><Relationship Type="http://schemas.openxmlformats.org/officeDocument/2006/relationships/notesMaster" Target="/ppt/notesMasters/notesMaster1.xml" Id="R8ff66a9fb05247e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302b872d83d4361" /><Relationship Type="http://schemas.openxmlformats.org/officeDocument/2006/relationships/notesMaster" Target="/ppt/notesMasters/notesMaster1.xml" Id="R124467a9632f4bf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eef04da6d7c4f22" /><Relationship Type="http://schemas.openxmlformats.org/officeDocument/2006/relationships/notesMaster" Target="/ppt/notesMasters/notesMaster1.xml" Id="Rd29eec425a644779"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3f7164243ef4dc0" /><Relationship Type="http://schemas.openxmlformats.org/officeDocument/2006/relationships/notesMaster" Target="/ppt/notesMasters/notesMaster1.xml" Id="R742ed7859122425f"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a3321bba16c54d6e" /><Relationship Type="http://schemas.openxmlformats.org/officeDocument/2006/relationships/notesMaster" Target="/ppt/notesMasters/notesMaster1.xml" Id="R04b4b2a0f6d74095"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bbe306a70ee4d74" /><Relationship Type="http://schemas.openxmlformats.org/officeDocument/2006/relationships/notesMaster" Target="/ppt/notesMasters/notesMaster1.xml" Id="Rc44fcc63cdc64b91"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532b953f5894ab3" /><Relationship Type="http://schemas.openxmlformats.org/officeDocument/2006/relationships/notesMaster" Target="/ppt/notesMasters/notesMaster1.xml" Id="R92b77fc35f4d493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8246ee92a11412a" /><Relationship Type="http://schemas.openxmlformats.org/officeDocument/2006/relationships/notesMaster" Target="/ppt/notesMasters/notesMaster1.xml" Id="Rd18cbf0709af4d1b"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8efffeb837654d93" /><Relationship Type="http://schemas.openxmlformats.org/officeDocument/2006/relationships/notesMaster" Target="/ppt/notesMasters/notesMaster1.xml" Id="Rcdc5e0083ff149a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932194a65a84d76" /><Relationship Type="http://schemas.openxmlformats.org/officeDocument/2006/relationships/notesMaster" Target="/ppt/notesMasters/notesMaster1.xml" Id="R72be280efb204e1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399572141114fa3" /><Relationship Type="http://schemas.openxmlformats.org/officeDocument/2006/relationships/notesMaster" Target="/ppt/notesMasters/notesMaster1.xml" Id="Rb9f2690703a241d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94f0b8e58ae44c46" /><Relationship Type="http://schemas.openxmlformats.org/officeDocument/2006/relationships/notesMaster" Target="/ppt/notesMasters/notesMaster1.xml" Id="R55d6c039465a41f3"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f7e1fee27f1493e" /><Relationship Type="http://schemas.openxmlformats.org/officeDocument/2006/relationships/notesMaster" Target="/ppt/notesMasters/notesMaster1.xml" Id="Rc0aa0de800b0436c"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72f2300b8de64543" /><Relationship Type="http://schemas.openxmlformats.org/officeDocument/2006/relationships/notesMaster" Target="/ppt/notesMasters/notesMaster1.xml" Id="R8269b6624591487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48f1f4c15424ecc" /><Relationship Type="http://schemas.openxmlformats.org/officeDocument/2006/relationships/notesMaster" Target="/ppt/notesMasters/notesMaster1.xml" Id="R8e53cb5b91794f6f"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ab712079257a4967" /><Relationship Type="http://schemas.openxmlformats.org/officeDocument/2006/relationships/notesMaster" Target="/ppt/notesMasters/notesMaster1.xml" Id="R467575db79584f4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fda83a27ad344123" /><Relationship Type="http://schemas.openxmlformats.org/officeDocument/2006/relationships/notesMaster" Target="/ppt/notesMasters/notesMaster1.xml" Id="R8a1608206878437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ed63b5a213b4378" /><Relationship Type="http://schemas.openxmlformats.org/officeDocument/2006/relationships/notesMaster" Target="/ppt/notesMasters/notesMaster1.xml" Id="R780bdbb06c7a4c3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fa426397170b42e3" /><Relationship Type="http://schemas.openxmlformats.org/officeDocument/2006/relationships/notesMaster" Target="/ppt/notesMasters/notesMaster1.xml" Id="R4f88dced5e33485e"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5e683e9c8f7e47ae" /><Relationship Type="http://schemas.openxmlformats.org/officeDocument/2006/relationships/notesMaster" Target="/ppt/notesMasters/notesMaster1.xml" Id="R1530b577718f435a"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14c0b1df32d6429b" /><Relationship Type="http://schemas.openxmlformats.org/officeDocument/2006/relationships/notesMaster" Target="/ppt/notesMasters/notesMaster1.xml" Id="R23585d6bf59c41b2"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e450d2a7eea846ab" /><Relationship Type="http://schemas.openxmlformats.org/officeDocument/2006/relationships/notesMaster" Target="/ppt/notesMasters/notesMaster1.xml" Id="R952e28b6fc244e3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24f93c43fed147b9" /><Relationship Type="http://schemas.openxmlformats.org/officeDocument/2006/relationships/notesMaster" Target="/ppt/notesMasters/notesMaster1.xml" Id="R04869db604bb4816"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da682465d7d4223" /><Relationship Type="http://schemas.openxmlformats.org/officeDocument/2006/relationships/notesMaster" Target="/ppt/notesMasters/notesMaster1.xml" Id="Rb96bcb7f233c4058"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2ba63a4f447450a" /><Relationship Type="http://schemas.openxmlformats.org/officeDocument/2006/relationships/notesMaster" Target="/ppt/notesMasters/notesMaster1.xml" Id="Ra674728717924f2e"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526b5a57761849df" /><Relationship Type="http://schemas.openxmlformats.org/officeDocument/2006/relationships/notesMaster" Target="/ppt/notesMasters/notesMaster1.xml" Id="Rdb2ceff537d742c6"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8dd3b720984d4c73" /><Relationship Type="http://schemas.openxmlformats.org/officeDocument/2006/relationships/notesMaster" Target="/ppt/notesMasters/notesMaster1.xml" Id="R5daf351ca5e44e17"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af7f43ea018a468c" /><Relationship Type="http://schemas.openxmlformats.org/officeDocument/2006/relationships/notesMaster" Target="/ppt/notesMasters/notesMaster1.xml" Id="R3b70a7b6580b4f9f"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4af6e1c216544ba1" /><Relationship Type="http://schemas.openxmlformats.org/officeDocument/2006/relationships/notesMaster" Target="/ppt/notesMasters/notesMaster1.xml" Id="Rc0f1fbd2afd04b9c"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f62e47c0c72845d2" /><Relationship Type="http://schemas.openxmlformats.org/officeDocument/2006/relationships/notesMaster" Target="/ppt/notesMasters/notesMaster1.xml" Id="Rbbdcb7813480491c"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d72d65ed2cf747bb" /><Relationship Type="http://schemas.openxmlformats.org/officeDocument/2006/relationships/notesMaster" Target="/ppt/notesMasters/notesMaster1.xml" Id="R920421b66cb9470d"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729e56fd5f5c47cd" /><Relationship Type="http://schemas.openxmlformats.org/officeDocument/2006/relationships/notesMaster" Target="/ppt/notesMasters/notesMaster1.xml" Id="R17f25835e4ed4d2c"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5d73de6d9aaa4c6a" /><Relationship Type="http://schemas.openxmlformats.org/officeDocument/2006/relationships/notesMaster" Target="/ppt/notesMasters/notesMaster1.xml" Id="Rb43fd764165b4751"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fd02594f72c249b2" /><Relationship Type="http://schemas.openxmlformats.org/officeDocument/2006/relationships/notesMaster" Target="/ppt/notesMasters/notesMaster1.xml" Id="Rd61c87d3848a437e"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1f07f17c5f954c76" /><Relationship Type="http://schemas.openxmlformats.org/officeDocument/2006/relationships/notesMaster" Target="/ppt/notesMasters/notesMaster1.xml" Id="Rd892c64bac0e42b7"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fd082f3a28c5438b" /><Relationship Type="http://schemas.openxmlformats.org/officeDocument/2006/relationships/notesMaster" Target="/ppt/notesMasters/notesMaster1.xml" Id="Rb5f71d9248a04919"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5069f7d5fb94508" /><Relationship Type="http://schemas.openxmlformats.org/officeDocument/2006/relationships/notesMaster" Target="/ppt/notesMasters/notesMaster1.xml" Id="R733d51dfbfc64a40"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a99685cd61784f16" /><Relationship Type="http://schemas.openxmlformats.org/officeDocument/2006/relationships/notesMaster" Target="/ppt/notesMasters/notesMaster1.xml" Id="R64f0c9afe076466d"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32c4c0ad1a7247b6" /><Relationship Type="http://schemas.openxmlformats.org/officeDocument/2006/relationships/notesMaster" Target="/ppt/notesMasters/notesMaster1.xml" Id="R0742d60250b9442e"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dc756256bbfc460d" /><Relationship Type="http://schemas.openxmlformats.org/officeDocument/2006/relationships/notesMaster" Target="/ppt/notesMasters/notesMaster1.xml" Id="R9fb808b9984c4551"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f2c73c94ca9c483c" /><Relationship Type="http://schemas.openxmlformats.org/officeDocument/2006/relationships/notesMaster" Target="/ppt/notesMasters/notesMaster1.xml" Id="Rfb4bd95e56e24fff"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ba25f83b562144bc" /><Relationship Type="http://schemas.openxmlformats.org/officeDocument/2006/relationships/notesMaster" Target="/ppt/notesMasters/notesMaster1.xml" Id="Ra2d8d470e24144af"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397d8028ab52435a" /><Relationship Type="http://schemas.openxmlformats.org/officeDocument/2006/relationships/notesMaster" Target="/ppt/notesMasters/notesMaster1.xml" Id="Rcc7aa89102e245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 — NLP Avancé (BERT, GPT, Hugging Face)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ACCUEIL, inclus dans les cinq premières minutes du jour 1. Présenter le contrat : les étudiants doivent pouvoir expliquer une décision et montrer une preuve, pas seulement exécuter un notebook. Le fil rouge est un service de support fictif ; aucun message client réel n'est requis. Partir de cette demande : « J'ai payé deux fois et mon colis n'arrive pas. » Deux besoins coexistent : identifier une intention et conserver des informations précises. Au fil de la semaine, nous construirons une recherche de messages, une classification, une extraction d'entités et une réponse structurée. Annoncer que les petits modèles ont des limites visibles : une expérience qui échoue proprement est un résultat exploitable. Les supports sont en français ; quelques références avancées sont en anglais. Les 35 heures correspondent au travail pédagogique effectif, hors pauses. Le GPU T4 est visé, mais l'accès gratuit à Colab n'est pas garanti. Les voies CPU et les expériences de secours sont prévues dans les guides. OBJECTIFS OFFICIELS : les trois objectifs visibles sont repris littéralement du cadrage. BERT désigne ici la famille des encodeurs ; la pratique utilise son dérivé DistilBERT multilingue. GPT désigne la famille des décodeurs causaux ; la pratique locale emploie Qwen, qui n'est pas un checkpoint GPT d'OpenAI. La classification et la NER adaptent un encodeur, tandis que le résumé dispose d'un SFT LoRA dédié du petit modèle causal. EXTENSION MATÉRIEL : si Chrys fournit un accès Runpod L4 par étudiant, les mêmes expériences peuvent y être exécutées. Colab T4 reste le parcours de référence ; vérifier environnement, précision supportée et mémoire au démarrage, puis noter le matériel réellement utilisé. L'accès L4 n'est ni requis ni supposé disponible.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a:p xmlns:a="http://schemas.openxmlformats.org/drawingml/2006/main">
            <a:pPr marL="0" lvl="0" indent="0" algn="l">
              <a:spcBef>
                <a:spcPts val="0"/>
              </a:spcBef>
              <a:spcAft>
                <a:spcPts val="0"/>
              </a:spcAft>
              <a:buNone/>
            </a:pPr>
            <a:r>
              <a:t>https://web.stanford.edu/class/cs224n/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 — Objectifs du cours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ACCUEIL : cette diapositive est présentée dans les cinq minutes d'ouverture du jour 1, sans ajout au volume de 35 heures. Lire les trois objectifs officiels puis les relier aux livrables : recherche de fiches pour les représentations ; attention, modèle masqué et génération pour les architectures ; entraînements supervisés pour les tâches métier. Préciser que BERT est pratiqué via DistilBERT multilingue et que la famille causale associée à GPT est illustrée par Qwen, qui n'est pas un checkpoint GPT d'OpenAI. Classification et NER adaptent un encodeur ; le résumé dispose d'un LoRA dédié du petit modèle causal. La compréhension sera vérifiée par des calculs, des observations et des décisions argumentées.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 — Cinq jours, cinq preuves de compréhension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0 · accueil · 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Présenter cette carte pendant l'accueil du jour 1. La progression suit une même chaîne : définir la tâche, préparer des exemples, construire une référence simple, modifier un seul facteur, mesurer et expliquer. Le matin comporte des calculs courts, des prédictions avant démonstration et des discussions en binôme ; il ne s'agit pas de trois heures de monologue. L'après-midi comprend quatre étapes avec un livrable visible. Dans chaque binôme, le pilote manipule le notebook et l'analyste prédit le résultat, relève les hypothèses et vérifie les sorties ; alterner les rôles régulièrement. Les notebooks étudiants comportent des questions et les versions formateur des corrigés. Le jeu pédagogique est artificiel : il facilite les observations mais ne démontre aucune performance métier. Les expérimentations optionnelles sur des données réelles doivent conserver provenance et séparation des jeux. Demander aux étudiants de garder un journal contenant une hypothèse, une observation et une décision par jour. Ce journal alimente la soutenance du vendredi. Le premier jour manipule 12 fiches FAQ, 8 requêtes de validation et 6 requêtes finales. La classification sur 80 demandes fictives groupées par scénario commence au jour 3. Ce même jour, 40 minutes du budget classification servent à une extension réelle Allociné, avec un export de sentiment distinct de l'artefact support utilisé au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 — Jour 1 · Du texte à une représentation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accueil des deux diapositives précédentes inclus. Faire écrire individuellement une définition du NLP en une phrase puis demander un exemple de sortie attendue. Retenir une formulation opérationnelle : transformer du langage en une sortie utile, avec un protocole pour vérifier cette utilité. Annoncer les trois questions de la journée : quelle information conserver, quelle représentation construire, quelle preuve demander ? Le TP part de douze fiches FAQ et de requêtes françaises dont on connaît la fiche pertinente. Les huit requêtes de validation servent à comparer les réglages ; les six requêtes finales restent réservées. La classification à cinq intentions sera pratiquée au jour 3. Vérifier que les étudiants savent ouvrir un notebook et identifier une cellule de texte et une cellule de code. Le GPU n'est pas nécessaire pour TF-IDF. Transition : deux phrases contenant presque les mêmes mots peuvent vouloir dire des choses différentes ; la première activité rend cette difficulté tangible.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 — Même vocabulaire, intention différente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individuelle, 4 min de classement en binôme, 4 min de mise en commun. Demander une intention parmi les cinq labels puis autoriser la réponse « ambigu ». Pour le premier exemple, « retour » n'indique pas un retour de produit : l'intention dominante est compte. Pour le second, retour et facturation sont tous deux défendables. La bonne réponse dépend de la politique d'annotation ; il faut la documenter plutôt qu'accuser le modèle. Faire constater qu'un mot déclencheur peut servir de raccourci trompeur. QUESTION : supprimer les petits mots aide-t-il toujours ? RÉPONSE : non ; supprimer « ne » et « pas » peut inverser le sens. Observer aussi les pronoms : « il ne fonctionne plus » nécessite parfois le contexte précédent. Insister sur la distinction entre ambiguïté linguistique et mauvaise annotation. Dans le TP, les binômes conserveront les exemples qui mettent leur représentation en difficulté et expliqueront pourquoi. Une machine ne peut pas résoudre un cahier des charges qui laisse la sortie attendue indéfinie.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 — Une tâche = une entrée et une sortie vérifiable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expliquer les cinq lignes en 4 min, faire reformuler une tâche métier en 3 min, corriger collectivement en 3 min. Partir de « automatiser le support » : cette demande est trop large pour choisir une métrique. La décomposer en orientation, extraction de références, recherche d'un cas proche et rédaction d'une réponse. Faire préciser la granularité : un label par message, un label par mot ou une séquence produite ? QUESTION : un chatbot est-il une tâche unique ? RÉPONSE : c'est souvent une application qui combine plusieurs tâches. Une sortie plausible peut être inutile si elle ne correspond pas à l'action souhaitée. Ne pas confondre intention de l'utilisateur, sentiment et urgence : « Très mécontent du délai » peut être négatif, relever de livraison et rester non urgent. Le TP utilisera un même message pour examiner plusieurs représentations, puis le projet choisira une tâche principale et un critère de succès. Demander un exemple de sortie incorrecte avant de montrer les modèles : cela rend l'évaluation concrète dès le début.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 — Le jeu de données est déjà une décision de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pour décrire les objets, 4 min d'audit de trois exemples, 3 min de restitution. Dans le TP1, une fiche possède un identifiant, un titre et un texte ; une requête possède une fiche attendue. Il y a douze fiches, huit requêtes de validation et six requêtes finales. L'index documentaire est connu du système : on peut ajuster sa représentation sur ces fiches sans utiliser les requêtes test pour régler le moteur. QUESTION : la fiche attendue est-elle toujours unique ? RÉPONSE : c'est notre convention pédagogique ; un vrai service peut accepter plusieurs réponses pertinentes. Faire lire une requête ambiguë et demander si le problème vient du moteur ou de la référence choisie. Le corpus fictif est inspectable mais ne représente pas la diversité de vrais clients. Les groupes de paraphrases et les labels d'intention seront introduits dans le TP3 de classification ; ne pas chercher ces champs dans le TP1. Dans l'atelier, on décrit les limites avant d'afficher les scores. Une table de deux ambiguïtés précises vaut davantage que l'affirmation générale « les données sont propres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https://huggingface.co/learn/llm-course/fr/chapter5/1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 — Une fuite de données peut fabriquer un bon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démonstration sur six cartes, 4 min de répartition en binôme, 3 min de correction. Sur les cartes, placer deux variantes de trois demandes. Une répartition aléatoire ligne par ligne peut placer une formulation dans train et sa quasi-copie dans test. L'évaluation mesure alors une reconnaissance de variantes proches. Faire proposer une séparation par groupe de scénario et vérifier l'intersection des identifiants. QUESTION : retirer les labels du test suffit-il à supprimer la fuite ? RÉPONSE : non ; ajuster le vocabulaire ou l'IDF sur l'ensemble des textes transmet déjà de l'information du test. La baseline du TP doit être une pipeline ajustée uniquement sur train. Expliquer que la séparation par client, document ou période peut être plus pertinente dans un vrai projet. La stratification conserve approximativement les proportions ; elle ne garantit pas l'absence de fuite. Les étudiants doivent formuler quelle nouveauté leur test simule. Le test final n'est pas un tableau de bord à consulter après chaque petite modification. CAS RECHERCHE DU TP1 : le vocabulaire et l'IDF sont ajustés sur les fiches de l'index, qui font partie des documents disponibles au système. Les requêtes finales ne servent pas à modifier l'index ou choisir les réglages. Le découpage train/validation/test par groupes sera appliqué au TP3 de classification.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https://scikit-learn.org/stable/common_pitfalls.html#data-leakage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 — Sac de mots : compter avant de comprendre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de matrice, 4 min de construction d'une nouvelle ligne, 3 min de discussion. Expliquer que les colonnes forment un vocabulaire choisi ; les mots absents de cette petite table sont ignorés pour l'exemple. Demander le vecteur de « retard de facture » : [0, 1, 1]. Puis comparer « le client accuse le vendeur » et « le vendeur accuse le client » : les comptes unigrammes coïncident malgré une relation inversée. QUESTION : cette limite rend-elle la méthode inutile ? RÉPONSE : non ; de nombreuses intentions possèdent des indices lexicaux très discriminants et la baseline est rapide à auditer. Introduire brièvement les bigrammes, qui conservent un ordre local comme « pas reçu », sans donner une compréhension générale de la phrase. Mentionner que la matrice est creuse : la plupart des cases valent zéro. Dans le TP, afficher les termes les plus associés à chaque classe et chercher les raccourcis. L'interprétabilité d'un poids aide à diagnostiquer, mais elle ne prouve pas une causalité linguistique. COMPLÉMENT À EXPLICITER : Simple, interprétable, mais l'ordre des mots disparaît.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 — TF-IDF : un terme rare peut mieux distinguer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guidé, 3 min de calcul en binôme, 3 min de correction. Partir de quatre fiches qui contiennent toutes « bonjour », alors qu’une seule contient « remboursement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poids du terme t dans le document d est sa fréquence dans ce document, multipliée par le logarithme naturel du nombre total de documents divisé par le nombre de documents contenant ce terme. » Lire d’abord la fréquence locale, puis le facteur de rareté dans le corpus.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t désigne un terme du vocabulaire ; d un document. tf(t,d) est ici un compte entier d’occurrences, non normalisé. df(t) compte les documents distincts contenant t : répéter t dix fois dans un document n’ajoute qu’un à df. N est le nombre de documents du corpus. ln est le logarithme naturel, de base e. N/df(t) est un rapport sans unité ; w(t,d) est un score scalaire sans unité, pas une probabilité. Une collection de ces poids forme une matrice documents × termes.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Fixer N = 4 et df(remboursement) = 1.</a:t>
            </a:r>
            <a:endParaRPr/>
          </a:p>
          <a:p xmlns:a="http://schemas.openxmlformats.org/drawingml/2006/main">
            <a:pPr marL="0" lvl="0" indent="0" algn="l">
              <a:spcBef>
                <a:spcPts val="0"/>
              </a:spcBef>
              <a:spcAft>
                <a:spcPts val="0"/>
              </a:spcAft>
              <a:buNone/>
            </a:pPr>
            <a:r>
              <a:t>2. Calculer le rapport 4/1 = 4, puis ln(4) ≈ 1,386.</a:t>
            </a:r>
            <a:endParaRPr/>
          </a:p>
          <a:p xmlns:a="http://schemas.openxmlformats.org/drawingml/2006/main">
            <a:pPr marL="0" lvl="0" indent="0" algn="l">
              <a:spcBef>
                <a:spcPts val="0"/>
              </a:spcBef>
              <a:spcAft>
                <a:spcPts val="0"/>
              </a:spcAft>
              <a:buNone/>
            </a:pPr>
            <a:r>
              <a:t>3. Si remboursement apparaît deux fois dans la fiche, tf = 2 : le poids brut vaut 2 × 1,386 ≈ 2,773.</a:t>
            </a:r>
            <a:endParaRPr/>
          </a:p>
          <a:p xmlns:a="http://schemas.openxmlformats.org/drawingml/2006/main">
            <a:pPr marL="0" lvl="0" indent="0" algn="l">
              <a:spcBef>
                <a:spcPts val="0"/>
              </a:spcBef>
              <a:spcAft>
                <a:spcPts val="0"/>
              </a:spcAft>
              <a:buNone/>
            </a:pPr>
            <a:r>
              <a:t>4. Pour bonjour présent dans les quatre fiches, df = 4 et ln(4/4) = ln(1) = 0 : le poids simplifié vaut zéro.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Cette formule pédagogique utilise une fréquence brute, sans lissage ni normalisation finale, avec df strictement positif. TfidfVectorizer applique par défaut un IDF lissé, un décalage et une normalisation : il ne faut pas exiger les mêmes chiffres dans le TP. En classification, ajuster sur train ; dans la recherche du TP1, ajuster sur les fiches connues de l’index, sans choisir les réglages sur les requêtes finales.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 mot rare est-il forcément utile ? » Non : il peut être une faute, une référence ou du bruit. Lire les termes dominants et vérifier la pertinence des fiches retrouvées.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tf : nombre d'occurrences dans le document.</a:t>
            </a:r>
            <a:endParaRPr/>
          </a:p>
          <a:p xmlns:a="http://schemas.openxmlformats.org/drawingml/2006/main">
            <a:pPr marL="0" lvl="0" indent="0" algn="l">
              <a:spcBef>
                <a:spcPts val="0"/>
              </a:spcBef>
              <a:spcAft>
                <a:spcPts val="0"/>
              </a:spcAft>
              <a:buNone/>
            </a:pPr>
            <a:r>
              <a:t>• df : nombre de documents contenant le terme ; N : total de documents.</a:t>
            </a:r>
            <a:endParaRPr/>
          </a:p>
          <a:p xmlns:a="http://schemas.openxmlformats.org/drawingml/2006/main">
            <a:pPr marL="0" lvl="0" indent="0" algn="l">
              <a:spcBef>
                <a:spcPts val="0"/>
              </a:spcBef>
              <a:spcAft>
                <a:spcPts val="0"/>
              </a:spcAft>
              <a:buNone/>
            </a:pPr>
            <a:r>
              <a:t>• Si N = 4 : df = 1 donne log(4) ≈ 1,39 ; df = 4 donne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w_{t,d}=\operatorname{tf}(t,d)\,\ln\!\left(\frac{N}{\operatorname{df}(t)}\right)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w_{t,d}=\operatorname{tf}(t,d)\,\ln\!\left(\frac{N}{\operatorname{df}(t)}\right)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t : terme ; d : document</a:t>
            </a:r>
            <a:endParaRPr/>
          </a:p>
          <a:p xmlns:a="http://schemas.openxmlformats.org/drawingml/2006/main">
            <a:pPr marL="0" lvl="0" indent="0" algn="l">
              <a:spcBef>
                <a:spcPts val="0"/>
              </a:spcBef>
              <a:spcAft>
                <a:spcPts val="0"/>
              </a:spcAft>
              <a:buNone/>
            </a:pPr>
            <a:r>
              <a:t>tf(t,d) : occurrences de t dans d</a:t>
            </a:r>
            <a:endParaRPr/>
          </a:p>
          <a:p xmlns:a="http://schemas.openxmlformats.org/drawingml/2006/main">
            <a:pPr marL="0" lvl="0" indent="0" algn="l">
              <a:spcBef>
                <a:spcPts val="0"/>
              </a:spcBef>
              <a:spcAft>
                <a:spcPts val="0"/>
              </a:spcAft>
              <a:buNone/>
            </a:pPr>
            <a:r>
              <a:t>df(t) : documents contenant t</a:t>
            </a:r>
            <a:endParaRPr/>
          </a:p>
          <a:p xmlns:a="http://schemas.openxmlformats.org/drawingml/2006/main">
            <a:pPr marL="0" lvl="0" indent="0" algn="l">
              <a:spcBef>
                <a:spcPts val="0"/>
              </a:spcBef>
              <a:spcAft>
                <a:spcPts val="0"/>
              </a:spcAft>
              <a:buNone/>
            </a:pPr>
            <a:r>
              <a:t>N : nombre de documents du corpus</a:t>
            </a:r>
            <a:endParaRPr/>
          </a:p>
          <a:p xmlns:a="http://schemas.openxmlformats.org/drawingml/2006/main">
            <a:pPr marL="0" lvl="0" indent="0" algn="l">
              <a:spcBef>
                <a:spcPts val="0"/>
              </a:spcBef>
              <a:spcAft>
                <a:spcPts val="0"/>
              </a:spcAft>
              <a:buNone/>
            </a:pPr>
            <a:r>
              <a:t>w(t,d) : poids TF-IDF, sans unité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 = 4, df = 1, tf = 2 : w = 2 × ln(4) ≈ 2,773 avec la formule simplifiée.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https://scikit-learn.org/stable/modules/feature_extraction.html#tfidf-term-weighting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 — Une baseline de recherche tient dans une chaîne claire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d'explication, 4 min de prédiction de comportement, 3 min de discussion. La requête et chaque fiche deviennent des vecteurs TF-IDF dans le même vocabulaire. Le cosinus fournit un score par fiche ; on classe ces scores. Dans notre TP, chaque requête possède une seule fiche attendue. Recall@3 vaut un si cette fiche est parmi les trois premières ; le rang réciproque vaut un divisé par son rang, et MRR moyenne ces valeurs. QUESTION : faut-il remplacer la baseline dès qu'un Transformer est disponible ? RÉPONSE : on le décide en comparant pertinence, coût et erreurs sur les mêmes requêtes. Une référence exacte peut favoriser le lexical, tandis qu'une paraphrase peut favoriser un embedding. Faire anticiper une requête sans aucun terme connu : ses scores peuvent être tous nuls, et l'ordre de départage devient déterminant. Dans le TP, on compare unigrammes et bigrammes sur validation, puis on fige le choix avant test. La régression logistique sera ajoutée au jour 3 pour transformer une représentation lexicale en classifieur à cinq intentions.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https://scikit-learn.org/stable/modules/feature_extraction.html#text-feature-extraction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 — Lire une confusion au lieu d'admirer un pourcentage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calcul, 3 min d'interprétation. Insister sur l'orientation de la matrice : les lignes correspondent aux labels réels et les colonnes aux prédictions. Il y a dix messages de chaque classe. La diagonale contient 8 + 9 = 17 décisions correctes. Pour livraison, la précision vaut 8/9, environ 0,89, car neuf messages ont été prédits livraison ; le rappel vaut 8/10 = 0,80. Faire calculer les mêmes quantités pour facturation puis demander lequel des deux systèmes serait préférable si les erreurs avaient des coûts différents. QUESTION : un score de 85 % suffit-il pour déployer ? RÉPONSE : non, il manque la taille et la représentativité du test, le coût des erreurs et le comportement hors distribution. Les nombres affichés sont inventés pour le calcul, pas obtenus par nos notebooks. Ce calcul prépare la classification du jour 3 ; le TP1 de recherche utilise Recall@k et MRR plutôt qu’une matrice de confusion. Au TP3, vérifier les totaux et relier chaque cellule non diagonale à des textes concrets. Le jour 3 introduira le macro-F1 pour les cinq classes. COMPLÉMENT À EXPLICITER : Les 3 erreurs méritent une lecture ligne par ligne.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https://scikit-learn.org/stable/modules/model_evaluation.html#classification-metrics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 — Tokeniser : choisir les unités lues par le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d'explication, 3 min de proposition de découpages, 3 min de comparaison. L'exemple de sous-mots est illustratif : ne pas annoncer que tous les tokenizers découpent remboursement ainsi. Le découpage exact se mesure avec le tokenizer choisi. Introduire un token comme une unité du vocabulaire et un identifiant comme son indice numérique. QUESTION : un token est-il toujours un mot ? RÉPONSE : non ; il peut être un fragment, un signe ou une représentation liée aux octets. Faire comparer « l'abonnement », une adresse électronique et un emoji. Le nombre de caractères n'indique pas directement le nombre de tokens ; cette différence affecte longueur maximale, coût et troncature. Ne pas présenter les sous-mots comme des morphèmes garantis : leur découpage est souvent appris à partir de fréquences. Le TP affichera tokens, identifiants et reconstruction pour des phrases françaises. Pour l'adaptation d'un modèle existant, on garde son tokenizer ; entraîner un nouveau tokenizer constitue un exercice distinct, pas un remplacement compatible automatique.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 — Prétraiter le français sans effacer le sens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pour lire les cas, 5 min en groupes, 3 min de restitution. Chaque groupe défend une transformation et nomme un cas où elle serait nuisible. Lowercasing peut aider une baseline lexicale en regroupant des variantes, mais supprimer l'information de casse utile à la NER. Retirer les accents peut réduire certaines variantes tout en fusionnant des mots différents. Supprimer systématiquement ponctuation, négation et emojis peut effacer des indices de sens. QUESTION : faut-il lemmatiser avant un Transformer ? RÉPONSE : généralement, on commence avec le texte attendu par son tokenizer et on ne transforme que pour une raison validée expérimentalement. L'anonymisation doit préserver la nature de l'information si la tâche en dépend : remplacer toutes les références par une chaîne identique peut rendre l'extraction artificiellement facile. Le corpus de formation est fictif ; les étudiants ne doivent pas ajouter leurs messages privés pour rendre la démonstration plus réaliste. Relier cette activité au TP : conserver le texte brut, produire une version transformée séparée et comparer les erreurs au lieu d'écraser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 — BPE à la main : fusionner les paires fréquentes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calcul guidé, 4 min en binôme, 3 min de correction. Notre exemple simplifié ignore volontairement marqueurs de fin de mot et conventions d'octets. Compter les occurrences avec la fréquence des mots : b-a vaut 3 + 2 + 1 = 6 ; a-s vaut 3 + 2 = 5 ; s-s et s-e valent 2 ; a-l vaut 1. Après fusion b-a, les mots deviennent ba-s, ba-s-s-e et ba-l. La paire ba-s vaut cinq et devient la deuxième fusion : bas, bas-s-e, ba-l. QUESTION : peut-on garder les comptes initiaux pour la deuxième étape ? RÉPONSE : non, les unités ont changé. Faire proposer le découpage d'un mot nouveau composé de symboles connus. Souligner qu'apprentissage du vocabulaire et tokenisation d'un texte sont deux phases différentes : la seconde réapplique les fusions dans leur ordre. En cas d'égalité, une règle de départage doit être définie. Le tokenizer entraîné en TP permet d'observer la compression ; il ne doit pas être branché directement sur les embeddings préentraînés de DistilBERT. COMPLÉMENT À EXPLICITER : Recompter ensuite les paires sur le nouveau découpage.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 — Des tokens aux tenseurs : trois objets différents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distinction des objets, 3 min d'appariement par binôme, 3 min de correction. Les identifiants affichés sont fictifs ; on ne peut pas déduire leur valeur sans lire le tokenizer. Un identifiant 5678 n'est pas plus proche sémantiquement de 5679 que de 4 : c'est une adresse dans une table, pas une mesure. Le modèle récupère ensuite un vecteur par adresse. La cinquième case vaut ici zéro comme identifiant de padding illustratif et reçoit un masque nul ; les deux vecteurs ont bien cinq positions. Le véritable identifiant de padding dépend du tokenizer. QUESTION : pourquoi grouper des phrases courtes et longues pose-t-il un problème ? RÉPONSE : un batch doit être représenté par un tenseur rectangulaire ; on ajoute du padding et on indique les positions valides. Demander aux étudiants de détecter volontairement une incompatibilité de longueur. Le jour 3 distinguera attention_mask et labels ignorés à -100 ; ils ne rendent pas le même service. Dans le TP, afficher les dimensions constitue un premier réflexe de diagnostic, avant toute recherche compliquée d'erreur.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17 — Un embedding rapproche des usages similaires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d'analogie géométrique, 4 min de prédictions de voisinage, 3 min de discussion. Placer mentalement des messages sur une carte : « Où est mon colis ? » peut être proche de « Je n'ai toujours rien reçu », même sans partager tous les termes. Le dessin est une intuition ; les dimensions réelles ne correspondent généralement pas à des axes nommables tels que politesse ou urgence. Distinguer embeddings statiques de mots, représentations contextualisées de tokens et embeddings de phrases obtenus par une méthode d'agrégation adaptée.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moyenner n'importe quels vecteurs de tokens suffit-il toujours pour une bonne recherche ? RÉPONSE : non, l'objectif d'apprentissage de l'encodeur compte. Le TP utilisera un modèle de phrases multilingue explicitement conçu pour des représentations comparables. Inviter les étudiants à proposer un synonyme, une négation et un mot de domaine absent des exemples. La ressemblance géométrique ne prouve ni vérité ni identité d'intention. Une bonne recherche restitue des candidats à vérifier, particulièrement quand les messages mélangent plusieurs demandes.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les textes d’entrée : deux formulations différentes d’un même besoin et une formulation de thème différent. Les flèches vers l’encodeur représentent une transformation calculée, pas une simple égalité entre phrases.</a:t>
            </a:r>
            <a:endParaRPr/>
          </a:p>
          <a:p xmlns:a="http://schemas.openxmlformats.org/drawingml/2006/main">
            <a:pPr marL="0" lvl="0" indent="0" algn="l">
              <a:spcBef>
                <a:spcPts val="0"/>
              </a:spcBef>
              <a:spcAft>
                <a:spcPts val="0"/>
              </a:spcAft>
              <a:buNone/>
            </a:pPr>
            <a:r>
              <a:t>2. Suivre texte → tokenizer → représentations contextualisées → agrégation adaptée à la phrase. La sortie est un vecteur de D coordonnées par texte ; le modèle de phrases utilise une méthode de pooling et d’apprentissage conçue pour comparer ces vecteurs.</a:t>
            </a:r>
            <a:endParaRPr/>
          </a:p>
          <a:p xmlns:a="http://schemas.openxmlformats.org/drawingml/2006/main">
            <a:pPr marL="0" lvl="0" indent="0" algn="l">
              <a:spcBef>
                <a:spcPts val="0"/>
              </a:spcBef>
              <a:spcAft>
                <a:spcPts val="0"/>
              </a:spcAft>
              <a:buNone/>
            </a:pPr>
            <a:r>
              <a:t>3. Lire les flèches de comparaison comme des calculs de similarité sur les vecteurs. Une proximité géométrique indique un signal de recherche, pas une probabilité de vérité.</a:t>
            </a:r>
            <a:endParaRPr/>
          </a:p>
          <a:p xmlns:a="http://schemas.openxmlformats.org/drawingml/2006/main">
            <a:pPr marL="0" lvl="0" indent="0" algn="l">
              <a:spcBef>
                <a:spcPts val="0"/>
              </a:spcBef>
              <a:spcAft>
                <a:spcPts val="0"/>
              </a:spcAft>
              <a:buNone/>
            </a:pPr>
            <a:r>
              <a:t>4. Les points en deux dimensions sont une illustration pédagogique : ce ne sont pas des mesures du TP et les axes ne représentent pas des propriétés linguistiques garanties. Une projection réelle peut déformer les distances.</a:t>
            </a:r>
            <a:endParaRPr/>
          </a:p>
          <a:p xmlns:a="http://schemas.openxmlformats.org/drawingml/2006/main">
            <a:pPr marL="0" lvl="0" indent="0" algn="l">
              <a:spcBef>
                <a:spcPts val="0"/>
              </a:spcBef>
              <a:spcAft>
                <a:spcPts val="0"/>
              </a:spcAft>
              <a:buNone/>
            </a:pPr>
            <a:r>
              <a:t>5. Faire reformuler la sortie attendue : le moteur retourne des voisins classés. Il ne génère pas encore de réponse et ne vérifie pas les faits. Question : une négation peut-elle rester proche ? Oui, car le thème peut rester presque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Une représentation dense apprend des régularités à partir de textes.</a:t>
            </a:r>
            <a:endParaRPr/>
          </a:p>
          <a:p xmlns:a="http://schemas.openxmlformats.org/drawingml/2006/main">
            <a:pPr marL="0" lvl="0" indent="0" algn="l">
              <a:spcBef>
                <a:spcPts val="0"/>
              </a:spcBef>
              <a:spcAft>
                <a:spcPts val="0"/>
              </a:spcAft>
              <a:buNone/>
            </a:pPr>
            <a:r>
              <a:t>• Un vecteur de mots n'est pas une liste de définitions.</a:t>
            </a:r>
            <a:endParaRPr/>
          </a:p>
          <a:p xmlns:a="http://schemas.openxmlformats.org/drawingml/2006/main">
            <a:pPr marL="0" lvl="0" indent="0" algn="l">
              <a:spcBef>
                <a:spcPts val="0"/>
              </a:spcBef>
              <a:spcAft>
                <a:spcPts val="0"/>
              </a:spcAft>
              <a:buNone/>
            </a:pPr>
            <a:r>
              <a:t>• Une représentation de phrase permet la recherche sémantique.</a:t>
            </a:r>
            <a:endParaRPr/>
          </a:p>
          <a:p xmlns:a="http://schemas.openxmlformats.org/drawingml/2006/main">
            <a:pPr marL="0" lvl="0" indent="0" algn="l">
              <a:spcBef>
                <a:spcPts val="0"/>
              </a:spcBef>
              <a:spcAft>
                <a:spcPts val="0"/>
              </a:spcAft>
              <a:buNone/>
            </a:pPr>
            <a:r>
              <a:t>• Le modèle multilingue relie plusieurs formulations et langues.</a:t>
            </a:r>
            <a:endParaRPr/>
          </a:p>
          <a:p xmlns:a="http://schemas.openxmlformats.org/drawingml/2006/main">
            <a:pPr marL="0" lvl="0" indent="0" algn="l">
              <a:spcBef>
                <a:spcPts val="0"/>
              </a:spcBef>
              <a:spcAft>
                <a:spcPts val="0"/>
              </a:spcAft>
              <a:buNone/>
            </a:pPr>
            <a:r>
              <a:t>• La qualité dépend de l'apprentissage et du domaine.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vecteurs illustratifs colis et livraison pointent dans des directions voisines ; facture pointe ailleurs. Deux phrases proches évoquent un colis non reçu.</a:t>
            </a:r>
            <a:endParaRPr/>
          </a:p>
          <a:p xmlns:a="http://schemas.openxmlformats.org/drawingml/2006/main">
            <a:pPr marL="0" lvl="0" indent="0" algn="l">
              <a:spcBef>
                <a:spcPts val="0"/>
              </a:spcBef>
              <a:spcAft>
                <a:spcPts val="0"/>
              </a:spcAft>
              <a:buNone/>
            </a:pPr>
            <a:r>
              <a:t>Les positions 2D sont illustratives ; la proximité ne prouve pas un sens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Une représentation dense apprend des régularités à partir de textes.</a:t>
            </a:r>
            <a:endParaRPr/>
          </a:p>
          <a:p xmlns:a="http://schemas.openxmlformats.org/drawingml/2006/main">
            <a:pPr marL="0" lvl="0" indent="0" algn="l">
              <a:spcBef>
                <a:spcPts val="0"/>
              </a:spcBef>
              <a:spcAft>
                <a:spcPts val="0"/>
              </a:spcAft>
              <a:buNone/>
            </a:pPr>
            <a:r>
              <a:t>Un vecteur de mots n'est pas une liste de définitions.</a:t>
            </a:r>
            <a:endParaRPr/>
          </a:p>
          <a:p xmlns:a="http://schemas.openxmlformats.org/drawingml/2006/main">
            <a:pPr marL="0" lvl="0" indent="0" algn="l">
              <a:spcBef>
                <a:spcPts val="0"/>
              </a:spcBef>
              <a:spcAft>
                <a:spcPts val="0"/>
              </a:spcAft>
              <a:buNone/>
            </a:pPr>
            <a:r>
              <a:t>Une représentation de phrase permet la recherche sémantique.</a:t>
            </a:r>
            <a:endParaRPr/>
          </a:p>
          <a:p xmlns:a="http://schemas.openxmlformats.org/drawingml/2006/main">
            <a:pPr marL="0" lvl="0" indent="0" algn="l">
              <a:spcBef>
                <a:spcPts val="0"/>
              </a:spcBef>
              <a:spcAft>
                <a:spcPts val="0"/>
              </a:spcAft>
              <a:buNone/>
            </a:pPr>
            <a:r>
              <a:t>Le modèle multilingue relie plusieurs formulations et langues.</a:t>
            </a:r>
            <a:endParaRPr/>
          </a:p>
          <a:p xmlns:a="http://schemas.openxmlformats.org/drawingml/2006/main">
            <a:pPr marL="0" lvl="0" indent="0" algn="l">
              <a:spcBef>
                <a:spcPts val="0"/>
              </a:spcBef>
              <a:spcAft>
                <a:spcPts val="0"/>
              </a:spcAft>
              <a:buNone/>
            </a:pPr>
            <a:r>
              <a:t>La qualité dépend de l'apprentissage et du domaine.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https://huggingface.co/sentence-transformers/paraphrase-multilingual-MiniLM-L12-v2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18 — Cosinus : comparer une direction plutôt qu'une taille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au tableau, 3 min de variante en binôme, 3 min d’interprétation. Dessiner deux vecteurs orientés dans la même direction mais de longueurs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cosinus entre u et v est leur produit scalaire, divisé par le produit de leurs longueurs. » Faire identifier le numérateur qui mesure leur alignement, puis le dénominateur qui retire l’effet des amplitudes.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u et v sont deux vecteurs réels non nuls de même dimension D. Le symbole T indique la transposée : uᵀv est un scalaire égal à la somme u₁v₁ + … + u_Dv_D. La norme ‖u‖₂ est la racine carrée de u₁² + … + u_D² ; le petit 2 nomme la norme euclidienne. Les dimensions d’un embedding sont des caractéristiques apprises sans unité physique imposée. Le rapport final est sans unité et compris entre −1 et 1 ; ce n’est pas une probabilité de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Prendre u = (1,0) et v = (1,1).</a:t>
            </a:r>
            <a:endParaRPr/>
          </a:p>
          <a:p xmlns:a="http://schemas.openxmlformats.org/drawingml/2006/main">
            <a:pPr marL="0" lvl="0" indent="0" algn="l">
              <a:spcBef>
                <a:spcPts val="0"/>
              </a:spcBef>
              <a:spcAft>
                <a:spcPts val="0"/>
              </a:spcAft>
              <a:buNone/>
            </a:pPr>
            <a:r>
              <a:t>2. Le produit scalaire vaut 1×1 + 0×1 = 1.</a:t>
            </a:r>
            <a:endParaRPr/>
          </a:p>
          <a:p xmlns:a="http://schemas.openxmlformats.org/drawingml/2006/main">
            <a:pPr marL="0" lvl="0" indent="0" algn="l">
              <a:spcBef>
                <a:spcPts val="0"/>
              </a:spcBef>
              <a:spcAft>
                <a:spcPts val="0"/>
              </a:spcAft>
              <a:buNone/>
            </a:pPr>
            <a:r>
              <a:t>3. Les normes valent √(1²+0²) = 1 et √(1²+1²) = √2.</a:t>
            </a:r>
            <a:endParaRPr/>
          </a:p>
          <a:p xmlns:a="http://schemas.openxmlformats.org/drawingml/2006/main">
            <a:pPr marL="0" lvl="0" indent="0" algn="l">
              <a:spcBef>
                <a:spcPts val="0"/>
              </a:spcBef>
              <a:spcAft>
                <a:spcPts val="0"/>
              </a:spcAft>
              <a:buNone/>
            </a:pPr>
            <a:r>
              <a:t>4. Le cosinus vaut 1/√2 ≈ 0,707.</a:t>
            </a:r>
            <a:endParaRPr/>
          </a:p>
          <a:p xmlns:a="http://schemas.openxmlformats.org/drawingml/2006/main">
            <a:pPr marL="0" lvl="0" indent="0" algn="l">
              <a:spcBef>
                <a:spcPts val="0"/>
              </a:spcBef>
              <a:spcAft>
                <a:spcPts val="0"/>
              </a:spcAft>
              <a:buNone/>
            </a:pPr>
            <a:r>
              <a:t>5. Avec v = (2,0), numérateur et dénominateur valent 2 : cosinus = 1. Avec v = (0,1), le numérateur est nul : cosinus = 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La formule exige deux vecteurs non nuls. Une requête TF-IDF sans terme connu peut produire un vecteur nul ; inspecter le comportement de la bibliothèque et les ex æquo. Si les embeddings sont déjà normalisés à une norme de un, le produit scalaire égale le cosinus. Ne pas comparer les scores bruts de modèles différents comme des probabilités calibrées.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Multiplier v par dix change-t-il ce cosinus ? » Non pour un facteur positif : sa direction ne change pas. « Un score de 0,9 garantit-il une bonne fiche ? » Non : lire les voisins et mesurer la pertinence sur les requêtes de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u = (1, 0), v = (2, 0) → cosinus = 1.</a:t>
            </a:r>
            <a:endParaRPr/>
          </a:p>
          <a:p xmlns:a="http://schemas.openxmlformats.org/drawingml/2006/main">
            <a:pPr marL="0" lvl="0" indent="0" algn="l">
              <a:spcBef>
                <a:spcPts val="0"/>
              </a:spcBef>
              <a:spcAft>
                <a:spcPts val="0"/>
              </a:spcAft>
              <a:buNone/>
            </a:pPr>
            <a:r>
              <a:t>• u = (1, 0), w = (0, 1) → cosinus = 0.</a:t>
            </a:r>
            <a:endParaRPr/>
          </a:p>
          <a:p xmlns:a="http://schemas.openxmlformats.org/drawingml/2006/main">
            <a:pPr marL="0" lvl="0" indent="0" algn="l">
              <a:spcBef>
                <a:spcPts val="0"/>
              </a:spcBef>
              <a:spcAft>
                <a:spcPts val="0"/>
              </a:spcAft>
              <a:buNone/>
            </a:pPr>
            <a:r>
              <a:t>• u = (1, 0), z = (1, 1) → cosinus ≈ 0,71.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\operatorname{cos}(\mathbf{u},\mathbf{v})=\frac{\mathbf{u}^{\mathsf T}\mathbf{v}}{\lVert\mathbf{u}\rVert_2\,\lVert\mathbf{v}\rVert_2}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\operatorname{cos}(\mathbf{u},\mathbf{v})=\frac{\mathbf{u}^{\mathsf T}\mathbf{v}}{\lVert\mathbf{u}\rVert_2\,\lVert\mathbf{v}\rVert_2}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u, v : vecteurs de même dimension D</a:t>
            </a:r>
            <a:endParaRPr/>
          </a:p>
          <a:p xmlns:a="http://schemas.openxmlformats.org/drawingml/2006/main">
            <a:pPr marL="0" lvl="0" indent="0" algn="l">
              <a:spcBef>
                <a:spcPts val="0"/>
              </a:spcBef>
              <a:spcAft>
                <a:spcPts val="0"/>
              </a:spcAft>
              <a:buNone/>
            </a:pPr>
            <a:r>
              <a:t>uᵀv : produit scalaire, somme de D produits</a:t>
            </a:r>
            <a:endParaRPr/>
          </a:p>
          <a:p xmlns:a="http://schemas.openxmlformats.org/drawingml/2006/main">
            <a:pPr marL="0" lvl="0" indent="0" algn="l">
              <a:spcBef>
                <a:spcPts val="0"/>
              </a:spcBef>
              <a:spcAft>
                <a:spcPts val="0"/>
              </a:spcAft>
              <a:buNone/>
            </a:pPr>
            <a:r>
              <a:t>‖u‖₂, ‖v‖₂ : longueurs euclidiennes</a:t>
            </a:r>
            <a:endParaRPr/>
          </a:p>
          <a:p xmlns:a="http://schemas.openxmlformats.org/drawingml/2006/main">
            <a:pPr marL="0" lvl="0" indent="0" algn="l">
              <a:spcBef>
                <a:spcPts val="0"/>
              </a:spcBef>
              <a:spcAft>
                <a:spcPts val="0"/>
              </a:spcAft>
              <a:buNone/>
            </a:pPr>
            <a:r>
              <a:t>cos(u,v) : similarité comprise entre −1 et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 = (1,0), v = (1,1) : produit = 1 ; normes = 1 et √2 ; cosinus ≈ 0,707.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https://scikit-learn.org/stable/modules/generated/sklearn.metrics.pairwise.cosine_similarity.html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19 — Une proximité sémantique peut cacher une contradiction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prédiction, 5 min de confrontation de cas, 3 min de synthèse. Demander si les deux phrases du titre devraient être éloignées. La réponse dépend de l'objectif : pour retrouver des échanges sur une livraison, la proximité thématique est utile ; pour décider qu'une livraison a eu lieu, elle est dangereuse. L'embedding ne doit donc pas être évalué hors de son usage. QUESTION : plus le vecteur est grand, meilleure est la représentation ? RÉPONSE : la dimension seule ne suffit pas ; l'objectif d'apprentissage, les données et l'évaluation comptent. Faire construire trois requêtes et leur document pertinent de référence avant de lancer la recherche. Une question hors domaine doit pouvoir conduire à « aucun résultat suffisamment fiable », mais le seuil n'est pas universel. Dans le TP, comparer lexical et sémantique sur le même ensemble de requêtes, avec une colonne expliquant la pertinence. Éviter de choisir après coup uniquement les phrases qui rendent le modèle impressionnant. Ces contre-exemples deviendront des tests de robustesse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https://www.sbert.net/examples/sentence_transformer/applications/semantic-search/README.html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20 — Choisir une représentation avec une expérience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pour lire les hypothèses, 4 min pour proposer un protocole, 3 min de correction. Les forces du tableau sont des hypothèses raisonnables, pas des résultats promis. Un système lexical peut gagner lorsqu'une référence exacte ou un nom rare est décisif. Un encodeur de phrases peut rapprocher des formulations différentes tout en négligeant un numéro de commande. QUESTION : comment comparer deux méthodes dont les scores ont des échelles différentes ? RÉPONSE : comparer la pertinence des résultats, par exemple la présence du bon document dans les trois premiers, et non le niveau brut du cosinus. Introduire Recall@k de manière concrète pour une requête à document pertinent unique : vaut un si le document attendu est dans les k premiers, zéro sinon. La moyenne sur les requêtes est notre indicateur pédagogique ; pour plusieurs documents pertinents, il faut préciser la définition utilisée. Dans le TP, produire un tableau de cas gagnés et perdus par chaque méthode puis une recommandation limitée au corpus observé. Une recherche hybride est une piste bonus, pas une obligation avant la première évaluation. Ajouter MRR : si les rangs des bonnes fiches sont 1, 2 et 4, les rangs réciproques valent 1, 0,5 et 0,25, soit une MRR d'environ 0,583. Le TP calcule cette mesure sur les mêmes requêtes.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https://www.sbert.net/examples/sentence_transformer/applications/semantic-search/README.html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21 — Vérifier les acquis avant le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réponses individuelles, 5 min de confrontation en binôme, 6 min de correction. Réponse 1 : éviter qu'une quasi-copie du scénario d'entraînement se retrouve dans le test et donne une estimation trop optimiste. Réponse 2 : non, l'unité dépend du tokenizer et peut être un sous-mot, un caractère, un signe ou un fragment lié aux octets. Réponse 3 : non, la similarité géométrique n'est pas une probabilité de vérité. Réponse 4 : une requête contenant une référence exacte ou un terme métier rare peut favoriser le lexical ; il faut le vérifier. Demander aux étudiants de justifier chaque réponse avec un exemple du matin. Si plus d'un tiers confond identifiant et embedding, reprendre les trois objets de la diapositive correspondante pendant la correction. Terminer par une prédiction écrite : quelle méthode gagnera sur les requêtes de leur binôme ? Elle sera confrontée aux résultats l'après-midi. Le quiz est formatif et sert à décider de l'accompagnement, pas à établir un classement des étudiants.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22 — TP 1A · Auditer les fiches et les requêtes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35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d'ouverture et de diagnostic d'environnement, 15 min d'exploration des fiches et des requêtes, 10 min de tokenisation simple et restitution. Ouvrir notebooks/etudiants/01_j1_textes_recherche.ipynb. Le pilote exécute, l'analyste note une prédiction avant chaque sortie ; inverser les rôles régulièrement. Le GPU n'est pas requis. La tâche consiste à retrouver une fiche parmi douze, pas à classer les quatre-vingts tickets du jour 3. POINT DE CONTRÔLE : chaque binôme montre une requête, son identifiant de fiche attendu et explique pourquoi cette référence est défendable. RÉSULTAT ATTENDU : les étudiants distinguent l'index documentaire, les questions de validation et les questions finales. Ne pas exploiter ces dernières pour ajuster les fiches ou les réglages. Comparer séparation par espaces et expression régulière sur une phrase française contenant apostrophe, prix et négation. Si l'import des bibliothèques bloque, continuer l'association manuelle des requêtes aux fiches et revenir ensuite à l'environnement. Conserver les décisions dans le journal d'expérience.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23 — TP 1B · Construire la recherche lexicale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de la chaîne, 15 min de recherche lexicale, 15 min de comparaison unigrammes/bigrammes, 10 min d'analyse. Faire prédire si « pièce pour ma comptabilité » retrouvera la fiche facture. L'analyste vérifie que le vocabulaire et l'IDF sont ajustés sur les fiches connues de l'index, sans utiliser les requêtes finales comme données de réglage. POINT DE CONTRÔLE : montrer les trois premières fiches, leurs scores et le rang de la bonne référence. RÉSULTAT ATTENDU : une table Recall@1, Recall@3 et MRR avec huit requêtes de validation ; aucun seuil de performance n'est imposé. Lire les termes dominants pour expliquer un résultat lexical. Faire repérer le cas où une requête n'active aucun terme connu et où tous les scores sont nuls. EXTENSION : construire une phrase dont la négation piège l'unigramme et discuter l'effet du bigramme. Ne pas ajouter une régression logistique ici : la tâche est une recherche, la classification sera traitée au jour 3. Garder les configurations comparées.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24 — TP 1C · Inspecter et entraîner un tokenizer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d'inspection, 20 min de BPE et d'expériences, 10 min de comparaison. Relier chaque sortie au calcul manuel du matin. Le BPE est entraîné sur les fiches documentaires, sans exploiter les requêtes finales pour choisir son vocabulaire. POINT DE CONTRÔLE : le binôme explique pourquoi les deux tailles cibles produisent des découpages différents et pourquoi la taille réellement obtenue peut être inférieure à la cible. Les phrases proposées incluent une négation, N'Djamena et une faute avec emoji. RÉSULTAT ATTENDU : une table texte, tokens, nombre d'unités et nombre d'inconnus. Le corpus minuscule ne couvre pas tous les caractères ; [UNK] peut apparaître et doit être expliqué. Le tokenizer nouvellement entraîné reste pédagogique : il ne remplace pas celui d'un modèle préentraîné. EXTENSION : comparer l'effet attendu d'un BPE sur octets, sans prétendre qu'il résoudrait toute difficulté sémantique. Ne pas présenter une réduction du nombre de tokens comme une amélioration automatique de la compréhension. Faire verbaliser vocabulaire, identifiant et embedding.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25 — TP 1D · Comparer, tester et expliquer la recherche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1 · apres-midi · 115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55 min pour les embeddings et leur comparaison, puis 60 min pour l'analyse, le choix, le test et la restitution, conformément au parcours du notebook. Modèle : sentence-transformers/paraphrase-multilingual-MiniLM-L12-v2. Encoder les douze fiches et normaliser les vecteurs permet d'utiliser leur produit scalaire comme cosinus. POINT DE CONTRÔLE : les deux méthodes reçoivent les mêmes huit requêtes de validation et la même référence pertinente. RÉSULTAT ATTENDU : une table de classements et de métriques, puis le choix d'une méthode effectivement exécutée. Les six requêtes finales sont évaluées seulement après ce choix ; une seule erreur change Recall@1 d'environ 0,167. La projection PCA en deux dimensions est une vue partielle, pas une preuve de performance. Si le téléchargement est indisponible, désactiver USE_PRETRAINED et terminer proprement le protocole lexical en signalant l'étape absente. Lire deux erreurs précises et distinguer manque lexical, négation, ambiguïté et référence discutable. Conclure par une recommandation limitée au corpus observé et proposer un protocole sur cent questions réelles autorisées.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https://huggingface.co/sentence-transformers/paraphrase-multilingual-MiniLM-L12-v2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26 — Jour 2 · Comprendre les Transformers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Faire restituer la différence entre token et embedding par deux étudiants. Présenter le problème : une représentation de « compte » devrait changer entre « mon compte est bloqué » et « le vendeur compte trois colis ». Le contexte doit donc modifier le vecteur utilisé pour une décision. Annoncer la progression : un mécanisme de pondération très concret, des matrices de dimensions vérifiables, puis une architecture complète. Ne pas commencer par le schéma entier d'un Transformer : il devient lisible une fois chaque opération motivée. Les exemples numériques sont volontairement petits et construits pour le cours. L'après-midi reproduira les calculs avec NumPy ou PyTorch avant d'utiliser les modèles. Préciser que visualiser des poids d'attention ne donne pas automatiquement l'explication causale d'une décision. Le but est de comprendre les calculs et les limites de l'observation. LIVRABLE DE LA JOURNÉE : À produire : calcul vérifié et comparaison de décodages.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27 — Prédire la suite : une cible obtenue sans annotation manuelle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du décalage, 4 min de construction d'un autre exemple, 3 min de discussion. Reprendre l'intuition du support NLP avec Deep Learning fourni : les entrées et les cibles sont décalées d'une position. Notre table est au niveau de mots pour être lisible ; le vrai modèle travaille avec ses tokens. Faire compléter « Le colis arrive… » avec plusieurs suites possibles : demain, lundi, endommagé. Aucune n'est intrinsèquement l'unique suite vraie sans contexte. QUESTION : a-t-on besoin de rédiger une étiquette pour chaque token ? RÉPONSE : le texte fournit la cible suivante, mais son choix et sa qualité restent essentiels. Expliquer teacher forcing sans jargon supplémentaire : pendant l'entraînement, on fournit les vrais tokens précédents, pas uniquement les prédictions du modèle. En génération, une erreur peut influencer la suite. Le masque causal empêche de voir les cibles futures pendant l'entraînement. Dans le TP, faire vérifier le décalage une seule fois ; certaines classes de modèles calculent ce décalage en interne, et il ne faut pas le refaire par erreur. COMPLÉMENT À EXPLICITER : L'entraînement utilise le vrai préfixe ; la génération utilise sa propre sortie.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28 — Pourquoi permettre aux tokens de se consulter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d'exemple linguistique, 4 min de schéma au tableau, 3 min de discussion. Écrire « Le client a reçu le colis après plusieurs appels ; il était abîmé ». Demander quel nom peut désigner il et quelles connaissances seraient nécessaires pour trancher. L'objectif n'est pas d'affirmer que l'attention résout l'ambiguïté, mais de motiver l'accès à plusieurs positions. Dessiner une chaîne pour la récurrence et des flèches entre tokens pour l'attention. L'entraînement d'un Transformer peut traiter de nombreuses positions en parallèle sous les masques appropriés, alors que la génération autorégressive reste séquentielle token par token. QUESTION : supprimer la récurrence supprime-t-il toute dépendance temporelle ? RÉPONSE : non, l'ordre et le masque continuent de structurer l'information. Une matrice d'attention dense comporte n² couples de positions, ce qui explique une partie du coût des longs contextes. Mentionner que des implémentations optimisent la mémoire et que tous les modèles ne réalisent pas exactement la forme pédagogique. Le TP travaille d'abord sur quelques tokens pour rendre chaque lien inspectable.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29 — Q, K, V : demander, comparer, récupérer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d'analogie, 3 min de reformulation, 3 min de limites de l'analogie. Utiliser un catalogue de bibliothèque : la requête exprime le besoin, les clés servent à comparer les notices et les valeurs contiennent ce que l'on récupère. Dans un Transformer, les mêmes représentations de tokens peuvent être projetées en trois espaces par des matrices apprises. Ce ne sont ni des mots-clés choisis à la main ni des champs explicitement nommés dans le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si K et V viennent du même token, sont-ils forcément égaux ? RÉPONSE : non ; W_K et W_V sont des projections différentes. Souligner ce point car confondre V avec K détruit le sens du calcul de récupération. En self-attention, Q, K et V proviennent de la même séquence de représentations ; en cross-attention, Q provient du côté qui interroge et K, V de l'autre séquence. Faire expliquer ces deux cas sur une traduction courte. Le TP vérifiera que changer V modifie la sortie sans changer les poids, si Q et K sont conservés.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Partir de X, la matrice des représentations de tokens. Les trois flèches sortantes appliquent W_Q, W_K et W_V : elles partagent l’entrée mais pas nécessairement les paramètres ni les valeurs obtenues.</a:t>
            </a:r>
            <a:endParaRPr/>
          </a:p>
          <a:p xmlns:a="http://schemas.openxmlformats.org/drawingml/2006/main">
            <a:pPr marL="0" lvl="0" indent="0" algn="l">
              <a:spcBef>
                <a:spcPts val="0"/>
              </a:spcBef>
              <a:spcAft>
                <a:spcPts val="0"/>
              </a:spcAft>
              <a:buNone/>
            </a:pPr>
            <a:r>
              <a:t>2. Suivre la branche Q et la branche K jusqu’au produit QKᵀ. Une ligne correspond à une requête et une colonne à une clé : leurs intersections sont les scores de compatibilité.</a:t>
            </a:r>
            <a:endParaRPr/>
          </a:p>
          <a:p xmlns:a="http://schemas.openxmlformats.org/drawingml/2006/main">
            <a:pPr marL="0" lvl="0" indent="0" algn="l">
              <a:spcBef>
                <a:spcPts val="0"/>
              </a:spcBef>
              <a:spcAft>
                <a:spcPts val="0"/>
              </a:spcAft>
              <a:buNone/>
            </a:pPr>
            <a:r>
              <a:t>3. Lire mise à l’échelle, masque éventuel et softmax comme des étapes qui produisent une distribution par requête. La branche V ne calcule pas ces poids ; elle fournit le contenu à combiner.</a:t>
            </a:r>
            <a:endParaRPr/>
          </a:p>
          <a:p xmlns:a="http://schemas.openxmlformats.org/drawingml/2006/main">
            <a:pPr marL="0" lvl="0" indent="0" algn="l">
              <a:spcBef>
                <a:spcPts val="0"/>
              </a:spcBef>
              <a:spcAft>
                <a:spcPts val="0"/>
              </a:spcAft>
              <a:buNone/>
            </a:pPr>
            <a:r>
              <a:t>4. La jonction poids × V retourne une représentation par requête. Pour trois tokens et des valeurs à deux coordonnées, la sortie possède trois lignes et deux colonnes.</a:t>
            </a:r>
            <a:endParaRPr/>
          </a:p>
          <a:p xmlns:a="http://schemas.openxmlformats.org/drawingml/2006/main">
            <a:pPr marL="0" lvl="0" indent="0" algn="l">
              <a:spcBef>
                <a:spcPts val="0"/>
              </a:spcBef>
              <a:spcAft>
                <a:spcPts val="0"/>
              </a:spcAft>
              <a:buNone/>
            </a:pPr>
            <a:r>
              <a:t>5. En self-attention, les trois branches viennent de la même séquence. En cross-attention, Q vient du côté qui interroge tandis que K et V viennent de l’autre séquence. Ne pas dessiner une entrée textuelle différente pour chaque projection de la self-attention. Question : changer V modifie-t-il les poids à Q et K fixés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Query Q : ce que la position courante cherche.</a:t>
            </a:r>
            <a:endParaRPr/>
          </a:p>
          <a:p xmlns:a="http://schemas.openxmlformats.org/drawingml/2006/main">
            <a:pPr marL="0" lvl="0" indent="0" algn="l">
              <a:spcBef>
                <a:spcPts val="0"/>
              </a:spcBef>
              <a:spcAft>
                <a:spcPts val="0"/>
              </a:spcAft>
              <a:buNone/>
            </a:pPr>
            <a:r>
              <a:t>• Key K : ce que chaque position propose pour être repérée.</a:t>
            </a:r>
            <a:endParaRPr/>
          </a:p>
          <a:p xmlns:a="http://schemas.openxmlformats.org/drawingml/2006/main">
            <a:pPr marL="0" lvl="0" indent="0" algn="l">
              <a:spcBef>
                <a:spcPts val="0"/>
              </a:spcBef>
              <a:spcAft>
                <a:spcPts val="0"/>
              </a:spcAft>
              <a:buNone/>
            </a:pPr>
            <a:r>
              <a:t>• Value V : l'information transmise si la position est retenue.</a:t>
            </a:r>
            <a:endParaRPr/>
          </a:p>
          <a:p xmlns:a="http://schemas.openxmlformats.org/drawingml/2006/main">
            <a:pPr marL="0" lvl="0" indent="0" algn="l">
              <a:spcBef>
                <a:spcPts val="0"/>
              </a:spcBef>
              <a:spcAft>
                <a:spcPts val="0"/>
              </a:spcAft>
              <a:buNone/>
            </a:pPr>
            <a:r>
              <a:t>• Ces trois représentations proviennent de projections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La séquence X alimente trois projections apprises WQ, WK et WV, produisant respectivement queries, keys et values avec leurs rôles distincts.</a:t>
            </a:r>
            <a:endParaRPr/>
          </a:p>
          <a:p xmlns:a="http://schemas.openxmlformats.org/drawingml/2006/main">
            <a:pPr marL="0" lvl="0" indent="0" algn="l">
              <a:spcBef>
                <a:spcPts val="0"/>
              </a:spcBef>
              <a:spcAft>
                <a:spcPts val="0"/>
              </a:spcAft>
              <a:buNone/>
            </a:pPr>
            <a:r>
              <a:t>En self-attention, Q, K et V proviennent de trois projections apprises du même 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Query Q : ce que la position courante cherche.</a:t>
            </a:r>
            <a:endParaRPr/>
          </a:p>
          <a:p xmlns:a="http://schemas.openxmlformats.org/drawingml/2006/main">
            <a:pPr marL="0" lvl="0" indent="0" algn="l">
              <a:spcBef>
                <a:spcPts val="0"/>
              </a:spcBef>
              <a:spcAft>
                <a:spcPts val="0"/>
              </a:spcAft>
              <a:buNone/>
            </a:pPr>
            <a:r>
              <a:t>Key K : ce que chaque position propose pour être repérée.</a:t>
            </a:r>
            <a:endParaRPr/>
          </a:p>
          <a:p xmlns:a="http://schemas.openxmlformats.org/drawingml/2006/main">
            <a:pPr marL="0" lvl="0" indent="0" algn="l">
              <a:spcBef>
                <a:spcPts val="0"/>
              </a:spcBef>
              <a:spcAft>
                <a:spcPts val="0"/>
              </a:spcAft>
              <a:buNone/>
            </a:pPr>
            <a:r>
              <a:t>Value V : l'information transmise si la position est retenue.</a:t>
            </a:r>
            <a:endParaRPr/>
          </a:p>
          <a:p xmlns:a="http://schemas.openxmlformats.org/drawingml/2006/main">
            <a:pPr marL="0" lvl="0" indent="0" algn="l">
              <a:spcBef>
                <a:spcPts val="0"/>
              </a:spcBef>
              <a:spcAft>
                <a:spcPts val="0"/>
              </a:spcAft>
              <a:buNone/>
            </a:pPr>
            <a:r>
              <a:t>Ces trois représentations proviennent de projections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30 — Les dimensions racontent le calcul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vérification de produits, 3 min de dimensions manquantes, 3 min de correction. Commencer par X : une ligne par token, une colonne par caractéristique. Pour passer de quatre à deux caractéristiques, W_Q et W_K ont ici la forme 4 × 2. Le produit QK transposé donne bien 3 × 3 : trois requêtes comparent trois clés. Chaque ligne d'attention contiendra trois poids dont la somme vaut un après softmax. QUESTION : pourquoi AV retourne-t-il trois lignes et non une seule ? RÉPONSE : on calcule une combinaison de valeurs pour chaque requête. Le batch et les têtes ajoutent des axes dans une implémentation réelle ; on les introduira après ce cas simple. Faire diagnostiquer un faux résultat ayant quatre poids pour trois clés. Ce contrôle dimensionnel détecte une erreur avant même de regarder les nombres. Insister sur d_k : c'est la dimension d'une clé pour une tête, pas automatiquement la dimension totale du modèle. Dans le TP, les assertions de formes devront accompagner les résultats numériques.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FORMULE GLOBALE POUR RELIER LE SCHÉMA AUX DIMENSIONS</a:t>
            </a:r>
            <a:endParaRPr/>
          </a:p>
          <a:p xmlns:a="http://schemas.openxmlformats.org/drawingml/2006/main">
            <a:pPr marL="0" lvl="0" indent="0" algn="l">
              <a:spcBef>
                <a:spcPts val="0"/>
              </a:spcBef>
              <a:spcAft>
                <a:spcPts val="0"/>
              </a:spcAft>
              <a:buNone/>
            </a:pPr>
            <a:r>
              <a:t>Source LaTeX : \operatorname{Attention}(Q,K,V)=\operatorname{softmax}\!\left(\frac{QK^{\mathsf T}}{\sqrt{d_k}}+M\right)V.</a:t>
            </a:r>
            <a:endParaRPr/>
          </a:p>
          <a:p xmlns:a="http://schemas.openxmlformats.org/drawingml/2006/main">
            <a:pPr marL="0" lvl="0" indent="0" algn="l">
              <a:spcBef>
                <a:spcPts val="0"/>
              </a:spcBef>
              <a:spcAft>
                <a:spcPts val="0"/>
              </a:spcAft>
              <a:buNone/>
            </a:pPr>
            <a:r>
              <a:t>Lecture : comparer chaque requête aux clés, mettre à l’échelle, ajouter le masque, normaliser chaque ligne sur les clés, puis combiner les valeurs. Pour n_q requêtes, n_k clés et des valeurs de dimension d_v : Q est n_q × d_k, K est n_k × d_k, V est n_k × d_v. Le produit QKᵀ et le masque additif M sont n_q × n_k ; M vaut zéro pour un accès autorisé et −∞ pour un accès interdit. La sortie est n_q × d_v. Dans notre cas jouet, n_q = n_k = 3 et d_k = d_v = 2 : (3×2)(2×3) donne 3×3, puis (3×3)(3×2) donne 3×2. Les axes de batch et de têtes sont omis pour la lisibilité. Ne pas confondre ce masque additif M avec un vecteur binaire attention_mask ni avec labels = −100 : ces représentations interviennent à des endroits différents.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31 — Étape 1 · Calculer les scores de correspondance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calcul guidé, 4 min avec une nouvelle requête, 3 min de correction. Pour q = (1,0), le produit avec A vaut 1×1 + 0×0 = 1 ; avec B il vaut zéro ; avec C il vaut un. Faire reprendre le calcul avec q = (0,1), qui produit [0,1,1]. L'objectif est de rendre visible qu'une autre position peut chercher une autre information. QUESTION : les scores 1,0,1 sont-ils des probabilités ? RÉPONSE : non, ils ne somment pas à un et pourraient être négatifs. Le produit scalaire tient compte des directions et des amplitudes ; il n'est pas automatiquement un cosinus. Il n'y a pas encore de valeur récupérée : nous avons seulement établi des compatibilités. Les vecteurs sont inventés pour le calcul et ne constituent pas une mesure réelle de mots français. Inviter chaque binôme à changer une clé pour que B gagne. Cette manipulation prépare le TP : on doit pouvoir prédire l'effet d'une modification de Q ou K avant d'exécuter la cellule. COMPLÉMENT À EXPLICITER : Un score plus élevé reçoit davantage de poids après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32 — Étape 2 · Mise à l'échelle et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collectif, 3 min de vérification par binôme, 3 min d’interprétation. Conserver la même requête et les trois clés de la diapositive précédente.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poids a indice i est l’exponentielle du score i divisé par racine de d indice k, rapportée à la somme de ces exponentielles pour toutes les clés. » Les trois opérations sont : mettre les scores à l’échelle, les exponentier, puis normaliser la ligne.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q et kᵢ sont des vecteurs de dₖ coordonnées ; sᵢ = qᵀkᵢ est leur produit scalaire. dₖ est un entier : la dimension d’une clé dans cette tête, pas la dimension totale du modèle. n compte les clés ; i désigne celle dont on veut le poids, j parcourt les clés dans la somme Σ. exp(x) signifie e puissance x. Les scores et les poids sont des nombres sans unité physique. Pour une requête, la sortie comporte n poids scalaires positifs ou nuls après masquage, totalisant 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Les scores sont [1 ; 0 ; 1] et dₖ = 2.</a:t>
            </a:r>
            <a:endParaRPr/>
          </a:p>
          <a:p xmlns:a="http://schemas.openxmlformats.org/drawingml/2006/main">
            <a:pPr marL="0" lvl="0" indent="0" algn="l">
              <a:spcBef>
                <a:spcPts val="0"/>
              </a:spcBef>
              <a:spcAft>
                <a:spcPts val="0"/>
              </a:spcAft>
              <a:buNone/>
            </a:pPr>
            <a:r>
              <a:t>2. Diviser par √2 ≈ 1,414 donne [0,707 ; 0 ; 0,707].</a:t>
            </a:r>
            <a:endParaRPr/>
          </a:p>
          <a:p xmlns:a="http://schemas.openxmlformats.org/drawingml/2006/main">
            <a:pPr marL="0" lvl="0" indent="0" algn="l">
              <a:spcBef>
                <a:spcPts val="0"/>
              </a:spcBef>
              <a:spcAft>
                <a:spcPts val="0"/>
              </a:spcAft>
              <a:buNone/>
            </a:pPr>
            <a:r>
              <a:t>3. Exponentier donne environ [2,028 ; 1 ; 2,028].</a:t>
            </a:r>
            <a:endParaRPr/>
          </a:p>
          <a:p xmlns:a="http://schemas.openxmlformats.org/drawingml/2006/main">
            <a:pPr marL="0" lvl="0" indent="0" algn="l">
              <a:spcBef>
                <a:spcPts val="0"/>
              </a:spcBef>
              <a:spcAft>
                <a:spcPts val="0"/>
              </a:spcAft>
              <a:buNone/>
            </a:pPr>
            <a:r>
              <a:t>4. Additionner : le dénominateur vaut environ 5,056.</a:t>
            </a:r>
            <a:endParaRPr/>
          </a:p>
          <a:p xmlns:a="http://schemas.openxmlformats.org/drawingml/2006/main">
            <a:pPr marL="0" lvl="0" indent="0" algn="l">
              <a:spcBef>
                <a:spcPts val="0"/>
              </a:spcBef>
              <a:spcAft>
                <a:spcPts val="0"/>
              </a:spcAft>
              <a:buNone/>
            </a:pPr>
            <a:r>
              <a:t>5. Diviser chaque terme : les poids valent environ [0,401 ; 0,198 ; 0,401]. Vérifier 0,401 + 0,198 + 0,401 =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Ces trois clés sont autorisées. Avec un masque, ajouter −∞ au score interdit avant softmax, ce qui donne un poids nul. Il faut au moins une clé autorisée par ligne. Diviser par √dₖ contrôle l’échelle des scores ; cela ne les transforme pas en cosinus. Pour la stabilité, soustraire le maximum des scores mis à l’échelle avant l’exponentielle : la distribution reste identique.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Si tous les scores autorisés sont nuls ? » Les exponentielles valent toutes un, donc les trois poids valent un tiers. « Sur quel axe normaliser ? » Sur les clés, séparément pour chaque requête.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Scores : [1, 0, 1] ; d_k = 2.</a:t>
            </a:r>
            <a:endParaRPr/>
          </a:p>
          <a:p xmlns:a="http://schemas.openxmlformats.org/drawingml/2006/main">
            <a:pPr marL="0" lvl="0" indent="0" algn="l">
              <a:spcBef>
                <a:spcPts val="0"/>
              </a:spcBef>
              <a:spcAft>
                <a:spcPts val="0"/>
              </a:spcAft>
              <a:buNone/>
            </a:pPr>
            <a:r>
              <a:t>• Scores divisés par √2 : [0,707 ; 0 ; 0,707].</a:t>
            </a:r>
            <a:endParaRPr/>
          </a:p>
          <a:p xmlns:a="http://schemas.openxmlformats.org/drawingml/2006/main">
            <a:pPr marL="0" lvl="0" indent="0" algn="l">
              <a:spcBef>
                <a:spcPts val="0"/>
              </a:spcBef>
              <a:spcAft>
                <a:spcPts val="0"/>
              </a:spcAft>
              <a:buNone/>
            </a:pPr>
            <a:r>
              <a:t>• Exponentielles ≈ [2,03 ; 1 ; 2,03].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a_i=\frac{\exp(s_i/\sqrt{d_k})}{\sum_{j=1}^{n}\exp(s_j/\sqrt{d_k})}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a_i=\frac{\exp(s_i/\sqrt{d_k})}{\sum_{j=1}^{n}\exp(s_j/\sqrt{d_k})}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sᵢ = qᵀkᵢ : score face à la clé i</a:t>
            </a:r>
            <a:endParaRPr/>
          </a:p>
          <a:p xmlns:a="http://schemas.openxmlformats.org/drawingml/2006/main">
            <a:pPr marL="0" lvl="0" indent="0" algn="l">
              <a:spcBef>
                <a:spcPts val="0"/>
              </a:spcBef>
              <a:spcAft>
                <a:spcPts val="0"/>
              </a:spcAft>
              <a:buNone/>
            </a:pPr>
            <a:r>
              <a:t>dₖ : nombre de coordonnées par clé</a:t>
            </a:r>
            <a:endParaRPr/>
          </a:p>
          <a:p xmlns:a="http://schemas.openxmlformats.org/drawingml/2006/main">
            <a:pPr marL="0" lvl="0" indent="0" algn="l">
              <a:spcBef>
                <a:spcPts val="0"/>
              </a:spcBef>
              <a:spcAft>
                <a:spcPts val="0"/>
              </a:spcAft>
              <a:buNone/>
            </a:pPr>
            <a:r>
              <a:t>n : nombre de clés ; i, j : indices</a:t>
            </a:r>
            <a:endParaRPr/>
          </a:p>
          <a:p xmlns:a="http://schemas.openxmlformats.org/drawingml/2006/main">
            <a:pPr marL="0" lvl="0" indent="0" algn="l">
              <a:spcBef>
                <a:spcPts val="0"/>
              </a:spcBef>
              <a:spcAft>
                <a:spcPts val="0"/>
              </a:spcAft>
              <a:buNone/>
            </a:pPr>
            <a:r>
              <a:t>exp : exponentielle ; Σ : somme sur les clés</a:t>
            </a:r>
            <a:endParaRPr/>
          </a:p>
          <a:p xmlns:a="http://schemas.openxmlformats.org/drawingml/2006/main">
            <a:pPr marL="0" lvl="0" indent="0" algn="l">
              <a:spcBef>
                <a:spcPts val="0"/>
              </a:spcBef>
              <a:spcAft>
                <a:spcPts val="0"/>
              </a:spcAft>
              <a:buNone/>
            </a:pPr>
            <a:r>
              <a:t>aᵢ : poids attribué à la valeur 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Scores [1 ; 0 ; 1], dₖ = 2 → poids ≈ [0,401 ; 0,198 ; 0,401] ; somme =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33 — Étape 3 · Mélanger les valeurs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coordonnée par coordonnée, 3 min de variante, 3 min de correction. Lire la table des poids et valeurs avant de regarder le résultat.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vecteur de sortie o est la somme, pour les trois positions, du poids a indice i multiplié par le vecteur de valeur v indice i. » Le poids est un nombre ; il multiplie toutes les coordonnées du vecteur correspondant.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i parcourt les trois clés et leurs valeurs associées. aᵢ est le poids scalaire sans unité calculé par softmax ; les trois poids somment à un. vᵢ est ici un vecteur de deux caractéristiques apprises, donc de dimension dᵥ = 2. Σ additionne des vecteurs de même dimension. o possède aussi deux coordonnées : l’attention ne transforme pas directement cette sortie en mot. Pour plusieurs requêtes, on assemble leurs lignes et le produit matriciel A V a la forme nombre de requêtes × dᵥ.</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Multiplier a_A = 0,401 par v_A = (2,0) : contribution (0,802 ; 0).</a:t>
            </a:r>
            <a:endParaRPr/>
          </a:p>
          <a:p xmlns:a="http://schemas.openxmlformats.org/drawingml/2006/main">
            <a:pPr marL="0" lvl="0" indent="0" algn="l">
              <a:spcBef>
                <a:spcPts val="0"/>
              </a:spcBef>
              <a:spcAft>
                <a:spcPts val="0"/>
              </a:spcAft>
              <a:buNone/>
            </a:pPr>
            <a:r>
              <a:t>2. Multiplier a_B = 0,198 par v_B = (0,2) : contribution (0 ; 0,396).</a:t>
            </a:r>
            <a:endParaRPr/>
          </a:p>
          <a:p xmlns:a="http://schemas.openxmlformats.org/drawingml/2006/main">
            <a:pPr marL="0" lvl="0" indent="0" algn="l">
              <a:spcBef>
                <a:spcPts val="0"/>
              </a:spcBef>
              <a:spcAft>
                <a:spcPts val="0"/>
              </a:spcAft>
              <a:buNone/>
            </a:pPr>
            <a:r>
              <a:t>3. Multiplier a_C = 0,401 par v_C = (2,2) : contribution (0,802 ; 0,802).</a:t>
            </a:r>
            <a:endParaRPr/>
          </a:p>
          <a:p xmlns:a="http://schemas.openxmlformats.org/drawingml/2006/main">
            <a:pPr marL="0" lvl="0" indent="0" algn="l">
              <a:spcBef>
                <a:spcPts val="0"/>
              </a:spcBef>
              <a:spcAft>
                <a:spcPts val="0"/>
              </a:spcAft>
              <a:buNone/>
            </a:pPr>
            <a:r>
              <a:t>4. Additionner les premières coordonnées : 0,802 + 0 + 0,802 = 1,604.</a:t>
            </a:r>
            <a:endParaRPr/>
          </a:p>
          <a:p xmlns:a="http://schemas.openxmlformats.org/drawingml/2006/main">
            <a:pPr marL="0" lvl="0" indent="0" algn="l">
              <a:spcBef>
                <a:spcPts val="0"/>
              </a:spcBef>
              <a:spcAft>
                <a:spcPts val="0"/>
              </a:spcAft>
              <a:buNone/>
            </a:pPr>
            <a:r>
              <a:t>5. Additionner les secondes : 0 + 0,396 + 0,802 = 1,198. Les écarts avec un calcul logiciel proviennent des poids arrondis.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Conserver Q, K et le masque garde les poids constants, même si V change. Ne pas remplacer V par K : K sert à choisir les contributions et V porte leur contenu. Des poids d’attention observés ne prouvent pas à eux seuls la cause complète d’une décision du réseau.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Si v_B devient (0,20), que change-t-on ? » Son poids reste 0,198 ; sa contribution devient (0 ; 3,96). La sortie arrondie devient (1,604 ; 4,762). Le changement de contenu ne recalcule pas les compatibilités.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\mathbf{o}=\sum_{i=1}^{3}a_i\mathbf{v}_i\approx\begin{pmatrix}1{,}604\\1{,}198\end{pmatrix}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\mathbf{o}=\sum_{i=1}^{3}a_i\mathbf{v}_i\approx\begin{pmatrix}1{,}604\\1{,}198\end{pmatrix}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aᵢ : poids de la position i</a:t>
            </a:r>
            <a:endParaRPr/>
          </a:p>
          <a:p xmlns:a="http://schemas.openxmlformats.org/drawingml/2006/main">
            <a:pPr marL="0" lvl="0" indent="0" algn="l">
              <a:spcBef>
                <a:spcPts val="0"/>
              </a:spcBef>
              <a:spcAft>
                <a:spcPts val="0"/>
              </a:spcAft>
              <a:buNone/>
            </a:pPr>
            <a:r>
              <a:t>vᵢ : vecteur de valeur à 2 coordonnées</a:t>
            </a:r>
            <a:endParaRPr/>
          </a:p>
          <a:p xmlns:a="http://schemas.openxmlformats.org/drawingml/2006/main">
            <a:pPr marL="0" lvl="0" indent="0" algn="l">
              <a:spcBef>
                <a:spcPts val="0"/>
              </a:spcBef>
              <a:spcAft>
                <a:spcPts val="0"/>
              </a:spcAft>
              <a:buNone/>
            </a:pPr>
            <a:r>
              <a:t>Σ : addition des 3 contributions pondérées</a:t>
            </a:r>
            <a:endParaRPr/>
          </a:p>
          <a:p xmlns:a="http://schemas.openxmlformats.org/drawingml/2006/main">
            <a:pPr marL="0" lvl="0" indent="0" algn="l">
              <a:spcBef>
                <a:spcPts val="0"/>
              </a:spcBef>
              <a:spcAft>
                <a:spcPts val="0"/>
              </a:spcAft>
              <a:buNone/>
            </a:pPr>
            <a:r>
              <a:t>o : vecteur de sortie, dimension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0,401(2,0) + 0,198(0,2) + 0,401(2,2) ≈ (1,604 ; 1,198).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34 — Le masque causal empêche de lire la réponse future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lecture de la matrice, 4 min de masque sur papier, 3 min de correction. À la position de colis, le modèle peut utiliser Le et colis pour prédire arrive, mais pas regarder arrive directement. Le masque triangulaire exprime cette restriction pour toutes les positions simultanément. Ajouter une valeur extrêmement négative aux scores interdits fait tendre leur exponentielle vers zéro ; cela se fait avant le softmax.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mettre les poids interdits à zéro après softmax sans renormaliser donne-t-il la même opération ? RÉPONSE : non, la somme des poids devient généralement inférieure à un. Distinguer le masque causal du masque de padding : le premier interdit l'accès au futur, le second aux positions artificielles de remplissage. Les deux peuvent se combiner. Faire vérifier que chaque ligne garde au moins une clé autorisée pour éviter un softmax indéfini.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on compare les sorties avec et sans masque et on explique pourquoi une loss d'entraînement sans masque pourrait être trompeusement basse pour une tâche autorégressive. COMPLÉMENT À EXPLICITER : Le padding et la causalité répondent à deux besoins distincts.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les lignes comme les positions qui interrogent et les colonnes comme les positions qu’elles peuvent consulter. La position courante et le passé restent visibles ; le futur est interdit pour ce décodeur causal.</a:t>
            </a:r>
            <a:endParaRPr/>
          </a:p>
          <a:p xmlns:a="http://schemas.openxmlformats.org/drawingml/2006/main">
            <a:pPr marL="0" lvl="0" indent="0" algn="l">
              <a:spcBef>
                <a:spcPts val="0"/>
              </a:spcBef>
              <a:spcAft>
                <a:spcPts val="0"/>
              </a:spcAft>
              <a:buNone/>
            </a:pPr>
            <a:r>
              <a:t>2. Avec « Le | colis | arrive », la ligne « colis » consulte « Le » et « colis », mais pas « arrive ». L’accès à soi est autorisé : la sortie de cette position servira à prédire le token suivant.</a:t>
            </a:r>
            <a:endParaRPr/>
          </a:p>
          <a:p xmlns:a="http://schemas.openxmlformats.org/drawingml/2006/main">
            <a:pPr marL="0" lvl="0" indent="0" algn="l">
              <a:spcBef>
                <a:spcPts val="0"/>
              </a:spcBef>
              <a:spcAft>
                <a:spcPts val="0"/>
              </a:spcAft>
              <a:buNone/>
            </a:pPr>
            <a:r>
              <a:t>3. Les cases masquées correspondent à un ajout de −∞ avant softmax, donc à des poids nuls. Les flèches autorisées transportent le contexte ; elles ne transportent pas les labels de référence directement vers la prédiction.</a:t>
            </a:r>
            <a:endParaRPr/>
          </a:p>
          <a:p xmlns:a="http://schemas.openxmlformats.org/drawingml/2006/main">
            <a:pPr marL="0" lvl="0" indent="0" algn="l">
              <a:spcBef>
                <a:spcPts val="0"/>
              </a:spcBef>
              <a:spcAft>
                <a:spcPts val="0"/>
              </a:spcAft>
              <a:buNone/>
            </a:pPr>
            <a:r>
              <a:t>4. Distinguer causalité et padding : le futur contient de vrais tokens interdits par la tâche, alors que le padding remplit des places artificielles. Les masques se combinent mais ne signifient pas la même chose.</a:t>
            </a:r>
            <a:endParaRPr/>
          </a:p>
          <a:p xmlns:a="http://schemas.openxmlformats.org/drawingml/2006/main">
            <a:pPr marL="0" lvl="0" indent="0" algn="l">
              <a:spcBef>
                <a:spcPts val="0"/>
              </a:spcBef>
              <a:spcAft>
                <a:spcPts val="0"/>
              </a:spcAft>
              <a:buNone/>
            </a:pPr>
            <a:r>
              <a:t>5. Le schéma représente une famille causale de type GPT/Qwen. Un encodeur de type BERT peut consulter les deux côtés de l’entrée valide ; il ne reçoit pas automatiquement ce triangle causal. Question : une bonne loss sans masque démontre-t-elle une bonne génération ? Non, elle peut profiter des cibles futures.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Ajouter −∞ aux scores interdits avant softmax.</a:t>
            </a:r>
            <a:endParaRPr/>
          </a:p>
          <a:p xmlns:a="http://schemas.openxmlformats.org/drawingml/2006/main">
            <a:pPr marL="0" lvl="0" indent="0" algn="l">
              <a:spcBef>
                <a:spcPts val="0"/>
              </a:spcBef>
              <a:spcAft>
                <a:spcPts val="0"/>
              </a:spcAft>
              <a:buNone/>
            </a:pPr>
            <a:r>
              <a:t>Table de référence — Requête / clé | Le | colis | arrive</a:t>
            </a:r>
            <a:endParaRPr/>
          </a:p>
          <a:p xmlns:a="http://schemas.openxmlformats.org/drawingml/2006/main">
            <a:pPr marL="0" lvl="0" indent="0" algn="l">
              <a:spcBef>
                <a:spcPts val="0"/>
              </a:spcBef>
              <a:spcAft>
                <a:spcPts val="0"/>
              </a:spcAft>
              <a:buNone/>
            </a:pPr>
            <a:r>
              <a:t>Le | visible | masqué | masqué</a:t>
            </a:r>
            <a:endParaRPr/>
          </a:p>
          <a:p xmlns:a="http://schemas.openxmlformats.org/drawingml/2006/main">
            <a:pPr marL="0" lvl="0" indent="0" algn="l">
              <a:spcBef>
                <a:spcPts val="0"/>
              </a:spcBef>
              <a:spcAft>
                <a:spcPts val="0"/>
              </a:spcAft>
              <a:buNone/>
            </a:pPr>
            <a:r>
              <a:t>colis | visible | visible | masqué</a:t>
            </a:r>
            <a:endParaRPr/>
          </a:p>
          <a:p xmlns:a="http://schemas.openxmlformats.org/drawingml/2006/main">
            <a:pPr marL="0" lvl="0" indent="0" algn="l">
              <a:spcBef>
                <a:spcPts val="0"/>
              </a:spcBef>
              <a:spcAft>
                <a:spcPts val="0"/>
              </a:spcAft>
              <a:buNone/>
            </a:pPr>
            <a:r>
              <a:t>arrive | visible | visible |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Matrice de masque causal quatre par quatre : zéro sur et sous la diagonale, moins l’infini au-dessus. La troisième position ne lit que les trois premières positions.</a:t>
            </a:r>
            <a:endParaRPr/>
          </a:p>
          <a:p xmlns:a="http://schemas.openxmlformats.org/drawingml/2006/main">
            <a:pPr marL="0" lvl="0" indent="0" algn="l">
              <a:spcBef>
                <a:spcPts val="0"/>
              </a:spcBef>
              <a:spcAft>
                <a:spcPts val="0"/>
              </a:spcAft>
              <a:buNone/>
            </a:pPr>
            <a:r>
              <a:t>Le masque s’ajoute aux scores avant softmax : le futur reçoit une probabilité nulle.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Ajouter −∞ aux scores interdits avant softmax.</a:t>
            </a:r>
            <a:endParaRPr/>
          </a:p>
          <a:p xmlns:a="http://schemas.openxmlformats.org/drawingml/2006/main">
            <a:pPr marL="0" lvl="0" indent="0" algn="l">
              <a:spcBef>
                <a:spcPts val="0"/>
              </a:spcBef>
              <a:spcAft>
                <a:spcPts val="0"/>
              </a:spcAft>
              <a:buNone/>
            </a:pPr>
            <a:r>
              <a:t>Requête / clé | Le | colis | arrive</a:t>
            </a:r>
            <a:endParaRPr/>
          </a:p>
          <a:p xmlns:a="http://schemas.openxmlformats.org/drawingml/2006/main">
            <a:pPr marL="0" lvl="0" indent="0" algn="l">
              <a:spcBef>
                <a:spcPts val="0"/>
              </a:spcBef>
              <a:spcAft>
                <a:spcPts val="0"/>
              </a:spcAft>
              <a:buNone/>
            </a:pPr>
            <a:r>
              <a:t>Le | visible | masqué | masqué</a:t>
            </a:r>
            <a:endParaRPr/>
          </a:p>
          <a:p xmlns:a="http://schemas.openxmlformats.org/drawingml/2006/main">
            <a:pPr marL="0" lvl="0" indent="0" algn="l">
              <a:spcBef>
                <a:spcPts val="0"/>
              </a:spcBef>
              <a:spcAft>
                <a:spcPts val="0"/>
              </a:spcAft>
              <a:buNone/>
            </a:pPr>
            <a:r>
              <a:t>colis | visible | visible | masqué</a:t>
            </a:r>
            <a:endParaRPr/>
          </a:p>
          <a:p xmlns:a="http://schemas.openxmlformats.org/drawingml/2006/main">
            <a:pPr marL="0" lvl="0" indent="0" algn="l">
              <a:spcBef>
                <a:spcPts val="0"/>
              </a:spcBef>
              <a:spcAft>
                <a:spcPts val="0"/>
              </a:spcAft>
              <a:buNone/>
            </a:pPr>
            <a:r>
              <a:t>arrive | visible | visible |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35 — Plusieurs têtes : plusieurs comparaisons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schéma, 3 min de calcul de dimensions, 3 min de critique. Partir de deux lecteurs examinant la même phrase avec des critères différents. Cette analogie motive plusieurs comparaisons, mais ne signifie pas qu'une tête serait programmée pour les sujets et une autre pour la politesse. Pour le Transformer standard illustré, répartir 256 dimensions entre huit têtes donne 32 dimensions par tête. Le facteur d'échelle de chaque tête dépend alors de racine de 32.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huit têtes signifient-elles huit modèles indépendants ? RÉPONSE : non ; leurs résultats sont combinés dans un réseau entraîné conjointement. Indiquer que certaines architectures modernes utilisent des nombres différents de têtes de requêtes et de clés/valeurs ; ce bonus ne change pas le calcul jouet. Faire identifier l'erreur « diviser par racine de 256 dans chaque tête de dimension 32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deux jeux de projections construits permettront d'observer des poids différents sur la même entrée. Exiger un commentaire sur ce qui a été calculé, sans inventer une interprétation linguistique à partir de quelques couleurs.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Suivre la même séquence d’entrée vers plusieurs branches : chaque tête possède ses projections Q, K et V et effectue son propre calcul d’attention.</a:t>
            </a:r>
            <a:endParaRPr/>
          </a:p>
          <a:p xmlns:a="http://schemas.openxmlformats.org/drawingml/2006/main">
            <a:pPr marL="0" lvl="0" indent="0" algn="l">
              <a:spcBef>
                <a:spcPts val="0"/>
              </a:spcBef>
              <a:spcAft>
                <a:spcPts val="0"/>
              </a:spcAft>
              <a:buNone/>
            </a:pPr>
            <a:r>
              <a:t>2. Dans le cas standard illustré, d_model = 256 et h = 8 donnent d_k = d_v = 32 par tête. Chaque facteur de mise à l’échelle utilise √32, pas √256.</a:t>
            </a:r>
            <a:endParaRPr/>
          </a:p>
          <a:p xmlns:a="http://schemas.openxmlformats.org/drawingml/2006/main">
            <a:pPr marL="0" lvl="0" indent="0" algn="l">
              <a:spcBef>
                <a:spcPts val="0"/>
              </a:spcBef>
              <a:spcAft>
                <a:spcPts val="0"/>
              </a:spcAft>
              <a:buNone/>
            </a:pPr>
            <a:r>
              <a:t>3. Les flèches parallèles aboutissent à huit sorties de dimension 32 par token. La concaténation les place côte à côte et reconstitue 256 coordonnées ; elle n’en fait pas une moyenne.</a:t>
            </a:r>
            <a:endParaRPr/>
          </a:p>
          <a:p xmlns:a="http://schemas.openxmlformats.org/drawingml/2006/main">
            <a:pPr marL="0" lvl="0" indent="0" algn="l">
              <a:spcBef>
                <a:spcPts val="0"/>
              </a:spcBef>
              <a:spcAft>
                <a:spcPts val="0"/>
              </a:spcAft>
              <a:buNone/>
            </a:pPr>
            <a:r>
              <a:t>4. La projection de sortie mélange ensuite ces 256 coordonnées. Toutes les têtes sont entraînées conjointement dans le même réseau.</a:t>
            </a:r>
            <a:endParaRPr/>
          </a:p>
          <a:p xmlns:a="http://schemas.openxmlformats.org/drawingml/2006/main">
            <a:pPr marL="0" lvl="0" indent="0" algn="l">
              <a:spcBef>
                <a:spcPts val="0"/>
              </a:spcBef>
              <a:spcAft>
                <a:spcPts val="0"/>
              </a:spcAft>
              <a:buNone/>
            </a:pPr>
            <a:r>
              <a:t>5. Les branches distinctes ne signifient pas une tête « sujet », une tête « verbe » ou une autre compétence garantie. Certaines architectures utilisent des clés/valeurs partagées ou d’autres conventions ; ce schéma explique le multi-head standard. Question : huit têtes sont-elles huit modèles indépendants ? Non, leurs sorties alimentent les couches communes.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Chaque tête utilise ses propres projections Q, K et V.</a:t>
            </a:r>
            <a:endParaRPr/>
          </a:p>
          <a:p xmlns:a="http://schemas.openxmlformats.org/drawingml/2006/main">
            <a:pPr marL="0" lvl="0" indent="0" algn="l">
              <a:spcBef>
                <a:spcPts val="0"/>
              </a:spcBef>
              <a:spcAft>
                <a:spcPts val="0"/>
              </a:spcAft>
              <a:buNone/>
            </a:pPr>
            <a:r>
              <a:t>• Les sorties sont concaténées puis reprojetées.</a:t>
            </a:r>
            <a:endParaRPr/>
          </a:p>
          <a:p xmlns:a="http://schemas.openxmlformats.org/drawingml/2006/main">
            <a:pPr marL="0" lvl="0" indent="0" algn="l">
              <a:spcBef>
                <a:spcPts val="0"/>
              </a:spcBef>
              <a:spcAft>
                <a:spcPts val="0"/>
              </a:spcAft>
              <a:buNone/>
            </a:pPr>
            <a:r>
              <a:t>• Exemple : d_model = 256 et 8 têtes → d_k = 32.</a:t>
            </a:r>
            <a:endParaRPr/>
          </a:p>
          <a:p xmlns:a="http://schemas.openxmlformats.org/drawingml/2006/main">
            <a:pPr marL="0" lvl="0" indent="0" algn="l">
              <a:spcBef>
                <a:spcPts val="0"/>
              </a:spcBef>
              <a:spcAft>
                <a:spcPts val="0"/>
              </a:spcAft>
              <a:buNone/>
            </a:pPr>
            <a:r>
              <a:t>• Les têtes ne portent pas des rôles linguistiques garantis.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Deux branches d’attention parallèles reçoivent X, utilisent des projections différentes, puis rejoignent une concaténation et une projection de sortie WO.</a:t>
            </a:r>
            <a:endParaRPr/>
          </a:p>
          <a:p xmlns:a="http://schemas.openxmlformats.org/drawingml/2006/main">
            <a:pPr marL="0" lvl="0" indent="0" algn="l">
              <a:spcBef>
                <a:spcPts val="0"/>
              </a:spcBef>
              <a:spcAft>
                <a:spcPts val="0"/>
              </a:spcAft>
              <a:buNone/>
            </a:pPr>
            <a:r>
              <a:t>Chaque tête apprend ses projections ; leurs sorties sont concaténées puis reprojetées.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Chaque tête utilise ses propres projections Q, K et V.</a:t>
            </a:r>
            <a:endParaRPr/>
          </a:p>
          <a:p xmlns:a="http://schemas.openxmlformats.org/drawingml/2006/main">
            <a:pPr marL="0" lvl="0" indent="0" algn="l">
              <a:spcBef>
                <a:spcPts val="0"/>
              </a:spcBef>
              <a:spcAft>
                <a:spcPts val="0"/>
              </a:spcAft>
              <a:buNone/>
            </a:pPr>
            <a:r>
              <a:t>Les sorties sont concaténées puis reprojetées.</a:t>
            </a:r>
            <a:endParaRPr/>
          </a:p>
          <a:p xmlns:a="http://schemas.openxmlformats.org/drawingml/2006/main">
            <a:pPr marL="0" lvl="0" indent="0" algn="l">
              <a:spcBef>
                <a:spcPts val="0"/>
              </a:spcBef>
              <a:spcAft>
                <a:spcPts val="0"/>
              </a:spcAft>
              <a:buNone/>
            </a:pPr>
            <a:r>
              <a:t>Exemple : d_model = 256 et 8 têtes → d_k = 32.</a:t>
            </a:r>
            <a:endParaRPr/>
          </a:p>
          <a:p xmlns:a="http://schemas.openxmlformats.org/drawingml/2006/main">
            <a:pPr marL="0" lvl="0" indent="0" algn="l">
              <a:spcBef>
                <a:spcPts val="0"/>
              </a:spcBef>
              <a:spcAft>
                <a:spcPts val="0"/>
              </a:spcAft>
              <a:buNone/>
            </a:pPr>
            <a:r>
              <a:t>Les têtes ne portent pas des rôles linguistiques garantis.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36 — Un bloc ne se limite pas à l'attention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d'assemblage, 3 min d'exemple numérique, 3 min de questions. Dessiner x puis une transformation f(x), avec un chemin direct qui produit x + f(x). Si x = [1,2] et f(x) = [0,5,−0,5], la somme vaut [1,5,1,5] ; il ne s'agit ni d'une concaténation ni d'une moyenne obligatoire. Le MLP est appliqué aux représentations de chaque position avec des paramètres partagés ; l'attention a déjà échangé de l'information entre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le résiduel signifie-t-il que le réseau ne peut rien oublier ? RÉPONSE : non, les transformations suivantes peuvent modifier l'information, mais le chemin direct facilite le passage des représentations et des gradients. Présenter la normalisation comme un contrôle d'échelle interne, sans la confondre avec le softmax sur les clés. L'ordre exact des opérations et le type de normalisation varient selon les architectures ; le schéma est une lecture fonctionnelle.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l'inspection du modèle doit retrouver ces familles de composants, sans exiger de réimplémenter tout le Transformer.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Ce dessin montre explicitement un bloc Post-LN de type BERT : lire entrée → self-attention → addition résiduelle + normalisation → MLP/FFN → addition résiduelle + normalisation → sortie.</a:t>
            </a:r>
            <a:endParaRPr/>
          </a:p>
          <a:p xmlns:a="http://schemas.openxmlformats.org/drawingml/2006/main">
            <a:pPr marL="0" lvl="0" indent="0" algn="l">
              <a:spcBef>
                <a:spcPts val="0"/>
              </a:spcBef>
              <a:spcAft>
                <a:spcPts val="0"/>
              </a:spcAft>
              <a:buNone/>
            </a:pPr>
            <a:r>
              <a:t>2. Une flèche de contournement transporte l’entrée d’un sous-bloc jusqu’à l’addition correspondante. L’autre branche transporte sa transformation. Les deux tenseurs doivent avoir la même forme pour l’addition ; ce n’est pas une concaténation.</a:t>
            </a:r>
            <a:endParaRPr/>
          </a:p>
          <a:p xmlns:a="http://schemas.openxmlformats.org/drawingml/2006/main">
            <a:pPr marL="0" lvl="0" indent="0" algn="l">
              <a:spcBef>
                <a:spcPts val="0"/>
              </a:spcBef>
              <a:spcAft>
                <a:spcPts val="0"/>
              </a:spcAft>
              <a:buNone/>
            </a:pPr>
            <a:r>
              <a:t>3. L’attention échange de l’information entre positions. Le FFN transforme ensuite les caractéristiques de chaque position avec les mêmes paramètres appliqués à toutes les positions ; ses dimensions internes peuvent s’élargir puis revenir à d_model.</a:t>
            </a:r>
            <a:endParaRPr/>
          </a:p>
          <a:p xmlns:a="http://schemas.openxmlformats.org/drawingml/2006/main">
            <a:pPr marL="0" lvl="0" indent="0" algn="l">
              <a:spcBef>
                <a:spcPts val="0"/>
              </a:spcBef>
              <a:spcAft>
                <a:spcPts val="0"/>
              </a:spcAft>
              <a:buNone/>
            </a:pPr>
            <a:r>
              <a:t>4. La normalisation porte sur les caractéristiques selon la définition de la couche ; elle n’est pas le softmax sur les clés. Les axes du batch et de la longueur restent présents dans l’entrée et la sortie.</a:t>
            </a:r>
            <a:endParaRPr/>
          </a:p>
          <a:p xmlns:a="http://schemas.openxmlformats.org/drawingml/2006/main">
            <a:pPr marL="0" lvl="0" indent="0" algn="l">
              <a:spcBef>
                <a:spcPts val="0"/>
              </a:spcBef>
              <a:spcAft>
                <a:spcPts val="0"/>
              </a:spcAft>
              <a:buNone/>
            </a:pPr>
            <a:r>
              <a:t>5. L’ordre Post-LN ne doit pas être présenté comme universel : des architectures causales utilisent une normalisation avant les sous-couches, et des variantes comme RMSNorm. Question : peut-on déplacer la normalisation sans changer le modèle ? Non, cela définit une autre organisation du bloc.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Attention + réseau positionnel + connexions résiduelles + normalisation.</a:t>
            </a:r>
            <a:endParaRPr/>
          </a:p>
          <a:p xmlns:a="http://schemas.openxmlformats.org/drawingml/2006/main">
            <a:pPr marL="0" lvl="0" indent="0" algn="l">
              <a:spcBef>
                <a:spcPts val="0"/>
              </a:spcBef>
              <a:spcAft>
                <a:spcPts val="0"/>
              </a:spcAft>
              <a:buNone/>
            </a:pPr>
            <a:r>
              <a:t>• L'attention échange de l'information entre positions.</a:t>
            </a:r>
            <a:endParaRPr/>
          </a:p>
          <a:p xmlns:a="http://schemas.openxmlformats.org/drawingml/2006/main">
            <a:pPr marL="0" lvl="0" indent="0" algn="l">
              <a:spcBef>
                <a:spcPts val="0"/>
              </a:spcBef>
              <a:spcAft>
                <a:spcPts val="0"/>
              </a:spcAft>
              <a:buNone/>
            </a:pPr>
            <a:r>
              <a:t>• Le MLP transforme les caractéristiques à chaque position.</a:t>
            </a:r>
            <a:endParaRPr/>
          </a:p>
          <a:p xmlns:a="http://schemas.openxmlformats.org/drawingml/2006/main">
            <a:pPr marL="0" lvl="0" indent="0" algn="l">
              <a:spcBef>
                <a:spcPts val="0"/>
              </a:spcBef>
              <a:spcAft>
                <a:spcPts val="0"/>
              </a:spcAft>
              <a:buNone/>
            </a:pPr>
            <a:r>
              <a:t>• Le chemin résiduel additionne entrée et transformation.</a:t>
            </a:r>
            <a:endParaRPr/>
          </a:p>
          <a:p xmlns:a="http://schemas.openxmlformats.org/drawingml/2006/main">
            <a:pPr marL="0" lvl="0" indent="0" algn="l">
              <a:spcBef>
                <a:spcPts val="0"/>
              </a:spcBef>
              <a:spcAft>
                <a:spcPts val="0"/>
              </a:spcAft>
              <a:buNone/>
            </a:pPr>
            <a:r>
              <a:t>• La normalisation contrôle l'échelle des représentations.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bloc Post-LN relie entrée, attention, addition du premier résidu, LayerNorm, réseau positionnel FFN, addition du second résidu, LayerNorm et sortie.</a:t>
            </a:r>
            <a:endParaRPr/>
          </a:p>
          <a:p xmlns:a="http://schemas.openxmlformats.org/drawingml/2006/main">
            <a:pPr marL="0" lvl="0" indent="0" algn="l">
              <a:spcBef>
                <a:spcPts val="0"/>
              </a:spcBef>
              <a:spcAft>
                <a:spcPts val="0"/>
              </a:spcAft>
              <a:buNone/>
            </a:pPr>
            <a:r>
              <a:t>Exemple Post-LN de type BERT ; d’autres Transformers placent la normalisation autrement.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Attention + réseau positionnel + connexions résiduelles + normalisation.</a:t>
            </a:r>
            <a:endParaRPr/>
          </a:p>
          <a:p xmlns:a="http://schemas.openxmlformats.org/drawingml/2006/main">
            <a:pPr marL="0" lvl="0" indent="0" algn="l">
              <a:spcBef>
                <a:spcPts val="0"/>
              </a:spcBef>
              <a:spcAft>
                <a:spcPts val="0"/>
              </a:spcAft>
              <a:buNone/>
            </a:pPr>
            <a:r>
              <a:t>L'attention échange de l'information entre positions.</a:t>
            </a:r>
            <a:endParaRPr/>
          </a:p>
          <a:p xmlns:a="http://schemas.openxmlformats.org/drawingml/2006/main">
            <a:pPr marL="0" lvl="0" indent="0" algn="l">
              <a:spcBef>
                <a:spcPts val="0"/>
              </a:spcBef>
              <a:spcAft>
                <a:spcPts val="0"/>
              </a:spcAft>
              <a:buNone/>
            </a:pPr>
            <a:r>
              <a:t>Le MLP transforme les caractéristiques à chaque position.</a:t>
            </a:r>
            <a:endParaRPr/>
          </a:p>
          <a:p xmlns:a="http://schemas.openxmlformats.org/drawingml/2006/main">
            <a:pPr marL="0" lvl="0" indent="0" algn="l">
              <a:spcBef>
                <a:spcPts val="0"/>
              </a:spcBef>
              <a:spcAft>
                <a:spcPts val="0"/>
              </a:spcAft>
              <a:buNone/>
            </a:pPr>
            <a:r>
              <a:t>Le chemin résiduel additionne entrée et transformation.</a:t>
            </a:r>
            <a:endParaRPr/>
          </a:p>
          <a:p xmlns:a="http://schemas.openxmlformats.org/drawingml/2006/main">
            <a:pPr marL="0" lvl="0" indent="0" algn="l">
              <a:spcBef>
                <a:spcPts val="0"/>
              </a:spcBef>
              <a:spcAft>
                <a:spcPts val="0"/>
              </a:spcAft>
              <a:buNone/>
            </a:pPr>
            <a:r>
              <a:t>La normalisation contrôle l'échelle des représentations.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https://arxiv.org/abs/1607.06450</a:t>
            </a:r>
            <a:endParaRPr/>
          </a:p>
          <a:p xmlns:a="http://schemas.openxmlformats.org/drawingml/2006/main">
            <a:pPr marL="0" lvl="0" indent="0" algn="l">
              <a:spcBef>
                <a:spcPts val="0"/>
              </a:spcBef>
              <a:spcAft>
                <a:spcPts val="0"/>
              </a:spcAft>
              <a:buNone/>
            </a:pPr>
            <a:r>
              <a:t>https://arxiv.org/abs/1512.03385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37 — Sans information de position, l'ordre manque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d'exemple, 4 min de discussion en binôme, 3 min de correction. Reprendre les deux phrases du titre : le sac de mots échoue parce que les comptes ne disent pas qui rembourse qui. Une self-attention sans information de position possède une propriété d'équivariance aux permutations ; elle ne dispose pas directement de l'ordre à partir des identités seules. L'information positionnelle donne un moyen de le prendre en compte. QUESTION : ajouter le nombre de position à l'identifiant du token suffit-il ? RÉPONSE : non, le modèle utilise une représentation ou une transformation conçue et apprise dans son architecture, pas une modification arbitraire des adresses du vocabulaire. Donner l'intuition de positions absolues et de relations relatives sans dérouler toutes les formules. Les modèles modernes peuvent employer des rotations des requêtes et clés ; c'est une extension. Faire discuter un long échange dont l'information importante est au milieu : accepter une longueur ne garantit pas de retrouver tous les détails. Le TP limitera volontairement les longueurs pour maîtriser le coût et observer la troncature.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https://arxiv.org/abs/2104.09864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38 — Encodeur, décodeur, encodeur-décodeur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comparaison, 3 min de choix par tâche, 3 min de justification. L'encodeur peut faire dépendre la représentation d'un token des mots à gauche et à droite de l'entrée, sous réserve du masque de padding. Le décodeur causal construit une sortie en ne consultant que le préfixe autorisé. L'encodeur-décodeur encode une entrée puis génère une sortie en consultant aussi cette représentation via cross-attention.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un décodeur peut-il faire de la classification ? RÉPONSE : oui, par génération contrainte ou avec une tête adaptée ; le tableau indique des usages fréquents, pas une interdiction. De même, un résumé peut être obtenu par un décodeur instructionnel, ce que nous ferons avec un petit modèle. Faire choisir une famille pour extraire les noms présents dans un message puis pour rédiger une réponse. Demander quel objet est évalué : labels alignés ou texte généré.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DistilBERT multilingue et Qwen illustrent deux usages ; leur comparaison ne permet pas de conclure que toute une famille est supérieure à l'autre. Le nom BERT du titre du cours désigne la famille illustrée par DistilBERT multilingue. Le nom GPT renvoie à l'architecture causale ; Qwen utilisé au TP est un autre checkpoint de cette famille, pas un modèle GPT d'OpenAI.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chaque architecture comme une chaîne entrée → représentations → sortie ; comparer surtout les accès au contexte, pas les couleurs des boîtes.</a:t>
            </a:r>
            <a:endParaRPr/>
          </a:p>
          <a:p xmlns:a="http://schemas.openxmlformats.org/drawingml/2006/main">
            <a:pPr marL="0" lvl="0" indent="0" algn="l">
              <a:spcBef>
                <a:spcPts val="0"/>
              </a:spcBef>
              <a:spcAft>
                <a:spcPts val="0"/>
              </a:spcAft>
              <a:buNone/>
            </a:pPr>
            <a:r>
              <a:t>2. L’encodeur de type BERT reçoit une séquence et contextualise chaque position avec les tokens valides des deux côtés. Une tête adaptée produit ensuite un label global ou des labels par token. Un encodeur seul n’est pas automatiquement un générateur causal.</a:t>
            </a:r>
            <a:endParaRPr/>
          </a:p>
          <a:p xmlns:a="http://schemas.openxmlformats.org/drawingml/2006/main">
            <a:pPr marL="0" lvl="0" indent="0" algn="l">
              <a:spcBef>
                <a:spcPts val="0"/>
              </a:spcBef>
              <a:spcAft>
                <a:spcPts val="0"/>
              </a:spcAft>
              <a:buNone/>
            </a:pPr>
            <a:r>
              <a:t>3. Le décodeur de type GPT/Qwen reçoit un préfixe, utilise une attention causale puis produit des logits de prochain token. Le token choisi est réinjecté dans le préfixe pour continuer. Cette génération reste autorégressive même si les positions d’entraînement sont calculées ensemble.</a:t>
            </a:r>
            <a:endParaRPr/>
          </a:p>
          <a:p xmlns:a="http://schemas.openxmlformats.org/drawingml/2006/main">
            <a:pPr marL="0" lvl="0" indent="0" algn="l">
              <a:spcBef>
                <a:spcPts val="0"/>
              </a:spcBef>
              <a:spcAft>
                <a:spcPts val="0"/>
              </a:spcAft>
              <a:buNone/>
            </a:pPr>
            <a:r>
              <a:t>4. L’encodeur-décodeur de type T5 encode la source. Son décodeur consulte son propre préfixe par self-attention causale et les représentations source par cross-attention. La flèche entre encodeur et décodeur transporte le contexte source, pas les futurs mots cibles.</a:t>
            </a:r>
            <a:endParaRPr/>
          </a:p>
          <a:p xmlns:a="http://schemas.openxmlformats.org/drawingml/2006/main">
            <a:pPr marL="0" lvl="0" indent="0" algn="l">
              <a:spcBef>
                <a:spcPts val="0"/>
              </a:spcBef>
              <a:spcAft>
                <a:spcPts val="0"/>
              </a:spcAft>
              <a:buNone/>
            </a:pPr>
            <a:r>
              <a:t>5. Les usages ne sont pas des interdictions : un décodeur peut classifier via un prompt et résumer sans encodeur séparé. Les TP emploient DistilBERT multilingue, dérivé de BERT, et Qwen pour la famille causale ; Qwen n’est pas un checkpoint GPT d’OpenAI.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BERT : encodeur ; GPT : décodeur causal ; T5 : encodeur-décodeur.</a:t>
            </a:r>
            <a:endParaRPr/>
          </a:p>
          <a:p xmlns:a="http://schemas.openxmlformats.org/drawingml/2006/main">
            <a:pPr marL="0" lvl="0" indent="0" algn="l">
              <a:spcBef>
                <a:spcPts val="0"/>
              </a:spcBef>
              <a:spcAft>
                <a:spcPts val="0"/>
              </a:spcAft>
              <a:buNone/>
            </a:pPr>
            <a:r>
              <a:t>Table de référence — Famille | Contexte consulté | Exemple d'usage</a:t>
            </a:r>
            <a:endParaRPr/>
          </a:p>
          <a:p xmlns:a="http://schemas.openxmlformats.org/drawingml/2006/main">
            <a:pPr marL="0" lvl="0" indent="0" algn="l">
              <a:spcBef>
                <a:spcPts val="0"/>
              </a:spcBef>
              <a:spcAft>
                <a:spcPts val="0"/>
              </a:spcAft>
              <a:buNone/>
            </a:pPr>
            <a:r>
              <a:t>Encodeur | Toute l'entrée valide | Classification, NER</a:t>
            </a:r>
            <a:endParaRPr/>
          </a:p>
          <a:p xmlns:a="http://schemas.openxmlformats.org/drawingml/2006/main">
            <a:pPr marL="0" lvl="0" indent="0" algn="l">
              <a:spcBef>
                <a:spcPts val="0"/>
              </a:spcBef>
              <a:spcAft>
                <a:spcPts val="0"/>
              </a:spcAft>
              <a:buNone/>
            </a:pPr>
            <a:r>
              <a:t>Décodeur causal | Préfixe disponible | Génération de texte</a:t>
            </a:r>
            <a:endParaRPr/>
          </a:p>
          <a:p xmlns:a="http://schemas.openxmlformats.org/drawingml/2006/main">
            <a:pPr marL="0" lvl="0" indent="0" algn="l">
              <a:spcBef>
                <a:spcPts val="0"/>
              </a:spcBef>
              <a:spcAft>
                <a:spcPts val="0"/>
              </a:spcAft>
              <a:buNone/>
            </a:pPr>
            <a:r>
              <a:t>Encodeur-décodeur | Entrée + préfixe de sortie | Traduction,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Trois colonnes comparent BERT encodeur bidirectionnel, GPT décodeur causal, et T5 avec encodeur, décodeur causal et liaison de cross-attention depuis le texte source.</a:t>
            </a:r>
            <a:endParaRPr/>
          </a:p>
          <a:p xmlns:a="http://schemas.openxmlformats.org/drawingml/2006/main">
            <a:pPr marL="0" lvl="0" indent="0" algn="l">
              <a:spcBef>
                <a:spcPts val="0"/>
              </a:spcBef>
              <a:spcAft>
                <a:spcPts val="0"/>
              </a:spcAft>
              <a:buNone/>
            </a:pPr>
            <a:r>
              <a:t>BERT encode ; GPT génère causalement ; T5 relie encodeur et décodeur par cross-attention.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BERT : encodeur ; GPT : décodeur causal ; T5 : encodeur-décodeur.</a:t>
            </a:r>
            <a:endParaRPr/>
          </a:p>
          <a:p xmlns:a="http://schemas.openxmlformats.org/drawingml/2006/main">
            <a:pPr marL="0" lvl="0" indent="0" algn="l">
              <a:spcBef>
                <a:spcPts val="0"/>
              </a:spcBef>
              <a:spcAft>
                <a:spcPts val="0"/>
              </a:spcAft>
              <a:buNone/>
            </a:pPr>
            <a:r>
              <a:t>Famille | Contexte consulté | Exemple d'usage</a:t>
            </a:r>
            <a:endParaRPr/>
          </a:p>
          <a:p xmlns:a="http://schemas.openxmlformats.org/drawingml/2006/main">
            <a:pPr marL="0" lvl="0" indent="0" algn="l">
              <a:spcBef>
                <a:spcPts val="0"/>
              </a:spcBef>
              <a:spcAft>
                <a:spcPts val="0"/>
              </a:spcAft>
              <a:buNone/>
            </a:pPr>
            <a:r>
              <a:t>Encodeur | Toute l'entrée valide | Classification, NER</a:t>
            </a:r>
            <a:endParaRPr/>
          </a:p>
          <a:p xmlns:a="http://schemas.openxmlformats.org/drawingml/2006/main">
            <a:pPr marL="0" lvl="0" indent="0" algn="l">
              <a:spcBef>
                <a:spcPts val="0"/>
              </a:spcBef>
              <a:spcAft>
                <a:spcPts val="0"/>
              </a:spcAft>
              <a:buNone/>
            </a:pPr>
            <a:r>
              <a:t>Décodeur causal | Préfixe disponible | Génération de texte</a:t>
            </a:r>
            <a:endParaRPr/>
          </a:p>
          <a:p xmlns:a="http://schemas.openxmlformats.org/drawingml/2006/main">
            <a:pPr marL="0" lvl="0" indent="0" algn="l">
              <a:spcBef>
                <a:spcPts val="0"/>
              </a:spcBef>
              <a:spcAft>
                <a:spcPts val="0"/>
              </a:spcAft>
              <a:buNone/>
            </a:pPr>
            <a:r>
              <a:t>Encodeur-décodeur | Entrée + préfixe de sortie | Traduction,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https://huggingface.co/learn/llm-course/fr/chapter1/5</a:t>
            </a:r>
            <a:endParaRPr/>
          </a:p>
          <a:p xmlns:a="http://schemas.openxmlformats.org/drawingml/2006/main">
            <a:pPr marL="0" lvl="0" indent="0" algn="l">
              <a:spcBef>
                <a:spcPts val="0"/>
              </a:spcBef>
              <a:spcAft>
                <a:spcPts val="0"/>
              </a:spcAft>
              <a:buNone/>
            </a:pPr>
            <a:r>
              <a:t>https://huggingface.co/learn/llm-course/fr/chapter1/7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39 — Préentraînement et adaptation ne répondent pas à la même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comparaison des objectifs, 4 min d'appariement exemple-objectif, 3 min de correction. Écrire « Le colis est [MASK] » et « Le colis est… ». Dans le premier cas, le modèle peut disposer d'un contexte de droite ; dans le second, il prédit une continuation à partir du préfixe. Les objectifs construisent des représentations utiles, mais ne donnent pas automatiquement nos cinq labels de support. QUESTION : charger un modèle préentraîné avec une nouvelle tête à cinq sorties fournit-il déjà un classifieur fiable ? RÉPONSE : non ; la tête peut être initialisée aléatoirement et doit apprendre la correspondance. Distinguer checkpoint de base, checkpoint adapté à une tâche et modèle instructionnel. Le terme préentraîné décrit une histoire d'apprentissage, pas une garantie d'adéquation. Faire demander aux étudiants ce qu'ils doivent lire dans une model card avant utilisation : langue, tâche, licence, données et limites. L'après-midi, le modèle masqué sert à observer le contexte, tandis que le jour 3 entraînera réellement la tête et l'encodeur sur notre jeu.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https://huggingface.co/learn/llm-course/fr/chapter1/10</a:t>
            </a:r>
            <a:endParaRPr/>
          </a:p>
          <a:p xmlns:a="http://schemas.openxmlformats.org/drawingml/2006/main">
            <a:pPr marL="0" lvl="0" indent="0" algn="l">
              <a:spcBef>
                <a:spcPts val="0"/>
              </a:spcBef>
              <a:spcAft>
                <a:spcPts val="0"/>
              </a:spcAft>
              <a:buNone/>
            </a:pPr>
            <a:r>
              <a:t>https://arxiv.org/abs/1810.04805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40 — Décomposer pipeline() pour savoir ce qui se passe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schéma, 4 min d'inspection guidée, 3 min de questions. Présenter pipeline comme une interface pratique qui assemble des opérations, pas comme une nouvelle architecture. Le tokenizer convertit le texte ; le modèle produit des logits ou d'autres tenseurs ; le post-traitement transforme ces sorties en objets lisibles. Pour une tâche masquée, on récupère des candidats de tokens ; pour une classification, des labels et scores ; pour une génération, une continuation.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pourquoi préciser le modèle plutôt que laisser un défaut ? RÉPONSE : pour connaître la langue, la tâche et la version effectivement testées. Faire lire un identifiant de modèle, puis chercher la dimension des sorties.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utiliser distilbert/distilbert-base-multilingual-cased pour le langage masqué ne signifie pas qu'il connaît nos cinq intentions. Un score élevé sur une suggestion lexicale n'atteste pas que la phrase est vraie. Demander une prédiction avant exécution sur une phrase contenant une négation. Le jour 3 remplacera cette commodité par une lecture plus explicite du tokenizer, du collator et du Trainer.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 texte brut et la tâche explicitement choisie. Le tokenizer crée les identifiants, masques et éventuels tokens spéciaux ; la flèche représente une préparation des données.</a:t>
            </a:r>
            <a:endParaRPr/>
          </a:p>
          <a:p xmlns:a="http://schemas.openxmlformats.org/drawingml/2006/main">
            <a:pPr marL="0" lvl="0" indent="0" algn="l">
              <a:spcBef>
                <a:spcPts val="0"/>
              </a:spcBef>
              <a:spcAft>
                <a:spcPts val="0"/>
              </a:spcAft>
              <a:buNone/>
            </a:pPr>
            <a:r>
              <a:t>2. Le modèle reçoit les tenseurs, pas directement les mots affichés. Il produit des sorties numériques dont la forme dépend de la tâche : logits de classes, logits de tokens ou représentations.</a:t>
            </a:r>
            <a:endParaRPr/>
          </a:p>
          <a:p xmlns:a="http://schemas.openxmlformats.org/drawingml/2006/main">
            <a:pPr marL="0" lvl="0" indent="0" algn="l">
              <a:spcBef>
                <a:spcPts val="0"/>
              </a:spcBef>
              <a:spcAft>
                <a:spcPts val="0"/>
              </a:spcAft>
              <a:buNone/>
            </a:pPr>
            <a:r>
              <a:t>3. Le post-traitement interprète ces sorties : top-k de tokens pour fill-mask, scores de classes pour une classification, ou texte décodé pour une génération. Le label lisible dépend de la configuration sauvegardée.</a:t>
            </a:r>
            <a:endParaRPr/>
          </a:p>
          <a:p xmlns:a="http://schemas.openxmlformats.org/drawingml/2006/main">
            <a:pPr marL="0" lvl="0" indent="0" algn="l">
              <a:spcBef>
                <a:spcPts val="0"/>
              </a:spcBef>
              <a:spcAft>
                <a:spcPts val="0"/>
              </a:spcAft>
              <a:buNone/>
            </a:pPr>
            <a:r>
              <a:t>4. pipeline() assemble ces étapes mais ne crée pas une nouvelle architecture et n’entraîne pas automatiquement un modèle. Le checkpoint doit être compatible avec la tâche choisie.</a:t>
            </a:r>
            <a:endParaRPr/>
          </a:p>
          <a:p xmlns:a="http://schemas.openxmlformats.org/drawingml/2006/main">
            <a:pPr marL="0" lvl="0" indent="0" algn="l">
              <a:spcBef>
                <a:spcPts val="0"/>
              </a:spcBef>
              <a:spcAft>
                <a:spcPts val="0"/>
              </a:spcAft>
              <a:buNone/>
            </a:pPr>
            <a:r>
              <a:t>5. Dans notre démonstration masquée, DistilBERT propose des candidats de token. Il ne connaît pas pour autant nos cinq intentions de support. Question : que signifie une flèche vers un score élevé ? Une transformation numérique dans cette tâche, pas une validation factuelle ni une mesure de fiabilité métier.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Prétraitement → tenseurs → modèle → post-traitement.</a:t>
            </a:r>
            <a:endParaRPr/>
          </a:p>
          <a:p xmlns:a="http://schemas.openxmlformats.org/drawingml/2006/main">
            <a:pPr marL="0" lvl="0" indent="0" algn="l">
              <a:spcBef>
                <a:spcPts val="0"/>
              </a:spcBef>
              <a:spcAft>
                <a:spcPts val="0"/>
              </a:spcAft>
              <a:buNone/>
            </a:pPr>
            <a:r>
              <a:t>• Choisir explicitement la tâche et le checkpoint.</a:t>
            </a:r>
            <a:endParaRPr/>
          </a:p>
          <a:p xmlns:a="http://schemas.openxmlformats.org/drawingml/2006/main">
            <a:pPr marL="0" lvl="0" indent="0" algn="l">
              <a:spcBef>
                <a:spcPts val="0"/>
              </a:spcBef>
              <a:spcAft>
                <a:spcPts val="0"/>
              </a:spcAft>
              <a:buNone/>
            </a:pPr>
            <a:r>
              <a:t>• Inspecter tokenizer, formes et configuration des labels.</a:t>
            </a:r>
            <a:endParaRPr/>
          </a:p>
          <a:p xmlns:a="http://schemas.openxmlformats.org/drawingml/2006/main">
            <a:pPr marL="0" lvl="0" indent="0" algn="l">
              <a:spcBef>
                <a:spcPts val="0"/>
              </a:spcBef>
              <a:spcAft>
                <a:spcPts val="0"/>
              </a:spcAft>
              <a:buNone/>
            </a:pPr>
            <a:r>
              <a:t>• Ne pas confondre score du modèle et fiabilité métier.</a:t>
            </a:r>
            <a:endParaRPr/>
          </a:p>
          <a:p xmlns:a="http://schemas.openxmlformats.org/drawingml/2006/main">
            <a:pPr marL="0" lvl="0" indent="0" algn="l">
              <a:spcBef>
                <a:spcPts val="0"/>
              </a:spcBef>
              <a:spcAft>
                <a:spcPts val="0"/>
              </a:spcAft>
              <a:buNone/>
            </a:pPr>
            <a:r>
              <a:t>• Comparer une phrase normale et une phrase piège.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message est tokenisé en identifiants et masque, traité par le modèle qui produit des logits, puis post-traité pour obtenir une catégorie.</a:t>
            </a:r>
            <a:endParaRPr/>
          </a:p>
          <a:p xmlns:a="http://schemas.openxmlformats.org/drawingml/2006/main">
            <a:pPr marL="0" lvl="0" indent="0" algn="l">
              <a:spcBef>
                <a:spcPts val="0"/>
              </a:spcBef>
              <a:spcAft>
                <a:spcPts val="0"/>
              </a:spcAft>
              <a:buNone/>
            </a:pPr>
            <a:r>
              <a:t>pipeline() assemble ces étapes ; inspecter chacune aide à localiser une erreur.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Prétraitement → tenseurs → modèle → post-traitement.</a:t>
            </a:r>
            <a:endParaRPr/>
          </a:p>
          <a:p xmlns:a="http://schemas.openxmlformats.org/drawingml/2006/main">
            <a:pPr marL="0" lvl="0" indent="0" algn="l">
              <a:spcBef>
                <a:spcPts val="0"/>
              </a:spcBef>
              <a:spcAft>
                <a:spcPts val="0"/>
              </a:spcAft>
              <a:buNone/>
            </a:pPr>
            <a:r>
              <a:t>Choisir explicitement la tâche et le checkpoint.</a:t>
            </a:r>
            <a:endParaRPr/>
          </a:p>
          <a:p xmlns:a="http://schemas.openxmlformats.org/drawingml/2006/main">
            <a:pPr marL="0" lvl="0" indent="0" algn="l">
              <a:spcBef>
                <a:spcPts val="0"/>
              </a:spcBef>
              <a:spcAft>
                <a:spcPts val="0"/>
              </a:spcAft>
              <a:buNone/>
            </a:pPr>
            <a:r>
              <a:t>Inspecter tokenizer, formes et configuration des labels.</a:t>
            </a:r>
            <a:endParaRPr/>
          </a:p>
          <a:p xmlns:a="http://schemas.openxmlformats.org/drawingml/2006/main">
            <a:pPr marL="0" lvl="0" indent="0" algn="l">
              <a:spcBef>
                <a:spcPts val="0"/>
              </a:spcBef>
              <a:spcAft>
                <a:spcPts val="0"/>
              </a:spcAft>
              <a:buNone/>
            </a:pPr>
            <a:r>
              <a:t>Ne pas confondre score du modèle et fiabilité métier.</a:t>
            </a:r>
            <a:endParaRPr/>
          </a:p>
          <a:p xmlns:a="http://schemas.openxmlformats.org/drawingml/2006/main">
            <a:pPr marL="0" lvl="0" indent="0" algn="l">
              <a:spcBef>
                <a:spcPts val="0"/>
              </a:spcBef>
              <a:spcAft>
                <a:spcPts val="0"/>
              </a:spcAft>
              <a:buNone/>
            </a:pPr>
            <a:r>
              <a:t>Comparer une phrase normale et une phrase piège.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41 — Décoder : choisir parmi plusieurs suites possibles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d'explication, 3 min de calcul de noyau, 3 min de critique. Donner la distribution [0,50 ; 0,30 ; 0,15 ; 0,05]. Avec top-p = 0,8, les deux premiers candidats suffisent car leur masse cumulée atteint 0,8 ; leurs probabilités sont ensuite renormalisées avant tirage. Avec top-k = 3, on conserve les trois premiers. QUESTION : une température plus faible rend-elle le modèle plus exact ? RÉPONSE : elle modifie la diversité, pas la connaissance ni la fidélité aux faits. Pour des logits [2,0], T = 1 donne environ [0,88,0,12], tandis que T = 2 donne environ [0,73,0,27]. Préciser que ces réglages interviennent dans le décodage, sans changer les poids appris. Dans les API, do_sample contrôle l'échantillonnage ; une température fournie avec un décodage glouton n'est pas un test valide de diversité. Le TP conservera le prompt et le modèle, ne changera qu'un réglage à la fois, et enregistrera plusieurs sorties lorsque le tirage est aléatoire.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https://huggingface.co/docs/transformers/main_classes/text_generation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42 — Observer une génération avec un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conception, 4 min en binôme, 3 min de discussion. Proposer une demande précise : « Résume en une phrase : le colis AB123 est arrivé mardi avec un article manquant. » Avant toute exécution, demander les faits qui doivent être conservés et ceux qui ne peuvent pas être inventés. Un modèle peut produire une réponse fluide mais remplacer mardi par mercredi ou inventer un remboursement. QUESTION : une réponse courte est-elle forcément une bonne réponse ? RÉPONSE : non, la contrainte de longueur est distincte de la fidélité. Expliquer max_new_tokens comme un plafond de tokens générés, pas de mots ni de longueur totale du prompt. Le template de conversation du tokenizer prépare les rôles attendus par le modèle ; le texte brut et la version instructionnelle ne sont pas interchangeables sans vérification. Le TP emploie Qwen/Qwen2.5-0.5B-Instruct pour rendre les expériences accessibles, avec des capacités modestes à documenter. Enregistrer une table de résultats ; ne pas sélectionner uniquement la sortie la plus flatteuse parmi plusieurs essais.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a:p xmlns:a="http://schemas.openxmlformats.org/drawingml/2006/main">
            <a:pPr marL="0" lvl="0" indent="0" algn="l">
              <a:spcBef>
                <a:spcPts val="0"/>
              </a:spcBef>
              <a:spcAft>
                <a:spcPts val="0"/>
              </a:spcAft>
              <a:buNone/>
            </a:pPr>
            <a:r>
              <a:t>https://huggingface.co/Qwen/Qwen2.5-0.5B-Instruct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43 — Pouvez-vous expliquer l'attention sans le schéma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individuelles, 5 min d'explication entre pairs, 6 min de correction. Réponse 1 : K sert à calculer les compatibilités ; V contient l'information à combiner. Réponse 2 : 32, donc racine de 32, même si la dimension totale du modèle est 256. Réponse 3 : les positions interdites doivent recevoir une probabilité nulle au sein d'une distribution normalisée sur les positions autorisées. Réponse 4 : pour un échantillonnage, la distribution devient plus ou moins concentrée ; les paramètres du modèle ne changent pas et l'exactitude n'est pas garantie. Ajouter une question orale : quelle est la forme de la matrice d'attention pour quatre requêtes et six clés ? Réponse : 4 × 6, avant les axes de batch et de têtes. Demander à un binôme d'expliquer les trois étapes avec des mots avant de ressortir les symboles. Si le calcul reste fragile, le premier atelier dispose d'un chemin entièrement numérique avec vérification des sommes et des dimensions.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44 — TP 2A · Refaire QKᵀ, softmax et AV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reprise des nombres, 20 min de construction du calcul, 15 min d'expériences, 15 min de correction croisée. Ouvrir notebooks/etudiants/02_j2_attention_transformers.ipynb. Le calcul est exécutable sur CPU ; il constitue la priorité avant le téléchargement de modèles. POINT DE CONTRÔLE : afficher séparément scores bruts, scores mis à l'échelle, poids et sortie ; vérifier que le nombre de poids correspond au nombre de clés. Faire expliquer une multiplication à la main par chaque membre du binôme. RÉSULTAT ATTENDU : les poids correspondent aux valeurs prévues à l'arrondi près. Si le softmax est appliqué sur le mauvais axe, exploiter l'erreur : quelle somme vaut un et quelle question le calcul répond-il alors ? EXTENSION : comparer la stabilité numérique avec de grands scores et une soustraction du maximum. Chaque modification doit avoir une prédiction écrite avant l'exécution. Le but n'est pas de réécrire une bibliothèque complète mais de rendre le mécanisme vérifiable.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45 — TP 2B · Rendre le futur inaccessible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sur le masque, 15 min sur le padding, 15 min sur les têtes, 15 min d'analyse. POINT DE CONTRÔLE : un étudiant choisit une position et montre exactement quelles clés elle peut consulter. Les poids masqués doivent être nuls et les poids autorisés former une distribution, sauf cas invalide explicitement détecté. Faire comparer la sortie d'une position avant et après modification d'un token futur ; dans une attention causale correctement construite à cette étape, cette modification ne doit pas influencer la position antérieure. RÉSULTAT ATTENDU : la causalité devient une propriété testée, pas une couleur sur un schéma. Pour les têtes, vérifier la dimension d_k après séparation. EXTENSION : créer volontairement une ligne entièrement masquée et expliquer les valeurs non définies. Débrief : un masque incorrect peut donner une excellente performance d'entraînement grâce à une information indisponible lors de l'usage. Cette expérience relie les calculs du jour aux principes de fuite de données du jour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46 — TP 2C · Observer un encodeur préentraîné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de la model card, 15 min de chargement et formes, 20 min d'expériences, 15 min de restitution. Modèle : distilbert/distilbert-base-multilingual-cased. Le notebook utilise la tâche de langage masqué pour observer l'effet du contexte ; il ne faut pas appeler cela un entraînement de classification. POINT DE CONTRÔLE : remplacer le bon marqueur de masque fourni par le tokenizer, puis montrer le nombre de candidats et les scores. RÉSULTAT ATTENDU : les suggestions changent avec le contexte, mais peuvent être inadaptées au métier ou linguistiquement imparfaites. Faire comparer « Je me rends à [MASK] » à une phrase qui désambiguïse un lieu. Si le modèle ne télécharge pas, poursuivre avec les formes de tenseurs et le calcul d'attention, en marquant l'observation du modèle comme non exécutée. EXTENSION : choisir une phrase où un seul masque ne correspond pas à un mot entier et expliquer la limite liée aux sous-mots. Ne pas interpréter le score de token comme une preuve factuelle.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https://huggingface.co/distilbert/distilbert-base-multilingual-cased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47 — TP 2D · Comparer les stratégies de génération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2 · apres-midi · 60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préparation, 20 min de générations contrôlées, 15 min d'évaluation, 15 min de restitution. Le T4 améliore la durée de l'expérience ; le mode réduit limite le nombre de demandes et les tokens produits. POINT DE CONTRÔLE : vérifier que les variantes utilisent le même message rendu par le template et que do_sample correspond au réglage étudié. Enregistrer toutes les sorties de l'expérience, y compris les ratés. RÉSULTAT ATTENDU : la diversité peut varier sans que la fidélité s'améliore. Demander un cas où la version gloutonne est erronée et un cas où une sortie échantillonnée respecte mieux ou moins bien la consigne. EXTENSION : tester deux formulations de prompt en conservant un décodage fixe. Ne pas mélanger cette expérience avec une comparaison de modèles. Faire écrire la conclusion sous forme conditionnelle : « Sur nos demandes et avec ces réglages… ». Conserver le modèle et les habitudes d'inspection pour les jours 4 et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https://huggingface.co/Qwen/Qwen2.5-0.5B-Instruct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48 — Jour 3 · Adapter un modèle à une tâche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Reprendre le résultat du jour 2 : un modèle préentraîné possède des régularités générales mais ne connaît pas automatiquement les cinq catégories de notre support. Aujourd'hui, les exemples annotés définissent la tâche. Présenter les deux granularités : une décision pour tout le message en classification ; une décision alignée sur les mots en NER. Le même encodeur peut servir de base, mais la tête et la structure des labels changent. Annoncer que la difficulté la plus instructive sera souvent l'alignement des données et l'évaluation, pas l'appel à Trainer. Les petits jeux servent à comprendre la boucle, pas à garantir un gain face à TF-IDF. Les artefacts sauvegardés permettront une réutilisation au jour 5 sans dépendre d'une session Colab restée ouverte. Dans les 140 minutes de classification, le parcours support occupe 100 minutes et une extension réelle Allociné 40 minutes. Cette dernière adapte un classifieur de sentiment binaire sur 1000 critiques train, 200 validation et 200 test ; son artefact est exporté séparément et n'est pas le routeur support utilisé au jour 5. LIVRABLE DE LA JOURNÉE : À produire : modèles sauvegardés et erreurs comparées à la baseline.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49 — Un encodeur et une tête répondent à notre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d'explication, 3 min de suivi d'un exemple, 3 min de questions. Prendre « Impossible de modifier mon mot de passe » et suivre son trajet : tokenizer, encodeur, représentation utilisée par la tête, cinq logits. Les labels sont livraison, facturation, compte, retour et technique ; leur ordre numérique doit être conservé pendant entraînement, sauvegarde et inférence.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si l'on inverse deux noms de labels après entraînement, le réseau s'en aperçoit-il ? RÉPONSE : non, les mêmes nombres seront affichés sous de mauvais noms. Une tête neuve comporte des paramètres non entraînés pour cette tâche ; l'avertissement de chargement correspondant peut donc être attendu, mais doit être compris. Distinguer geler l'encodeur et entraîner seulement la tête d'un fine-tuning de tous les paramètres autorisés. Ce sont deux expériences différentes. Le TP commence avec une configuration explicitement documentée. Faire vérifier la forme batch × nombre de classes des logits, puis montrer que softmax les transforme en distribution sans fournir une garantie de calibration.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message → tokenizer → encodeur préentraîné → représentation utilisée pour la décision → tête de classification → cinq logits. Les cinq sorties correspondent à livraison, facturation, compte, retour et technique selon le mapping sauvegardé.</a:t>
            </a:r>
            <a:endParaRPr/>
          </a:p>
          <a:p xmlns:a="http://schemas.openxmlformats.org/drawingml/2006/main">
            <a:pPr marL="0" lvl="0" indent="0" algn="l">
              <a:spcBef>
                <a:spcPts val="0"/>
              </a:spcBef>
              <a:spcAft>
                <a:spcPts val="0"/>
              </a:spcAft>
              <a:buNone/>
            </a:pPr>
            <a:r>
              <a:t>2. L’encodeur retourne d’abord des représentations par position. La stratégie de lecture globale dépend du modèle ; ne pas imposer à toutes les architectures une moyenne ou un pooler BERT absent du checkpoint réel.</a:t>
            </a:r>
            <a:endParaRPr/>
          </a:p>
          <a:p xmlns:a="http://schemas.openxmlformats.org/drawingml/2006/main">
            <a:pPr marL="0" lvl="0" indent="0" algn="l">
              <a:spcBef>
                <a:spcPts val="0"/>
              </a:spcBef>
              <a:spcAft>
                <a:spcPts val="0"/>
              </a:spcAft>
              <a:buNone/>
            </a:pPr>
            <a:r>
              <a:t>3. La tête transforme cette représentation globale en un vecteur de cinq nombres par message. Le softmax utilisé à l’inférence donne des scores de classes ; la loss d’entraînement reçoit les logits selon l’API.</a:t>
            </a:r>
            <a:endParaRPr/>
          </a:p>
          <a:p xmlns:a="http://schemas.openxmlformats.org/drawingml/2006/main">
            <a:pPr marL="0" lvl="0" indent="0" algn="l">
              <a:spcBef>
                <a:spcPts val="0"/>
              </a:spcBef>
              <a:spcAft>
                <a:spcPts val="0"/>
              </a:spcAft>
              <a:buNone/>
            </a:pPr>
            <a:r>
              <a:t>4. Une flèche depuis le vrai label vers la loss exprime la comparaison supervisée. Le label ne fait pas partie du message d’entrée. Les gradients reviennent vers les paramètres autorisés : tête et encodeur dans le fine-tuning complet du TP.</a:t>
            </a:r>
            <a:endParaRPr/>
          </a:p>
          <a:p xmlns:a="http://schemas.openxmlformats.org/drawingml/2006/main">
            <a:pPr marL="0" lvl="0" indent="0" algn="l">
              <a:spcBef>
                <a:spcPts val="0"/>
              </a:spcBef>
              <a:spcAft>
                <a:spcPts val="0"/>
              </a:spcAft>
              <a:buNone/>
            </a:pPr>
            <a:r>
              <a:t>5. L’encodeur peut être préentraîné alors que la tête à cinq sorties est neuve. Question : charger cette tête suffit-il pour parler de zéro-shot fiable ? Non, elle doit apprendre la correspondance avec les intentions. Les sorties sont batch × 5, distinctes des sorties NER batch × longueur ×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Message → représentations → tête à 5 sorties → scores de classes.</a:t>
            </a:r>
            <a:endParaRPr/>
          </a:p>
          <a:p xmlns:a="http://schemas.openxmlformats.org/drawingml/2006/main">
            <a:pPr marL="0" lvl="0" indent="0" algn="l">
              <a:spcBef>
                <a:spcPts val="0"/>
              </a:spcBef>
              <a:spcAft>
                <a:spcPts val="0"/>
              </a:spcAft>
              <a:buNone/>
            </a:pPr>
            <a:r>
              <a:t>• Le checkpoint apporte des paramètres préentraînés.</a:t>
            </a:r>
            <a:endParaRPr/>
          </a:p>
          <a:p xmlns:a="http://schemas.openxmlformats.org/drawingml/2006/main">
            <a:pPr marL="0" lvl="0" indent="0" algn="l">
              <a:spcBef>
                <a:spcPts val="0"/>
              </a:spcBef>
              <a:spcAft>
                <a:spcPts val="0"/>
              </a:spcAft>
              <a:buNone/>
            </a:pPr>
            <a:r>
              <a:t>• La tête relie la représentation aux labels de notre tâche.</a:t>
            </a:r>
            <a:endParaRPr/>
          </a:p>
          <a:p xmlns:a="http://schemas.openxmlformats.org/drawingml/2006/main">
            <a:pPr marL="0" lvl="0" indent="0" algn="l">
              <a:spcBef>
                <a:spcPts val="0"/>
              </a:spcBef>
              <a:spcAft>
                <a:spcPts val="0"/>
              </a:spcAft>
              <a:buNone/>
            </a:pPr>
            <a:r>
              <a:t>• id2label et label2id doivent rester cohérents.</a:t>
            </a:r>
            <a:endParaRPr/>
          </a:p>
          <a:p xmlns:a="http://schemas.openxmlformats.org/drawingml/2006/main">
            <a:pPr marL="0" lvl="0" indent="0" algn="l">
              <a:spcBef>
                <a:spcPts val="0"/>
              </a:spcBef>
              <a:spcAft>
                <a:spcPts val="0"/>
              </a:spcAft>
              <a:buNone/>
            </a:pPr>
            <a:r>
              <a:t>• Le fine-tuning peut mettre à jour l'encodeur et la tête.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 encodeur transforme quatre tokens en quatre vecteurs. Une branche agrège une représentation globale vers cinq classes ; une autre conserve les quatre positions vers des logits NER.</a:t>
            </a:r>
            <a:endParaRPr/>
          </a:p>
          <a:p xmlns:a="http://schemas.openxmlformats.org/drawingml/2006/main">
            <a:pPr marL="0" lvl="0" indent="0" algn="l">
              <a:spcBef>
                <a:spcPts val="0"/>
              </a:spcBef>
              <a:spcAft>
                <a:spcPts val="0"/>
              </a:spcAft>
              <a:buNone/>
            </a:pPr>
            <a:r>
              <a:t>Une tête globale prédit une classe ; une tête NER prédit des labels par token.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Message → représentations → tête à 5 sorties → scores de classes.</a:t>
            </a:r>
            <a:endParaRPr/>
          </a:p>
          <a:p xmlns:a="http://schemas.openxmlformats.org/drawingml/2006/main">
            <a:pPr marL="0" lvl="0" indent="0" algn="l">
              <a:spcBef>
                <a:spcPts val="0"/>
              </a:spcBef>
              <a:spcAft>
                <a:spcPts val="0"/>
              </a:spcAft>
              <a:buNone/>
            </a:pPr>
            <a:r>
              <a:t>Le checkpoint apporte des paramètres préentraînés.</a:t>
            </a:r>
            <a:endParaRPr/>
          </a:p>
          <a:p xmlns:a="http://schemas.openxmlformats.org/drawingml/2006/main">
            <a:pPr marL="0" lvl="0" indent="0" algn="l">
              <a:spcBef>
                <a:spcPts val="0"/>
              </a:spcBef>
              <a:spcAft>
                <a:spcPts val="0"/>
              </a:spcAft>
              <a:buNone/>
            </a:pPr>
            <a:r>
              <a:t>La tête relie la représentation aux labels de notre tâche.</a:t>
            </a:r>
            <a:endParaRPr/>
          </a:p>
          <a:p xmlns:a="http://schemas.openxmlformats.org/drawingml/2006/main">
            <a:pPr marL="0" lvl="0" indent="0" algn="l">
              <a:spcBef>
                <a:spcPts val="0"/>
              </a:spcBef>
              <a:spcAft>
                <a:spcPts val="0"/>
              </a:spcAft>
              <a:buNone/>
            </a:pPr>
            <a:r>
              <a:t>id2label et label2id doivent rester cohérents.</a:t>
            </a:r>
            <a:endParaRPr/>
          </a:p>
          <a:p xmlns:a="http://schemas.openxmlformats.org/drawingml/2006/main">
            <a:pPr marL="0" lvl="0" indent="0" algn="l">
              <a:spcBef>
                <a:spcPts val="0"/>
              </a:spcBef>
              <a:spcAft>
                <a:spcPts val="0"/>
              </a:spcAft>
              <a:buNone/>
            </a:pPr>
            <a:r>
              <a:t>Le fine-tuning peut mettre à jour l'encodeur et la tête.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https://huggingface.co/docs/transformers/tasks/sequence_classification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50 — La loss pénalise la probabilité donnée à la bonne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de classement d’exemples, 3 min de correction. Comparer deux modèles face au même message et au même label de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loss de cet exemple est l’opposé du logarithme naturel de la probabilité attribuée à la vraie classe y. » Ce n’est pas le logarithme de la probabilité de la classe prédite si celle-ci est fausse.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y est un indice entier parmi C classes. Le réseau produit C logits, c’est-à-dire C scores réels avant normalisation. Leur softmax produit C probabilités positives qui somment à un ; pᵧ désigne la composante correspondant au vrai label. ln est le logarithme naturel de base e. L est un scalaire non négatif pour cet exemple ; avec un logarithme naturel, on parle de nats, unité conventionnelle d’information. Une loss de batch agrège les exemples selon la réduction choisie, souvent une moyenne.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La vraie classe est compte et le modèle lui attribue pᵧ = 0,8.</a:t>
            </a:r>
            <a:endParaRPr/>
          </a:p>
          <a:p xmlns:a="http://schemas.openxmlformats.org/drawingml/2006/main">
            <a:pPr marL="0" lvl="0" indent="0" algn="l">
              <a:spcBef>
                <a:spcPts val="0"/>
              </a:spcBef>
              <a:spcAft>
                <a:spcPts val="0"/>
              </a:spcAft>
              <a:buNone/>
            </a:pPr>
            <a:r>
              <a:t>2. ln(0,8) ≈ −0,223 ; changer le signe donne L ≈ 0,223.</a:t>
            </a:r>
            <a:endParaRPr/>
          </a:p>
          <a:p xmlns:a="http://schemas.openxmlformats.org/drawingml/2006/main">
            <a:pPr marL="0" lvl="0" indent="0" algn="l">
              <a:spcBef>
                <a:spcPts val="0"/>
              </a:spcBef>
              <a:spcAft>
                <a:spcPts val="0"/>
              </a:spcAft>
              <a:buNone/>
            </a:pPr>
            <a:r>
              <a:t>3. Un autre modèle attribue pᵧ = 0,2 : ln(0,2) ≈ −1,609, donc L ≈ 1,609.</a:t>
            </a:r>
            <a:endParaRPr/>
          </a:p>
          <a:p xmlns:a="http://schemas.openxmlformats.org/drawingml/2006/main">
            <a:pPr marL="0" lvl="0" indent="0" algn="l">
              <a:spcBef>
                <a:spcPts val="0"/>
              </a:spcBef>
              <a:spcAft>
                <a:spcPts val="0"/>
              </a:spcAft>
              <a:buNone/>
            </a:pPr>
            <a:r>
              <a:t>4. Pour pᵧ = 0,5, la pénalité vaut environ 0,693. Classer ces trois modèles selon leur pénalité sur cet exemple.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Il s’agit d’une classification à label unique, sans pondération ni label smoothing dans cette explication. Quand pᵧ tend vers zéro, la pénalité augmente sans borne ; une implémentation numérique stable travaille à partir des logits. CrossEntropyLoss attend normalement les logits : ne pas lui appliquer auparavant un softmax simplement parce que la formule pédagogique utilise pᵧ. Une baisse de loss train ne démontre ni généralisation ni amélioration de chaque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 modèle peut-il améliorer sa loss sans changer son argmax ? » Oui : il peut donner davantage de probabilité à la bonne classe tout en gardant le même label prédit. Le TP suit aussi macro-F1 et les erreurs concrètes.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Si p(correcte) = 0,8 : L ≈ 0,223.</a:t>
            </a:r>
            <a:endParaRPr/>
          </a:p>
          <a:p xmlns:a="http://schemas.openxmlformats.org/drawingml/2006/main">
            <a:pPr marL="0" lvl="0" indent="0" algn="l">
              <a:spcBef>
                <a:spcPts val="0"/>
              </a:spcBef>
              <a:spcAft>
                <a:spcPts val="0"/>
              </a:spcAft>
              <a:buNone/>
            </a:pPr>
            <a:r>
              <a:t>• Si p(correcte) = 0,2 : L ≈ 1,609.</a:t>
            </a:r>
            <a:endParaRPr/>
          </a:p>
          <a:p xmlns:a="http://schemas.openxmlformats.org/drawingml/2006/main">
            <a:pPr marL="0" lvl="0" indent="0" algn="l">
              <a:spcBef>
                <a:spcPts val="0"/>
              </a:spcBef>
              <a:spcAft>
                <a:spcPts val="0"/>
              </a:spcAft>
              <a:buNone/>
            </a:pPr>
            <a:r>
              <a:t>• La cible indique la classe correcte ; les logits viennent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\mathcal{L}=-\ln(p_y)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\mathcal{L}=-\ln(p_y)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y : indice de la vraie classe</a:t>
            </a:r>
            <a:endParaRPr/>
          </a:p>
          <a:p xmlns:a="http://schemas.openxmlformats.org/drawingml/2006/main">
            <a:pPr marL="0" lvl="0" indent="0" algn="l">
              <a:spcBef>
                <a:spcPts val="0"/>
              </a:spcBef>
              <a:spcAft>
                <a:spcPts val="0"/>
              </a:spcAft>
              <a:buNone/>
            </a:pPr>
            <a:r>
              <a:t>pᵧ : probabilité donnée à cette classe</a:t>
            </a:r>
            <a:endParaRPr/>
          </a:p>
          <a:p xmlns:a="http://schemas.openxmlformats.org/drawingml/2006/main">
            <a:pPr marL="0" lvl="0" indent="0" algn="l">
              <a:spcBef>
                <a:spcPts val="0"/>
              </a:spcBef>
              <a:spcAft>
                <a:spcPts val="0"/>
              </a:spcAft>
              <a:buNone/>
            </a:pPr>
            <a:r>
              <a:t>ln : logarithme naturel, base e</a:t>
            </a:r>
            <a:endParaRPr/>
          </a:p>
          <a:p xmlns:a="http://schemas.openxmlformats.org/drawingml/2006/main">
            <a:pPr marL="0" lvl="0" indent="0" algn="l">
              <a:spcBef>
                <a:spcPts val="0"/>
              </a:spcBef>
              <a:spcAft>
                <a:spcPts val="0"/>
              </a:spcAft>
              <a:buNone/>
            </a:pPr>
            <a:r>
              <a:t>L : loss scalaire, exprimée en nats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pᵧ = 0,8 → L ≈ 0,223 ; pᵧ = 0,2 → L ≈ 1,609 : moins croire la vraie classe coûte davantage.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https://pytorch.org/docs/stable/generated/torch.nn.CrossEntropyLoss.html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51 — Une étape d'apprentissage en cinq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pour suivre une étape, 3 min d'ordonnancement de cartes, 3 min de correction. Expliquer le gradient comme une information locale sur la direction de modification des paramètres pour réduire la loss. L'optimiseur applique une mise à jour contrôlée par le learning rate et son état. En PyTorch, les gradients s'accumulent tant qu'on ne les remet pas à zéro ; cette propriété est parfois utilisée volontairement. QUESTION : l'évaluation doit-elle mettre à jour les poids ? RÉPONSE : non, on mesure le modèle avec un mode adapté et sans calcul de gradients inutile. Faire distinguer model.train(), qui configure certains comportements comme le dropout, de l'appel qui déclenche réellement une optimisation. Trainer automatise cette orchestration mais ne décide pas si les données ou les métriques sont correctes. Dans le TP, identifier les objets qui fournissent modèle, arguments, jeux, tokenizer, collator et métriques. Le but est de pouvoir localiser une erreur : données avant le forward, labels dans la loss, réglages dans la boucle, ou post-traitement dans l'évaluation.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52 — Padding dynamique : payer pour le batch réel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calcul, 3 min de comparaison en binôme, 3 min de correction. Trois phrases de longueur 12, 20 et 25 demandent 3×128 = 384 positions si tout est complété à 128. Un padding dynamique au maximum du batch demande 3×25 = 75 positions. Avec une phrase de 120 tokens, le gain tombe à 24 positions. QUESTION : le padding dynamique garantit-il toujours un entraînement plus rapide ? RÉPONSE : il réduit souvent le travail inutile, mais le gain dépend du matériel, des formes et de l'implémentation. Certaines configurations arrondissent les longueurs à un multiple efficace ; il faut observer la mesure réelle. Distinguer padding et troncature : le premier ajoute des places, la seconde supprime une partie de l'entrée. Troncature peut retirer l'indice déterminant placé en fin de message. Dans le TP, inspecter un batch après le collator plutôt que seulement le dataset avant assemblage. Les étudiants doivent expliquer la forme des input_ids et de l'attention_mask, puis vérifier les positions ignorées dans les labels quand la tâche l'exige. COMPLÉMENT À EXPLICITER : Le masque indique les positions de remplissage.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https://huggingface.co/learn/llm-course/fr/chapter3/2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53 — Batch, pas et époque : ne pas mélanger les compteurs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de variantes, 3 min de correction. Faire distinguer un passage dans le réseau et une mise à jour de l’optimiseur.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Le batch effectif vaut le batch par GPU, multiplié par le nombre de micro-batchs accumulés, multiplié par le nombre de GPU qui traitent des données différentes. » La formule compte les exemples qui contribuent à une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B_GPU est un nombre d’exemples par micro-batch sur chaque GPU. A est le nombre entier de micro-batchs dont les gradients s’accumulent avant l’optimiseur ; ici A n’est pas la matrice LoRA ni la matrice d’attention, car les notations sont locales aux diapositives. G est le nombre de GPU en parallélisme de données. B_eff est exprimé en exemples par mise à jour. Une époque est un passage sur le jeu, indépendamment de cette formule.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Avec B_GPU = 8, A = 4 et G = 1, calculer 8 × 4 × 1 = 32 exemples par mise à jour complète.</a:t>
            </a:r>
            <a:endParaRPr/>
          </a:p>
          <a:p xmlns:a="http://schemas.openxmlformats.org/drawingml/2006/main">
            <a:pPr marL="0" lvl="0" indent="0" algn="l">
              <a:spcBef>
                <a:spcPts val="0"/>
              </a:spcBef>
              <a:spcAft>
                <a:spcPts val="0"/>
              </a:spcAft>
              <a:buNone/>
            </a:pPr>
            <a:r>
              <a:t>2. Sur 240 exemples, un GPU traite 240/8 = 30 micro-batchs par époque.</a:t>
            </a:r>
            <a:endParaRPr/>
          </a:p>
          <a:p xmlns:a="http://schemas.openxmlformats.org/drawingml/2006/main">
            <a:pPr marL="0" lvl="0" indent="0" algn="l">
              <a:spcBef>
                <a:spcPts val="0"/>
              </a:spcBef>
              <a:spcAft>
                <a:spcPts val="0"/>
              </a:spcAft>
              <a:buNone/>
            </a:pPr>
            <a:r>
              <a:t>3. Sept groupes de quatre micro-batchs consomment 28 micro-batchs, soit 224 exemples.</a:t>
            </a:r>
            <a:endParaRPr/>
          </a:p>
          <a:p xmlns:a="http://schemas.openxmlformats.org/drawingml/2006/main">
            <a:pPr marL="0" lvl="0" indent="0" algn="l">
              <a:spcBef>
                <a:spcPts val="0"/>
              </a:spcBef>
              <a:spcAft>
                <a:spcPts val="0"/>
              </a:spcAft>
              <a:buNone/>
            </a:pPr>
            <a:r>
              <a:t>4. Le groupe restant contient deux micro-batchs, soit 16 exemples : si le Trainer le conserve et effectue une mise à jour finale, on observe huit mises à jour, dont la dernière est partielle.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La formule suppose des micro-batchs complets et de même taille, des exemples distincts par GPU et un parallélisme de données. Le dernier groupe, drop_last et le Trainer peuvent modifier le compte exact. Accumuler économise les activations simultanées mais coûte des passages supplémentaires ; cela n’est pas identique dans tout détail à un batch physique de 32. Le learning rate règle l’amplitude de la mise à jour, pas le nombre d’exemples.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Augmenter A charge-t-il les quatre lots simultanément ? » Non : on les traite successivement et on conserve leurs gradients accumulés. Vérifier les compteurs réels du TP avant d’annoncer une durée.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Exemple : 240 exemples et batch 8 → 30 micro-batchs par époque.</a:t>
            </a:r>
            <a:endParaRPr/>
          </a:p>
          <a:p xmlns:a="http://schemas.openxmlformats.org/drawingml/2006/main">
            <a:pPr marL="0" lvl="0" indent="0" algn="l">
              <a:spcBef>
                <a:spcPts val="0"/>
              </a:spcBef>
              <a:spcAft>
                <a:spcPts val="0"/>
              </a:spcAft>
              <a:buNone/>
            </a:pPr>
            <a:r>
              <a:t>• Accumulation 4 → environ 8 mises à jour, selon le dernier groupe.</a:t>
            </a:r>
            <a:endParaRPr/>
          </a:p>
          <a:p xmlns:a="http://schemas.openxmlformats.org/drawingml/2006/main">
            <a:pPr marL="0" lvl="0" indent="0" algn="l">
              <a:spcBef>
                <a:spcPts val="0"/>
              </a:spcBef>
              <a:spcAft>
                <a:spcPts val="0"/>
              </a:spcAft>
              <a:buNone/>
            </a:pPr>
            <a:r>
              <a:t>• Le learning rate contrôle l'amplitude des mises à jour.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B_{\mathrm{eff}}=B_{\mathrm{GPU}}\times A\times 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B_{\mathrm{eff}}=B_{\mathrm{GPU}}\times A\times 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B_GPU : exemples par micro-batch et par GPU</a:t>
            </a:r>
            <a:endParaRPr/>
          </a:p>
          <a:p xmlns:a="http://schemas.openxmlformats.org/drawingml/2006/main">
            <a:pPr marL="0" lvl="0" indent="0" algn="l">
              <a:spcBef>
                <a:spcPts val="0"/>
              </a:spcBef>
              <a:spcAft>
                <a:spcPts val="0"/>
              </a:spcAft>
              <a:buNone/>
            </a:pPr>
            <a:r>
              <a:t>A : nombre de micro-batchs accumulés</a:t>
            </a:r>
            <a:endParaRPr/>
          </a:p>
          <a:p xmlns:a="http://schemas.openxmlformats.org/drawingml/2006/main">
            <a:pPr marL="0" lvl="0" indent="0" algn="l">
              <a:spcBef>
                <a:spcPts val="0"/>
              </a:spcBef>
              <a:spcAft>
                <a:spcPts val="0"/>
              </a:spcAft>
              <a:buNone/>
            </a:pPr>
            <a:r>
              <a:t>G : nombre de GPU en parallèle de données</a:t>
            </a:r>
            <a:endParaRPr/>
          </a:p>
          <a:p xmlns:a="http://schemas.openxmlformats.org/drawingml/2006/main">
            <a:pPr marL="0" lvl="0" indent="0" algn="l">
              <a:spcBef>
                <a:spcPts val="0"/>
              </a:spcBef>
              <a:spcAft>
                <a:spcPts val="0"/>
              </a:spcAft>
              <a:buNone/>
            </a:pPr>
            <a:r>
              <a:t>B_eff : exemples par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exemples/GPU × 4 micro-batchs accumulés × 1 GPU = 32 exemples par mise à jour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https://huggingface.co/docs/transformers/main_classes/trainer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54 — Choisir le modèle sur validation, conclure sur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rappel, 4 min de scénario de sélection, 3 min de correction. Donner trois checkpoints dont les macro-F1 de validation sont 0,72, 0,78 et 0,75, alors que la loss train continue de baisser. Le checkpoint retenu est celui choisi par le critère déclaré, ici le deuxième. QUESTION : peut-on prendre le troisième parce que son score test est meilleur ? RÉPONSE : cela utilise le test pour sélectionner et invalide son rôle d'estimation finale indépendante. Une fois le résultat test observé, les prochaines décisions appartiennent à un nouveau cycle de développement et demandent idéalement une nouvelle évaluation indépendante. Faire discuter ce qu'il faut faire lorsque validation est minuscule : interpréter prudemment les différences, inspecter les exemples et éviter de présenter un dixième de point comme décisif. Dans le TP, l'objectif est la traçabilité d'une comparaison, pas une recherche massive d'hyperparamètres. Les graines et versions améliorent la reproductibilité mais n'effacent pas toutes les variations matérielles. Conserver la configuration réellement exécutée à côté du modèle sauvegardé.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https://scikit-learn.org/stable/modules/cross_validation.html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55 — Macro-F1 : donner une voix à chaque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d’interprétation, 3 min de correction. Commencer par une seule classe considérée face à toutes les autres.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F un est deux fois précision fois rappel, divisé par précision plus rappel. Le macro-F un est la somme des F un de chaque classe, divisée par le nombre de classes. » Distinguer ces deux niveaux d’agrégation.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P est la précision : vrais positifs divisés par vrais positifs plus faux positifs. R est le rappel : vrais positifs divisés par vrais positifs plus faux négatifs. F₁ est leur moyenne harmonique, qui pénalise un déséquilibre entre les deux. C est le nombre de classes évaluées ; c est l’indice parcouru dans la somme ; F₁,c est le score de la classe c. Tous les scores sont des scalaires sans unité entre zéro et un. Le support est le nombre d’exemples vrais d’une classe : il se rapporte à côté du score mais ne pondère pas la moyenne macro.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Pour une classe, prendre 4 vrais positifs, 1 faux positif et 4 faux négatifs.</a:t>
            </a:r>
            <a:endParaRPr/>
          </a:p>
          <a:p xmlns:a="http://schemas.openxmlformats.org/drawingml/2006/main">
            <a:pPr marL="0" lvl="0" indent="0" algn="l">
              <a:spcBef>
                <a:spcPts val="0"/>
              </a:spcBef>
              <a:spcAft>
                <a:spcPts val="0"/>
              </a:spcAft>
              <a:buNone/>
            </a:pPr>
            <a:r>
              <a:t>2. P = 4/(4+1) = 0,8 ; R = 4/(4+4) = 0,5.</a:t>
            </a:r>
            <a:endParaRPr/>
          </a:p>
          <a:p xmlns:a="http://schemas.openxmlformats.org/drawingml/2006/main">
            <a:pPr marL="0" lvl="0" indent="0" algn="l">
              <a:spcBef>
                <a:spcPts val="0"/>
              </a:spcBef>
              <a:spcAft>
                <a:spcPts val="0"/>
              </a:spcAft>
              <a:buNone/>
            </a:pPr>
            <a:r>
              <a:t>3. Le numérateur de F₁ vaut 2 × 0,8 × 0,5 = 0,8 ; le dénominateur vaut 1,3.</a:t>
            </a:r>
            <a:endParaRPr/>
          </a:p>
          <a:p xmlns:a="http://schemas.openxmlformats.org/drawingml/2006/main">
            <a:pPr marL="0" lvl="0" indent="0" algn="l">
              <a:spcBef>
                <a:spcPts val="0"/>
              </a:spcBef>
              <a:spcAft>
                <a:spcPts val="0"/>
              </a:spcAft>
              <a:buNone/>
            </a:pPr>
            <a:r>
              <a:t>4. F₁ = 0,8/1,3 ≈ 0,615.</a:t>
            </a:r>
            <a:endParaRPr/>
          </a:p>
          <a:p xmlns:a="http://schemas.openxmlformats.org/drawingml/2006/main">
            <a:pPr marL="0" lvl="0" indent="0" algn="l">
              <a:spcBef>
                <a:spcPts val="0"/>
              </a:spcBef>
              <a:spcAft>
                <a:spcPts val="0"/>
              </a:spcAft>
              <a:buNone/>
            </a:pPr>
            <a:r>
              <a:t>5. Dans un autre exemple à deux classes, des F₁ de 0,90 et 0,30 donnent (0,90+0,30)/2 = 0,60. Ne pas recalculer F₁ à partir de la moyenne des précisions et des rappels : ce serait généralement différent.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Définir les classes incluses dans l’agrégation et la convention lorsque les dénominateurs sont nuls. Afficher les effectifs : un score sur trois exemples reste fragile. Macro n’est ni micro ni pondéré, et l’égalité de poids des classes ne démontre pas l’équité envers tous les sous-groupes.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Une classe fréquente pèse-t-elle davantage dans macro-F1 ? » Non, chaque F1 de classe a le même poids. Dans le TP, lire aussi la matrice de confusion et les cinq lignes par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Précision : parmi mes prédictions de la classe, lesquelles sont justes ?</a:t>
            </a:r>
            <a:endParaRPr/>
          </a:p>
          <a:p xmlns:a="http://schemas.openxmlformats.org/drawingml/2006/main">
            <a:pPr marL="0" lvl="0" indent="0" algn="l">
              <a:spcBef>
                <a:spcPts val="0"/>
              </a:spcBef>
              <a:spcAft>
                <a:spcPts val="0"/>
              </a:spcAft>
              <a:buNone/>
            </a:pPr>
            <a:r>
              <a:t>• Rappel : parmi les vrais exemples de la classe, lesquels sont retrouvés ?</a:t>
            </a:r>
            <a:endParaRPr/>
          </a:p>
          <a:p xmlns:a="http://schemas.openxmlformats.org/drawingml/2006/main">
            <a:pPr marL="0" lvl="0" indent="0" algn="l">
              <a:spcBef>
                <a:spcPts val="0"/>
              </a:spcBef>
              <a:spcAft>
                <a:spcPts val="0"/>
              </a:spcAft>
              <a:buNone/>
            </a:pPr>
            <a:r>
              <a:t>• Macro : toutes les classes ont le même poids.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F_1=\frac{2PR}{P+R},\qquad F_{1,\mathrm{macro}}=\frac{1}{C}\sum_{c=1}^{C}F_{1,c}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F_1=\frac{2PR}{P+R},\qquad F_{1,\mathrm{macro}}=\frac{1}{C}\sum_{c=1}^{C}F_{1,c}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P : précision ; R : rappel d’une classe</a:t>
            </a:r>
            <a:endParaRPr/>
          </a:p>
          <a:p xmlns:a="http://schemas.openxmlformats.org/drawingml/2006/main">
            <a:pPr marL="0" lvl="0" indent="0" algn="l">
              <a:spcBef>
                <a:spcPts val="0"/>
              </a:spcBef>
              <a:spcAft>
                <a:spcPts val="0"/>
              </a:spcAft>
              <a:buNone/>
            </a:pPr>
            <a:r>
              <a:t>F₁ : moyenne harmonique de P et R</a:t>
            </a:r>
            <a:endParaRPr/>
          </a:p>
          <a:p xmlns:a="http://schemas.openxmlformats.org/drawingml/2006/main">
            <a:pPr marL="0" lvl="0" indent="0" algn="l">
              <a:spcBef>
                <a:spcPts val="0"/>
              </a:spcBef>
              <a:spcAft>
                <a:spcPts val="0"/>
              </a:spcAft>
              <a:buNone/>
            </a:pPr>
            <a:r>
              <a:t>C : nombre de classes ; c : indice</a:t>
            </a:r>
            <a:endParaRPr/>
          </a:p>
          <a:p xmlns:a="http://schemas.openxmlformats.org/drawingml/2006/main">
            <a:pPr marL="0" lvl="0" indent="0" algn="l">
              <a:spcBef>
                <a:spcPts val="0"/>
              </a:spcBef>
              <a:spcAft>
                <a:spcPts val="0"/>
              </a:spcAft>
              <a:buNone/>
            </a:pPr>
            <a:r>
              <a:t>F₁,c : F1 calculé pour la classe c</a:t>
            </a:r>
            <a:endParaRPr/>
          </a:p>
          <a:p xmlns:a="http://schemas.openxmlformats.org/drawingml/2006/main">
            <a:pPr marL="0" lvl="0" indent="0" algn="l">
              <a:spcBef>
                <a:spcPts val="0"/>
              </a:spcBef>
              <a:spcAft>
                <a:spcPts val="0"/>
              </a:spcAft>
              <a:buNone/>
            </a:pPr>
            <a:r>
              <a:t>F₁,macro : moyenne des C scores par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TP = 4, FP = 1, FN = 4 → P = 0,8 ; R = 0,5 ; F₁ ≈ 0,615. Deux F₁ de 0,9 et 0,3 donnent macro = 0,6.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https://scikit-learn.org/stable/modules/generated/sklearn.metrics.f1_score.html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56 — Diagnostiquer avant de multiplier les époques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diagnostic en binôme, 3 min de correction. Préciser que le tableau donne des hypothèses, pas des diagnostics automatiques. Un score presque parfait peut provenir d'une vraie tâche simple ; on vérifie avant de conclure à une fuite. Une loss constante peut venir de paramètres gelés, de labels erronés ou d'un learning rate inadapté. QUESTION : pourquoi ne pas augmenter directement les époques quand le modèle échoue ? RÉPONSE : cela peut amplifier une erreur de données et consommer le budget sans résoudre la cause. Faire proposer la vérification la moins coûteuse pour chaque ligne. Un petit batch sur lequel le modèle arrive à surapprendre peut servir de test de fonctionnement de la chaîne, mais n'évalue aucune généralisation. Dans le TP, l'étudiant doit montrer un batch brut, les labels et la forme des logits avant de demander une aide sur l'optimiseur. En cas de mémoire GPU insuffisante, réduire batch et longueur puis relancer proprement ; ne pas charger plusieurs modèles simultanément sans besoin. Noter les modifications effectuées dans le journal.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https://huggingface.co/learn/llm-course/fr/chapter8/4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57 — NER : retrouver des segments et leur 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d'annotation, 3 min de nouvel exemple, 3 min de correction. Les types PER et LOC illustrent la convention ; le notebook décrit son schéma réel d'entités et ses identifiants. B signifie début, I intérieur ou continuation, O extérieur. Marie Dupont forme une seule entité à deux mots. QUESTION : pourquoi ne pas écrire PER sur les deux mots sans B et I ? RÉPONSE : les marqueurs aident à distinguer les frontières, notamment lorsque deux entités de même type se suivent. Faire annoter « Marie rencontre Paul à Lyon ». Les deux personnes commencent chacune par B-PER. La NER ne consiste pas à connaître tout ce qui est vrai sur Marie ; elle repère un segment selon un schéma défini. Une entité peut ne pas être un nom de personne : dans le support, une référence de commande peut être utile si son type est défini. Souligner l'importance des limites : inclut-on un titre, une apostrophe, un article ? Le TP applique une convention fixe et mesure les segments complets, pas seulement le nombre de mots correctement étiquetés.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58 — Un mot annoté peut devenir plusieurs sous-tokens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d'alignement guidé, 3 min sur un deuxième exemple, 3 min de correction. Les sous-tokens affichés sont illustratifs : utiliser le tokenizer réel pour connaître le découpage exact. Le jeu est annoté au niveau des mots, tandis que le modèle reçoit des sous-tokens. word_ids permet de relier chaque sous-token à son mot d'origine ; les tokens spéciaux ont généralement une valeur None. Nous choisissons ici de conserver le label sur le premier sous-token et d'ignorer les suivants dans la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le deuxième morceau de Dupont est-il alors invisible au modèle ? RÉPONSE : non ; il reste dans l'entrée et peut contribuer aux représentations, mais il n'ajoute pas une cible supervisée. Une autre convention propage les labels à tous les morceaux, en adaptant B vers I pour les continuations ; elle doit être appliquée de manière cohérente. Le TP inspecte les alignements avant l'entraînement. Faire montrer la correspondance sur un nom long et un mot avec apostrophe pour rendre les erreurs immédiatement visibles.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Suivre trois niveaux alignés : mots annotés, sous-tokens réellement lus, puis cibles de loss. Les flèches de word_ids relient chaque sous-token à son mot d’origine.</a:t>
            </a:r>
            <a:endParaRPr/>
          </a:p>
          <a:p xmlns:a="http://schemas.openxmlformats.org/drawingml/2006/main">
            <a:pPr marL="0" lvl="0" indent="0" algn="l">
              <a:spcBef>
                <a:spcPts val="0"/>
              </a:spcBef>
              <a:spcAft>
                <a:spcPts val="0"/>
              </a:spcAft>
              <a:buNone/>
            </a:pPr>
            <a:r>
              <a:t>2. Dans l’exemple illustratif, Marie porte word_id 0 et B-PER ; Du puis ##pont portent tous deux word_id 1, car ils représentent Dupont. Le découpage exact dépend du tokenizer et doit être observé dans le TP.</a:t>
            </a:r>
            <a:endParaRPr/>
          </a:p>
          <a:p xmlns:a="http://schemas.openxmlformats.org/drawingml/2006/main">
            <a:pPr marL="0" lvl="0" indent="0" algn="l">
              <a:spcBef>
                <a:spcPts val="0"/>
              </a:spcBef>
              <a:spcAft>
                <a:spcPts val="0"/>
              </a:spcAft>
              <a:buNone/>
            </a:pPr>
            <a:r>
              <a:t>3. Notre convention conserve I-PER sur Du, premier sous-token du deuxième mot de l’entité, et met −100 sur ##pont. Les tokens spéciaux ont word_id None et une cible −100.</a:t>
            </a:r>
            <a:endParaRPr/>
          </a:p>
          <a:p xmlns:a="http://schemas.openxmlformats.org/drawingml/2006/main">
            <a:pPr marL="0" lvl="0" indent="0" algn="l">
              <a:spcBef>
                <a:spcPts val="0"/>
              </a:spcBef>
              <a:spcAft>
                <a:spcPts val="0"/>
              </a:spcAft>
              <a:buNone/>
            </a:pPr>
            <a:r>
              <a:t>4. −100 indique une position ignorée par la loss, pas une nouvelle classe. La flèche du sous-token vers l’encodeur existe toujours : ##pont reste lisible dans le contexte avec attention_mask = 1.</a:t>
            </a:r>
            <a:endParaRPr/>
          </a:p>
          <a:p xmlns:a="http://schemas.openxmlformats.org/drawingml/2006/main">
            <a:pPr marL="0" lvl="0" indent="0" algn="l">
              <a:spcBef>
                <a:spcPts val="0"/>
              </a:spcBef>
              <a:spcAft>
                <a:spcPts val="0"/>
              </a:spcAft>
              <a:buNone/>
            </a:pPr>
            <a:r>
              <a:t>5. Lors de l’évaluation, utiliser le même filtrage pour garder une cible et une prédiction par mot selon cette convention. Question : pourquoi ne pas supprimer ##pont de l’entrée ? Le nom serait modifié et le contexte perdu. Le schéma dissocie clairement visibilité de l’entrée et supervision de la sortie.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Convention du TP : superviser le premier sous-token de chaque mot.</a:t>
            </a:r>
            <a:endParaRPr/>
          </a:p>
          <a:p xmlns:a="http://schemas.openxmlformats.org/drawingml/2006/main">
            <a:pPr marL="0" lvl="0" indent="0" algn="l">
              <a:spcBef>
                <a:spcPts val="0"/>
              </a:spcBef>
              <a:spcAft>
                <a:spcPts val="0"/>
              </a:spcAft>
              <a:buNone/>
            </a:pPr>
            <a:r>
              <a:t>Table de référence — Token illustratif | word_id | Label retenu</a:t>
            </a:r>
            <a:endParaRPr/>
          </a:p>
          <a:p xmlns:a="http://schemas.openxmlformats.org/drawingml/2006/main">
            <a:pPr marL="0" lvl="0" indent="0" algn="l">
              <a:spcBef>
                <a:spcPts val="0"/>
              </a:spcBef>
              <a:spcAft>
                <a:spcPts val="0"/>
              </a:spcAft>
              <a:buNone/>
            </a:pPr>
            <a:r>
              <a:t>&lt;début&gt; | None | −100</a:t>
            </a:r>
            <a:endParaRPr/>
          </a:p>
          <a:p xmlns:a="http://schemas.openxmlformats.org/drawingml/2006/main">
            <a:pPr marL="0" lvl="0" indent="0" algn="l">
              <a:spcBef>
                <a:spcPts val="0"/>
              </a:spcBef>
              <a:spcAft>
                <a:spcPts val="0"/>
              </a:spcAft>
              <a:buNone/>
            </a:pPr>
            <a:r>
              <a:t>Marie | 0 | B-PER</a:t>
            </a:r>
            <a:endParaRPr/>
          </a:p>
          <a:p xmlns:a="http://schemas.openxmlformats.org/drawingml/2006/main">
            <a:pPr marL="0" lvl="0" indent="0" algn="l">
              <a:spcBef>
                <a:spcPts val="0"/>
              </a:spcBef>
              <a:spcAft>
                <a:spcPts val="0"/>
              </a:spcAft>
              <a:buNone/>
            </a:pPr>
            <a:r>
              <a:t>Du | 1 | I-PER</a:t>
            </a:r>
            <a:endParaRPr/>
          </a:p>
          <a:p xmlns:a="http://schemas.openxmlformats.org/drawingml/2006/main">
            <a:pPr marL="0" lvl="0" indent="0" algn="l">
              <a:spcBef>
                <a:spcPts val="0"/>
              </a:spcBef>
              <a:spcAft>
                <a:spcPts val="0"/>
              </a:spcAft>
              <a:buNone/>
            </a:pPr>
            <a:r>
              <a:t>##pont | 1 | −100</a:t>
            </a:r>
            <a:endParaRPr/>
          </a:p>
          <a:p xmlns:a="http://schemas.openxmlformats.org/drawingml/2006/main">
            <a:pPr marL="0" lvl="0" indent="0" algn="l">
              <a:spcBef>
                <a:spcPts val="0"/>
              </a:spcBef>
              <a:spcAft>
                <a:spcPts val="0"/>
              </a:spcAft>
              <a:buNone/>
            </a:pPr>
            <a:r>
              <a:t>&lt;fin&gt; | None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Marie, Dupont et Lyon sont alignés avec CLS, Marie, Du, double dièse pont, Lyon et SEP. Les labels sont moins cent, B-PER, I-PER, moins cent, B-LOC, moins cent.</a:t>
            </a:r>
            <a:endParaRPr/>
          </a:p>
          <a:p xmlns:a="http://schemas.openxmlformats.org/drawingml/2006/main">
            <a:pPr marL="0" lvl="0" indent="0" algn="l">
              <a:spcBef>
                <a:spcPts val="0"/>
              </a:spcBef>
              <a:spcAft>
                <a:spcPts val="0"/>
              </a:spcAft>
              <a:buNone/>
            </a:pPr>
            <a:r>
              <a:t>Convention du TP : superviser le premier sous-token ; −100 ignore les autres dans la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Convention du TP : superviser le premier sous-token de chaque mot.</a:t>
            </a:r>
            <a:endParaRPr/>
          </a:p>
          <a:p xmlns:a="http://schemas.openxmlformats.org/drawingml/2006/main">
            <a:pPr marL="0" lvl="0" indent="0" algn="l">
              <a:spcBef>
                <a:spcPts val="0"/>
              </a:spcBef>
              <a:spcAft>
                <a:spcPts val="0"/>
              </a:spcAft>
              <a:buNone/>
            </a:pPr>
            <a:r>
              <a:t>Token illustratif | word_id | Label retenu</a:t>
            </a:r>
            <a:endParaRPr/>
          </a:p>
          <a:p xmlns:a="http://schemas.openxmlformats.org/drawingml/2006/main">
            <a:pPr marL="0" lvl="0" indent="0" algn="l">
              <a:spcBef>
                <a:spcPts val="0"/>
              </a:spcBef>
              <a:spcAft>
                <a:spcPts val="0"/>
              </a:spcAft>
              <a:buNone/>
            </a:pPr>
            <a:r>
              <a:t>&lt;début&gt; | None | −100</a:t>
            </a:r>
            <a:endParaRPr/>
          </a:p>
          <a:p xmlns:a="http://schemas.openxmlformats.org/drawingml/2006/main">
            <a:pPr marL="0" lvl="0" indent="0" algn="l">
              <a:spcBef>
                <a:spcPts val="0"/>
              </a:spcBef>
              <a:spcAft>
                <a:spcPts val="0"/>
              </a:spcAft>
              <a:buNone/>
            </a:pPr>
            <a:r>
              <a:t>Marie | 0 | B-PER</a:t>
            </a:r>
            <a:endParaRPr/>
          </a:p>
          <a:p xmlns:a="http://schemas.openxmlformats.org/drawingml/2006/main">
            <a:pPr marL="0" lvl="0" indent="0" algn="l">
              <a:spcBef>
                <a:spcPts val="0"/>
              </a:spcBef>
              <a:spcAft>
                <a:spcPts val="0"/>
              </a:spcAft>
              <a:buNone/>
            </a:pPr>
            <a:r>
              <a:t>Du | 1 | I-PER</a:t>
            </a:r>
            <a:endParaRPr/>
          </a:p>
          <a:p xmlns:a="http://schemas.openxmlformats.org/drawingml/2006/main">
            <a:pPr marL="0" lvl="0" indent="0" algn="l">
              <a:spcBef>
                <a:spcPts val="0"/>
              </a:spcBef>
              <a:spcAft>
                <a:spcPts val="0"/>
              </a:spcAft>
              <a:buNone/>
            </a:pPr>
            <a:r>
              <a:t>##pont | 1 | −100</a:t>
            </a:r>
            <a:endParaRPr/>
          </a:p>
          <a:p xmlns:a="http://schemas.openxmlformats.org/drawingml/2006/main">
            <a:pPr marL="0" lvl="0" indent="0" algn="l">
              <a:spcBef>
                <a:spcPts val="0"/>
              </a:spcBef>
              <a:spcAft>
                <a:spcPts val="0"/>
              </a:spcAft>
              <a:buNone/>
            </a:pPr>
            <a:r>
              <a:t>&lt;fin&gt; | None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https://huggingface.co/docs/transformers/tasks/token_classification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59 — Deux masques, deux questions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distinction, 3 min de cas à classer, 3 min de correction. Reprendre le sous-token ##pont : il peut avoir attention_mask = 1 et label = -100. Le réseau a besoin de le lire pour représenter le nom, même si notre convention n'évalue que le premier morceau. Un token de padding doit être exclu du contexte utile et de la loss selon la configuration de la tâche. QUESTION : -100 est-il une classe supplémentaire à prédire ? RÉPONSE : non, c'est une valeur ignorée par la fonction de loss utilisée ici. Les logits ne comportent pas une catégorie nommée -100. Faire diagnostiquer une implémentation qui ajoute cette valeur à id2label : elle mélange cible et convention de calcul. La valeur d'ignore_index relève de l'API, il faut la vérifier plutôt que la supposer pour tout framework. Dans le TP, afficher un batch complet après DataCollatorForTokenClassification. Le test important est la correspondance entre positions valides, labels supervisés et mots reconstruits. Cette distinction sera réutilisée au jour 4 pour superviser seulement la réponse d'un exemple SFT.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https://pytorch.org/docs/stable/generated/torch.nn.CrossEntropyLoss.html</a:t>
            </a:r>
            <a:endParaRPr/>
          </a:p>
          <a:p xmlns:a="http://schemas.openxmlformats.org/drawingml/2006/main">
            <a:pPr marL="0" lvl="0" indent="0" algn="l">
              <a:spcBef>
                <a:spcPts val="0"/>
              </a:spcBef>
              <a:spcAft>
                <a:spcPts val="0"/>
              </a:spcAft>
              <a:buNone/>
            </a:pPr>
            <a:r>
              <a:t>https://huggingface.co/docs/transformers/main_classes/data_collator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60 — Des logits aux entités : ne pas perdre l'alignement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suivi d'un exemple, 3 min de reconstruction en binôme, 3 min de correction. Pour un batch de deux phrases de longueur dix et sept labels, les logits ont la forme 2 × 10 × 7. L'argmax sur le dernier axe donne une classe par position. Il faut ensuite filtrer les positions dont la cible vaut -100 pour comparer des séquences alignées selon notre convention. QUESTION : peut-on aplatir toutes les phrases et passer une liste de labels à la métrique ? RÉPONSE : la métrique de segments a besoin des frontières de séquences ; concaténer peut créer ou fusionner des entités à tort. Faire présenter texte, mots, tokens, cibles et prédictions côte à côte. Un bon score par token dominé par O peut masquer un modèle qui ne retrouve aucune entité complète. Le décodage naïf par argmax peut produire une séquence BIO invalide ; le comportement de la métrique et l'éventuel post-traitement doivent être documentés. Dans le TP, le tableau de reconstruction est le principal point de contrôle avant l'appel à seqeval.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https://huggingface.co/docs/transformers/tasks/token_classification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61 — En NER, la frontière fait partie de la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jugement manuel, 3 min de calcul, 3 min de correction. Sur trois entités de référence et trois entités prédites, si seule AB123 a les bonnes frontières et le bon type, la précision et le rappel stricts valent tous deux un tiers ; F1 vaut donc un tiers. Le modèle peut pourtant avoir correctement étiqueté beaucoup de tokens O. QUESTION : repérer Marie au lieu de Marie Dupont mérite-t-il un crédit ? RÉPONSE : une métrique de recouvrement partiel pourrait le faire, mais le score strict affiché ici exige la correspondance exacte ; il faut nommer la règle. Présenter seqeval comme un outil de calcul dont le mode et le schéma comptent. Les séquences invalides peuvent être interprétées différemment selon les réglages ; inspecter les options et les tests jouets du notebook. Dans le TP, calculer à la main un cas de frontière puis vérifier le résultat logiciel. Ne jamais comparer un F1 par token avec un F1 par entité comme si l'unité d'évaluation était identique. COMPLÉMENT À EXPLICITER : Préciser schéma BIO/IOB2 et mode strict de la métrique.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https://github.com/chakki-works/seqeval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62 — Une convention d'annotation vaut mieux qu'un débat sans règle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d'annotation individuelle, 5 min de comparaison, 3 min de rédaction d'une règle. Proposer « Mme Dupont travaille chez Orange à Orange ». Le même texte Orange désigne une organisation puis un lieu selon le contexte. Ne pas imposer une réponse sans expliquer le schéma : l'exercice montre pourquoi une simple liste de mots ne suffit pas. QUESTION : que signifie un désaccord entre modèle et référence si la référence est ambiguë ? RÉPONSE : il peut s'agir d'un défaut du guide d'annotation ou d'un exemple nécessitant arbitrage, pas automatiquement d'un défaut du réseau. Demander une règle courte avec un exemple positif et un contre-exemple. Distinguer corriger une erreur démontrée de label et réécrire le test pour améliorer son score : toute correction doit être documentée et ne doit pas être opportuniste. Le corpus fictif du TP peut rendre certaines formes d'entités trop régulières ; signaler cette limite. Pour un vrai projet, prévoir un échantillon relu par plusieurs annotateurs et une procédure de résolution. Le jour 5 réutilisera cette logique dans l'analyse d'erreurs.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63 — Comparer un Transformer à la baseline équitablement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conception d'une table, 3 min de discussion. Le Transformer consomme des tokens et la baseline des termes TF-IDF ; cette différence est précisément ce que l'on veut comparer. En revanche, changer simultanément les exemples de test et la métrique empêche d'attribuer le résultat au modèle. QUESTION : si le Transformer gagne d'un point sur un très petit test, peut-on conclure qu'il est meilleur ? RÉPONSE : on peut rapporter le résultat observé, mais il faut examiner l'incertitude, les erreurs et le coût. Une baseline peut rester préférable si la différence est fragile et si elle se recharge en une fraction du temps. Faire proposer des colonnes : modèle, configuration, taille test, macro-F1, temps d'entraînement, temps d'inférence, mémoire et limites. Les durées doivent préciser le matériel et exclure ou inclure les téléchargements de manière cohérente. Dans le TP, privilégier une analyse de cinq cas où les méthodes divergent. Le jour 5 ajoutera une baseline zéro-shot avec un petit LLM et la même discipline de comparaison.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64 — Sauvegarder pour recharger, pas seulement pour archiver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scénario de perte de session, 4 min de checklist concrète, 3 min de discussion. Un entraînement terminé n'est pas un livrable réutilisable si ses poids restent uniquement en mémoire du notebook. La sauvegarde doit contenir les fichiers nécessaires au modèle et au tokenizer, ainsi que les noms des labels. QUESTION : pourquoi tester après rechargement alors que la prédiction fonctionne avant sauvegarde ? RÉPONSE : le rechargement révèle les dépendances cachées à l'état de la session, au mapping ou à une variable non sauvegardée. Faire choisir trois phrases de contrôle, enregistrer les sorties, puis comparer le comportement après rechargement en mode évaluation. Ne pas promettre une identité bit à bit entre tous matériels ; vérifier au minimum la cohérence attendue dans l'environnement utilisé. Le TP exporte une archive pour le jour 5 et un fichier de prédictions avec identifiants. Les caches de téléchargement ne remplacent pas cette archive. Aucun identifiant d'accès au Hub ne doit se retrouver dans les notebooks ou fichiers exportés. La publication en ligne sera optionnelle et séparée de la preuve locale.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https://huggingface.co/learn/llm-course/fr/chapter4/3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65 — Du batch à la métrique : retrouver les responsabilités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réponses, 5 min de confrontation, 6 min de correction. Réponse 1 : non, la mémorisation et les fuites peuvent donner un résultat trompeur. Réponse 2 : le token peut rester utile au contexte tout en étant ignoré dans la supervision, comme une continuation de sous-mot selon notre convention. Réponse 3 : c'est une erreur de frontière pour une évaluation stricte de l'entité complète. Réponse 4 : le tokenizer et la configuration, notamment id2label et label2id, sont nécessaires à une inférence cohérente. Ajouter un mini-cas : les labels prédits sont tous « livraison » alors que le score semble bon ; demander trois contrôles avant de modifier le learning rate. Attendre distribution, mapping, métrique et lecture d'exemples. Les réponses doivent être argumentées avec une opération du pipeline. Pendant la correction, identifier les binômes qui ont besoin d'un accompagnement sur word_ids ; le premier bloc NER leur donne le temps de valider l'alignement avant de lancer l'apprentissage.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66 — TP 3A · Préparer et entraîner le classifieur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70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préparation des groupes et de la baseline, 15 min de vérification des batchs, 25 min d'entraînement et d'exercices pendant l'attente, 15 min de première évaluation. Ouvrir notebooks/etudiants/03_j3_classification.ipynb. Les cinq labels du parcours support sont livraison, facturation, compte, retour et technique. Ce bloc de 70 minutes commence les 100 minutes consacrées au support ; le bloc suivant ajoute 30 minutes de comparaison/export puis 40 minutes Allociné. POINT DE CONTRÔLE : montrer un texte, son label numérique, les dimensions du batch et les cinq logits avant le lancement. RÉSULTAT ATTENDU : une boucle cohérente et une configuration réellement exécutée, sans promesse de score. Sur CPU, utiliser le chemin réduit et indiquer sa portée. Pendant le calcul, travailler l'analyse de la baseline ou le macro-F1. En cas de mémoire insuffisante, modifier un seul levier. Les versions, tailles et réductions du corpus doivent être conservées avec les résultats. La suite du TP ne mélange pas intention support et sentiment cinéma.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67 — TP 3B · Comparer puis transférer à des critiques réelles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70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30 min pour terminer les 100 minutes du parcours support, puis 40 min pour l'extension réelle Allociné ; le total du notebook reste 140 minutes. D'abord comparer TF-IDF et DistilBERT sur les mêmes identifiants support, lire leurs désaccords et exporter l'archive rechargeable destinée au jour 5. Ensuite inspecter la provenance et le schéma du jeu Allociné, charger 1000 critiques train, 200 validation et 200 test, puis suivre le chemin d'adaptation borné du notebook. La tâche change : sentiment binaire d'une critique, pas cinq intentions de support. POINT DE CONTRÔLE : vérifier le nouveau mapping, les tailles effectives et la séparation des sorties de fichiers. RÉSULTAT ATTENDU : comparer l'expérience fictive très contrôlée à des formulations réelles, en documentant l'entraînement effectivement réalisé. Aucun gain de score n'est promis. L'export Allociné reste séparé ; il ne doit jamais être rechargé comme routeur client au projet. Si le téléchargement ou le budget GPU bloque, marquer l'extension non exécutée et conserver le protocole reproductible. Les quarante minutes sont incluses dans la journée, sans devoir caché en supplément.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https://huggingface.co/datasets/tblard/allocine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68 — TP 3C · Aligner les mots, les sous-tokens et les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10 min de lecture du schéma, 20 min d'alignement, 10 min de cas difficiles, 10 min de vérification croisée. Ouvrir notebooks/etudiants/04_j3_ner.ipynb. Chaque binôme doit expliquer au moins une phrase contenant un mot découpé en plusieurs tokens. POINT DE CONTRÔLE : les positions supervisées correspondent exactement à la convention choisie et chaque label numérique est relié au nom attendu. Vérifier le batch après collator, car le padding intervient à cet endroit. RÉSULTAT ATTENDU : aucun token spécial ni continuation ignorée ne contribue à la loss. Le texte et les tokens restent visibles pour la contextualisation selon leur masque. Si l'alignement échoue, ne pas lancer l'entraînement pour « voir si cela passe ». EXTENSION : comparer sur papier la supervision du premier sous-token et la propagation des labels, en adaptant les étiquettes B/I. Le corrigé sert à vérifier l'explication, pas seulement à copier une fonction. Faire verbaliser pourquoi -100 ne représente pas une nouvelle catégorie d'entité.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69 — TP 3D · Mesurer des entités complètes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3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20 min d'entraînement court et de calcul manuel, 15 min d'évaluation, 10 min de sauvegarde, 5 min de restitution. POINT DE CONTRÔLE : comparer une entité partielle, une entité de mauvais type et une entité exacte avec le résultat de la métrique. RÉSULTAT ATTENDU : un score d'entités dont le schéma et le mode sont connus, accompagné d'exemples reconstruits au niveau des mots. Ne pas remplacer ce score par une accuracy dominée par les tokens O. Si le calcul prend plus de temps que prévu, terminer les évaluations manuelles et sauvegarder l'état disponible en indiquant le nombre de pas exécutés. EXTENSION : demander à un autre binôme une phrase contenant une entité de même forme dans un contexte différent. Le petit corpus fictif ne prouve pas la robustesse à des noms ou des documents réels. La restitution finale doit préciser ce que le modèle a appris, ce que l'alignement garantit et ce que l'évaluation ne permet pas encore de conclure.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https://github.com/chakki-works/seqeval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70 — Jour 4 · Adapter un petit LLM efficacement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Revenir au vocabulaire : préentraînement apprend de nombreuses régularités ; SFT adapte un comportement à partir d'exemples supervisés. Notre objectif n'est pas de créer un grand modèle généraliste, mais d'observer une adaptation contrôlée sur un petit modèle instructionnel. Le checkpoint retenu est Qwen/Qwen2.5-0.5B-Instruct afin de limiter les besoins. Un T4 reste une ressource contrainte et sa disponibilité sur Colab gratuit n'est pas garantie. LoRA sera la voie pédagogique principale ; la quantification 4 bits constitue une variante explicitement mesurée, pas une promesse que tout modèle tient en mémoire. Annoncer qu'un meilleur respect du format n'est pas automatiquement une meilleure connaissance. Le résumé sert ensuite à montrer qu'une réponse bien rédigée peut perdre ou inventer un fait. Si un accès Runpod L4 par étudiant est fourni, il constitue une extension d'exécution du même protocole. Vérifier le GPU, la précision et les versions avant d'utiliser le notebook ; rapporter les mesures L4 séparément de celles du T4. Le parcours principal reste autonome sur Colab T4. LIVRABLE DE LA JOURNÉE : À produire : adaptateur, comparaison avant/après et audit de faits.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71 — Prompt, RAG ou fine-tuning : quel problème résoudre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comparaison, 4 min de choix sur cas, 3 min de discussion. Donner trois besoins : répondre en JSON, connaître le stock du jour, utiliser systématiquement un ton de support. Le premier peut souvent commencer par une consigne et une validation de format ; le stock réclame un accès aux données pertinentes ; le style peut motiver une adaptation si les prompts ne suffisent pas. QUESTION : le fine-tuning est-il une base documentaire fiable ? RÉPONSE : il peut modifier les associations du modèle, mais ne garantit ni rappel exact ni mise à jour contrôlée des faits. RAG désigne ici la recherche de documents ajoutés au contexte avant génération ; ce module en explique le choix sans construire un système complet. Les approches peuvent se combiner. Dans le TP, on compare le modèle de base et l'adaptateur avec le même prompt et les mêmes cas réservés. Faire nommer l'hypothèse attendue : améliorer le format ou le comportement observé, pas acquérir magiquement toutes les connaissances du domaine. Le choix final dépend d'une mesure et des contraintes d'exploitation.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https://arxiv.org/abs/2005.11401</a:t>
            </a:r>
            <a:endParaRPr/>
          </a:p>
          <a:p xmlns:a="http://schemas.openxmlformats.org/drawingml/2006/main">
            <a:pPr marL="0" lvl="0" indent="0" algn="l">
              <a:spcBef>
                <a:spcPts val="0"/>
              </a:spcBef>
              <a:spcAft>
                <a:spcPts val="0"/>
              </a:spcAft>
              <a:buNone/>
            </a:pPr>
            <a:r>
              <a:t>https://huggingface.co/learn/llm-course/en/chapter11/1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72 — SFT : montrer les réponses que l'on souhaite obtenir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définition, 3 min de construction d'un exemple, 3 min de correction. Prendre une demande de support et une réponse structurée qui reconnaît le problème sans inventer d'action réalisée. L'apprentissage reste une prédiction de tokens, mais les textes présentés sont des démonstrations du comportement recherché. QUESTION : SFT signifie-t-il que tous les poids sont nécessairement mis à jour ? RÉPONSE : non ; SFT décrit le type de supervision, tandis que LoRA décrit quels paramètres on entraîne. Il est possible de réaliser un SFT avec une adaptation complète ou avec des adaptateurs. Distinguer instruction, contexte et réponse cible. Une réponse cible qui affirme « votre remboursement est effectué » sans outil ni preuve enseigne précisément cette mauvaise habitude. Dans le TP, les données sont fictives et les réponses sont examinées avant entraînement. Faire écrire à chaque binôme une bonne et une mauvaise démonstration pour la même entrée. Les différences doivent être justifiées par un comportement observable. La baisse de loss indique une meilleure prédiction des exemples supervisés ; elle ne suffit pas à démontrer le transfert.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73 — Une bonne démonstration enseigne aussi les limites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5 min de rédaction en binôme, 3 min de comparaison. Demander une réponse courte qui ne dépasse pas l'information disponible. Le modèle peut reformuler une demande de vérification mais ne doit pas prétendre avoir consulté un compte bancaire ou réalisé un remboursement. QUESTION : faut-il enseigner uniquement des cas faciles avec toutes les informations ? RÉPONSE : non, sinon le modèle apprend mal à demander une précision ou à signaler une limite. Les cas ambigus et les demandes hors périmètre appartiennent à la distribution d'usage visée. Faire comparer deux réponses de forme identique dont l'une invente un délai et l'autre reste conditionnelle. Une consigne de style ne remplace pas la factualité. Dans le TP, les binômes auditent plusieurs paires prompt/completion avant le lancement. Les réponses peuvent être synthétiques à condition d'être identifiées comme telles et relues. La provenance, la licence et les données personnelles deviennent importantes pour tout jeu externe ; aucun texte réel de client n'est nécessaire à cet atelier pédagogique.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74 — Curater : garder des exemples utiles et traçables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méthode, 4 min d'audit de quatre paires, 3 min de décision. Proposer un doublon exact, une paraphrase, une réponse qui contredit l'entrée et un exemple beaucoup plus long que les autres. Demander lequel supprimer, regrouper ou corriger et quelle trace garder. Dédupliquer ne signifie pas supprimer aveuglément toutes les ressemblances : certaines variations sont utiles, mais elles doivent rester dans un même groupe lorsqu'elles dérivent du même scénario. QUESTION : augmenter le volume avec cent paraphrases d'un même exemple apporte-t-il cent fois plus d'information ? RÉPONSE : non, cela peut surtout surpondérer un scénario et faciliter la mémorisation. Introduire un journal de curation avec identifiant, action, motif et origine. Les longueurs doivent être mesurées après application du tokenizer et du template, car la troncature peut supprimer la réponse cible. Dans le TP, le petit jeu est choisi pour être auditable entièrement. Pour une extension réelle, on distingue les données consultables des données réutilisables selon leur licence. Une bonne documentation dit ce qui a été vérifié et ce qui reste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https://huggingface.co/learn/llm-course/en/chapter10/1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75 — Le chat template transforme les rôles en tokens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transformation visible, 3 min de comparaison de formats, 3 min de correction. Montrer une liste de deux messages et le texte produit par apply_chat_template. Les rôles sont représentés par des marqueurs que le modèle a appris à utiliser ; ils ne sont pas une couche magique indépendante du 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peut-on copier le template d'un autre modèle parce qu'il semble lisible ? RÉPONSE : cela peut introduire un décalage avec le format appris et dégrader le comportement. Le même checkpoint et son tokenizer doivent être employés en entraînement et à l'inférence. add_generation_prompt peut préparer le début d'une réponse selon le template ; son usage dépend de la phase et du format fourni. Ne pas fabriquer à la main une réponse assistant vide sans vérifier le rendu.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afficher l'exemple réellement préparé avant le Trainer. Si le texte est d'abord rendu puis tokenisé, prendre garde à ne pas ajouter deux fois les tokens spéciaux. Le nombre de tokens final inclut consignes et marqueurs ; il conditionne la place disponible pour la réponse.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les messages structurés et leurs rôles system, user et assistant. La flèche vers le chat template effectue une sérialisation déterministe compatible avec le tokenizer du checkpoint.</a:t>
            </a:r>
            <a:endParaRPr/>
          </a:p>
          <a:p xmlns:a="http://schemas.openxmlformats.org/drawingml/2006/main">
            <a:pPr marL="0" lvl="0" indent="0" algn="l">
              <a:spcBef>
                <a:spcPts val="0"/>
              </a:spcBef>
              <a:spcAft>
                <a:spcPts val="0"/>
              </a:spcAft>
              <a:buNone/>
            </a:pPr>
            <a:r>
              <a:t>2. Le texte rendu contient des marqueurs de rôles, débuts ou fins selon le modèle. La flèche suivante tokenise cette chaîne en identifiants ; elle ne rajoute pas arbitrairement les marqueurs d’un autre modèle.</a:t>
            </a:r>
            <a:endParaRPr/>
          </a:p>
          <a:p xmlns:a="http://schemas.openxmlformats.org/drawingml/2006/main">
            <a:pPr marL="0" lvl="0" indent="0" algn="l">
              <a:spcBef>
                <a:spcPts val="0"/>
              </a:spcBef>
              <a:spcAft>
                <a:spcPts val="0"/>
              </a:spcAft>
              <a:buNone/>
            </a:pPr>
            <a:r>
              <a:t>3. À l’entraînement, le rendu contient la réponse cible dans le format attendu. À la génération, le préfixe prépare le début de réponse selon le template et les options utilisées. Ne pas confondre les deux chemins.</a:t>
            </a:r>
            <a:endParaRPr/>
          </a:p>
          <a:p xmlns:a="http://schemas.openxmlformats.org/drawingml/2006/main">
            <a:pPr marL="0" lvl="0" indent="0" algn="l">
              <a:spcBef>
                <a:spcPts val="0"/>
              </a:spcBef>
              <a:spcAft>
                <a:spcPts val="0"/>
              </a:spcAft>
              <a:buNone/>
            </a:pPr>
            <a:r>
              <a:t>4. Les marqueurs de rôle sont appris comme partie du format ; une boîte « system » ne crée pas une garantie extérieure au modèle. La sortie à inspecter est d’abord le rendu exact, puis la liste de tokens et leur longueur.</a:t>
            </a:r>
            <a:endParaRPr/>
          </a:p>
          <a:p xmlns:a="http://schemas.openxmlformats.org/drawingml/2006/main">
            <a:pPr marL="0" lvl="0" indent="0" algn="l">
              <a:spcBef>
                <a:spcPts val="0"/>
              </a:spcBef>
              <a:spcAft>
                <a:spcPts val="0"/>
              </a:spcAft>
              <a:buNone/>
            </a:pPr>
            <a:r>
              <a:t>5. Question : peut-on rendre en texte puis tokeniser en ajoutant encore tous les tokens spéciaux ? Cela peut les doubler ; suivre l’API et vérifier l’entrée réelle. Pour Qwen, conserver ensemble checkpoint et tokenizer, y compris après rechargement de l’adaptateur.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Une liste de messages n'est pas encore l'entrée exacte du modèle.</a:t>
            </a:r>
            <a:endParaRPr/>
          </a:p>
          <a:p xmlns:a="http://schemas.openxmlformats.org/drawingml/2006/main">
            <a:pPr marL="0" lvl="0" indent="0" algn="l">
              <a:spcBef>
                <a:spcPts val="0"/>
              </a:spcBef>
              <a:spcAft>
                <a:spcPts val="0"/>
              </a:spcAft>
              <a:buNone/>
            </a:pPr>
            <a:r>
              <a:t>• system, user et assistant ont des fonctions distinctes.</a:t>
            </a:r>
            <a:endParaRPr/>
          </a:p>
          <a:p xmlns:a="http://schemas.openxmlformats.org/drawingml/2006/main">
            <a:pPr marL="0" lvl="0" indent="0" algn="l">
              <a:spcBef>
                <a:spcPts val="0"/>
              </a:spcBef>
              <a:spcAft>
                <a:spcPts val="0"/>
              </a:spcAft>
              <a:buNone/>
            </a:pPr>
            <a:r>
              <a:t>• Le tokenizer applique les marqueurs attendus par le checkpoint.</a:t>
            </a:r>
            <a:endParaRPr/>
          </a:p>
          <a:p xmlns:a="http://schemas.openxmlformats.org/drawingml/2006/main">
            <a:pPr marL="0" lvl="0" indent="0" algn="l">
              <a:spcBef>
                <a:spcPts val="0"/>
              </a:spcBef>
              <a:spcAft>
                <a:spcPts val="0"/>
              </a:spcAft>
              <a:buNone/>
            </a:pPr>
            <a:r>
              <a:t>• Inspecter le texte rendu et les tokens spéciaux.</a:t>
            </a:r>
            <a:endParaRPr/>
          </a:p>
          <a:p xmlns:a="http://schemas.openxmlformats.org/drawingml/2006/main">
            <a:pPr marL="0" lvl="0" indent="0" algn="l">
              <a:spcBef>
                <a:spcPts val="0"/>
              </a:spcBef>
              <a:spcAft>
                <a:spcPts val="0"/>
              </a:spcAft>
              <a:buNone/>
            </a:pPr>
            <a:r>
              <a:t>• Éviter de doubler manuellement les marqueurs de début ou de fin.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Les messages system, user et assistant deviennent un texte avec marqueurs im_start et im_end, puis le tokenizer produit les identifiants des marqueurs et du contenu.</a:t>
            </a:r>
            <a:endParaRPr/>
          </a:p>
          <a:p xmlns:a="http://schemas.openxmlformats.org/drawingml/2006/main">
            <a:pPr marL="0" lvl="0" indent="0" algn="l">
              <a:spcBef>
                <a:spcPts val="0"/>
              </a:spcBef>
              <a:spcAft>
                <a:spcPts val="0"/>
              </a:spcAft>
              <a:buNone/>
            </a:pPr>
            <a:r>
              <a:t>Exemple de marqueurs Qwen ; utiliser le template associé au checkpoint.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Une liste de messages n'est pas encore l'entrée exacte du modèle.</a:t>
            </a:r>
            <a:endParaRPr/>
          </a:p>
          <a:p xmlns:a="http://schemas.openxmlformats.org/drawingml/2006/main">
            <a:pPr marL="0" lvl="0" indent="0" algn="l">
              <a:spcBef>
                <a:spcPts val="0"/>
              </a:spcBef>
              <a:spcAft>
                <a:spcPts val="0"/>
              </a:spcAft>
              <a:buNone/>
            </a:pPr>
            <a:r>
              <a:t>system, user et assistant ont des fonctions distinctes.</a:t>
            </a:r>
            <a:endParaRPr/>
          </a:p>
          <a:p xmlns:a="http://schemas.openxmlformats.org/drawingml/2006/main">
            <a:pPr marL="0" lvl="0" indent="0" algn="l">
              <a:spcBef>
                <a:spcPts val="0"/>
              </a:spcBef>
              <a:spcAft>
                <a:spcPts val="0"/>
              </a:spcAft>
              <a:buNone/>
            </a:pPr>
            <a:r>
              <a:t>Le tokenizer applique les marqueurs attendus par le checkpoint.</a:t>
            </a:r>
            <a:endParaRPr/>
          </a:p>
          <a:p xmlns:a="http://schemas.openxmlformats.org/drawingml/2006/main">
            <a:pPr marL="0" lvl="0" indent="0" algn="l">
              <a:spcBef>
                <a:spcPts val="0"/>
              </a:spcBef>
              <a:spcAft>
                <a:spcPts val="0"/>
              </a:spcAft>
              <a:buNone/>
            </a:pPr>
            <a:r>
              <a:t>Inspecter le texte rendu et les tokens spéciaux.</a:t>
            </a:r>
            <a:endParaRPr/>
          </a:p>
          <a:p xmlns:a="http://schemas.openxmlformats.org/drawingml/2006/main">
            <a:pPr marL="0" lvl="0" indent="0" algn="l">
              <a:spcBef>
                <a:spcPts val="0"/>
              </a:spcBef>
              <a:spcAft>
                <a:spcPts val="0"/>
              </a:spcAft>
              <a:buNone/>
            </a:pPr>
            <a:r>
              <a:t>Éviter de doubler manuellement les marqueurs de début ou de fin.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76 — Superviser la réponse, garder la question dans le contexte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lecture, 3 min de surlignage des tokens, 3 min de vérification. La question reste indispensable pour conditionner la réponse, mais nous ne voulons pas optimiser le modèle pour reproduire les tokens du prompt dans cette expérience. Le notebook utilise un format conversationnel prompt/completion avec completion_only_loss=True. Il ne suppose pas que le template fournisse un masque assistant compatible : assistant_only_loss est explicitement désactivé dans cette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ces deux options sont-elles simplement deux noms pour la même chose ? RÉPONSE : non ; elles s'appuient sur des structures et des mécanismes différents. Le contrôle décisif consiste à inspecter les labels du batch produit par le Trainer et à décoder les positions qui contribuent à la loss. Les marqueurs de réponse supervisés dépendent du format réellement préparé. Faire montrer que des tokens du prompt portent -100 tout en restant accessibles à l'attention. Si la troncature retire toute la completion, l'exemple ne fournit plus le signal attendu.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ce point de contrôle précède obligatoirement l'entraînement. COMPLÉMENT À EXPLICITER : Vérifier le batch réel : labels ignorés = −100.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deux lignes superposées sur les mêmes positions : la séquence visible au modèle et la séquence de cibles qui contribuent à la loss. Les frontières prompt/completion structurent la supervision.</a:t>
            </a:r>
            <a:endParaRPr/>
          </a:p>
          <a:p xmlns:a="http://schemas.openxmlformats.org/drawingml/2006/main">
            <a:pPr marL="0" lvl="0" indent="0" algn="l">
              <a:spcBef>
                <a:spcPts val="0"/>
              </a:spcBef>
              <a:spcAft>
                <a:spcPts val="0"/>
              </a:spcAft>
              <a:buNone/>
            </a:pPr>
            <a:r>
              <a:t>2. Consigne et question appartiennent au prompt : elles restent visibles au contexte mais leurs labels valent −100. Les positions de completion qui portent la réponse sont supervisées, sous le masque causal.</a:t>
            </a:r>
            <a:endParaRPr/>
          </a:p>
          <a:p xmlns:a="http://schemas.openxmlformats.org/drawingml/2006/main">
            <a:pPr marL="0" lvl="0" indent="0" algn="l">
              <a:spcBef>
                <a:spcPts val="0"/>
              </a:spcBef>
              <a:spcAft>
                <a:spcPts val="0"/>
              </a:spcAft>
              <a:buNone/>
            </a:pPr>
            <a:r>
              <a:t>3. Le padding ne constitue pas un contexte utile et ne contribue pas à la loss. Cela ne le rend pas équivalent au prompt : le prompt contient de vraies informations conditionnantes.</a:t>
            </a:r>
            <a:endParaRPr/>
          </a:p>
          <a:p xmlns:a="http://schemas.openxmlformats.org/drawingml/2006/main">
            <a:pPr marL="0" lvl="0" indent="0" algn="l">
              <a:spcBef>
                <a:spcPts val="0"/>
              </a:spcBef>
              <a:spcAft>
                <a:spcPts val="0"/>
              </a:spcAft>
              <a:buNone/>
            </a:pPr>
            <a:r>
              <a:t>4. Les flèches de contexte vont du préfixe autorisé vers la représentation ; les flèches de comparaison vont des logits vers les cibles. Aucune flèche ne doit suggérer que le modèle consulte un futur token pour prédire ce même token.</a:t>
            </a:r>
            <a:endParaRPr/>
          </a:p>
          <a:p xmlns:a="http://schemas.openxmlformats.org/drawingml/2006/main">
            <a:pPr marL="0" lvl="0" indent="0" algn="l">
              <a:spcBef>
                <a:spcPts val="0"/>
              </a:spcBef>
              <a:spcAft>
                <a:spcPts val="0"/>
              </a:spcAft>
              <a:buNone/>
            </a:pPr>
            <a:r>
              <a:t>5. Le TP utilise completion_only_loss=True sur des objets prompt/completion et assistant_only_loss=False. Question : pourquoi inspecter le batch ? Le masque effectivement produit, les marqueurs et la troncature peuvent différer d’une supposition faite sur le texte initial. Décoder les positions dont label ≠ −100 avant d’entraîner.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Format prompt/completion ; completion_only_loss = True.</a:t>
            </a:r>
            <a:endParaRPr/>
          </a:p>
          <a:p xmlns:a="http://schemas.openxmlformats.org/drawingml/2006/main">
            <a:pPr marL="0" lvl="0" indent="0" algn="l">
              <a:spcBef>
                <a:spcPts val="0"/>
              </a:spcBef>
              <a:spcAft>
                <a:spcPts val="0"/>
              </a:spcAft>
              <a:buNone/>
            </a:pPr>
            <a:r>
              <a:t>Table de référence — Segment | Visible au modèle | Contribue à la loss du TP</a:t>
            </a:r>
            <a:endParaRPr/>
          </a:p>
          <a:p xmlns:a="http://schemas.openxmlformats.org/drawingml/2006/main">
            <a:pPr marL="0" lvl="0" indent="0" algn="l">
              <a:spcBef>
                <a:spcPts val="0"/>
              </a:spcBef>
              <a:spcAft>
                <a:spcPts val="0"/>
              </a:spcAft>
              <a:buNone/>
            </a:pPr>
            <a:r>
              <a:t>Consigne système | Oui | Non</a:t>
            </a:r>
            <a:endParaRPr/>
          </a:p>
          <a:p xmlns:a="http://schemas.openxmlformats.org/drawingml/2006/main">
            <a:pPr marL="0" lvl="0" indent="0" algn="l">
              <a:spcBef>
                <a:spcPts val="0"/>
              </a:spcBef>
              <a:spcAft>
                <a:spcPts val="0"/>
              </a:spcAft>
              <a:buNone/>
            </a:pPr>
            <a:r>
              <a:t>Question utilisateur | Oui | Non</a:t>
            </a:r>
            <a:endParaRPr/>
          </a:p>
          <a:p xmlns:a="http://schemas.openxmlformats.org/drawingml/2006/main">
            <a:pPr marL="0" lvl="0" indent="0" algn="l">
              <a:spcBef>
                <a:spcPts val="0"/>
              </a:spcBef>
              <a:spcAft>
                <a:spcPts val="0"/>
              </a:spcAft>
              <a:buNone/>
            </a:pPr>
            <a:r>
              <a:t>Réponse cible | Oui, causalement | Oui</a:t>
            </a:r>
            <a:endParaRPr/>
          </a:p>
          <a:p xmlns:a="http://schemas.openxmlformats.org/drawingml/2006/main">
            <a:pPr marL="0" lvl="0" indent="0" algn="l">
              <a:spcBef>
                <a:spcPts val="0"/>
              </a:spcBef>
              <a:spcAft>
                <a:spcPts val="0"/>
              </a:spcAft>
              <a:buNone/>
            </a:pPr>
            <a:r>
              <a:t>Padding | Non comme contexte utile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Une table distingue tokens, masque d’attention et labels. Les trois tokens de contexte ont attention un et label moins cent ; réponse et EOS sont supervisés ; PAD est masqué et ignoré.</a:t>
            </a:r>
            <a:endParaRPr/>
          </a:p>
          <a:p xmlns:a="http://schemas.openxmlformats.org/drawingml/2006/main">
            <a:pPr marL="0" lvl="0" indent="0" algn="l">
              <a:spcBef>
                <a:spcPts val="0"/>
              </a:spcBef>
              <a:spcAft>
                <a:spcPts val="0"/>
              </a:spcAft>
              <a:buNone/>
            </a:pPr>
            <a:r>
              <a:t>Le prompt reste visible ; la loss porte ici sur la réponse et sa fin de séquence.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Format prompt/completion ; completion_only_loss = True.</a:t>
            </a:r>
            <a:endParaRPr/>
          </a:p>
          <a:p xmlns:a="http://schemas.openxmlformats.org/drawingml/2006/main">
            <a:pPr marL="0" lvl="0" indent="0" algn="l">
              <a:spcBef>
                <a:spcPts val="0"/>
              </a:spcBef>
              <a:spcAft>
                <a:spcPts val="0"/>
              </a:spcAft>
              <a:buNone/>
            </a:pPr>
            <a:r>
              <a:t>Segment | Visible au modèle | Contribue à la loss du TP</a:t>
            </a:r>
            <a:endParaRPr/>
          </a:p>
          <a:p xmlns:a="http://schemas.openxmlformats.org/drawingml/2006/main">
            <a:pPr marL="0" lvl="0" indent="0" algn="l">
              <a:spcBef>
                <a:spcPts val="0"/>
              </a:spcBef>
              <a:spcAft>
                <a:spcPts val="0"/>
              </a:spcAft>
              <a:buNone/>
            </a:pPr>
            <a:r>
              <a:t>Consigne système | Oui | Non</a:t>
            </a:r>
            <a:endParaRPr/>
          </a:p>
          <a:p xmlns:a="http://schemas.openxmlformats.org/drawingml/2006/main">
            <a:pPr marL="0" lvl="0" indent="0" algn="l">
              <a:spcBef>
                <a:spcPts val="0"/>
              </a:spcBef>
              <a:spcAft>
                <a:spcPts val="0"/>
              </a:spcAft>
              <a:buNone/>
            </a:pPr>
            <a:r>
              <a:t>Question utilisateur | Oui | Non</a:t>
            </a:r>
            <a:endParaRPr/>
          </a:p>
          <a:p xmlns:a="http://schemas.openxmlformats.org/drawingml/2006/main">
            <a:pPr marL="0" lvl="0" indent="0" algn="l">
              <a:spcBef>
                <a:spcPts val="0"/>
              </a:spcBef>
              <a:spcAft>
                <a:spcPts val="0"/>
              </a:spcAft>
              <a:buNone/>
            </a:pPr>
            <a:r>
              <a:t>Réponse cible | Oui, causalement | Oui</a:t>
            </a:r>
            <a:endParaRPr/>
          </a:p>
          <a:p xmlns:a="http://schemas.openxmlformats.org/drawingml/2006/main">
            <a:pPr marL="0" lvl="0" indent="0" algn="l">
              <a:spcBef>
                <a:spcPts val="0"/>
              </a:spcBef>
              <a:spcAft>
                <a:spcPts val="0"/>
              </a:spcAft>
              <a:buNone/>
            </a:pPr>
            <a:r>
              <a:t>Padding | Non comme contexte utile | Non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https://huggingface.co/docs/trl/sft_trainer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77 — Le décalage causal ne doit se produire qu'une fois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sur une séquence jouet, 3 min de diagnostic d'erreur, 3 min de correction. Écrire quatre tokens simplifiés : question, marqueur assistant, bonjour, fin. Pour générer bonjour, le modèle utilise le préfixe jusqu'au marqueur assistant. La classe causale et le Trainer effectuent les opérations de décalage prévues par leur contrat ; décaler manuellement les labels puis laisser le modèle les décaler à nouveau ferait apprendre une cible décalée de deux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pourquoi vérifier la frontière entre prompt et completion ? RÉPONSE : c'est là qu'un masque mal construit peut supprimer le premier token de réponse ou superviser une partie inattendue du prompt. L'exemple est conceptuel ; on inspecte ensuite les tokens exacts du template réel. Faire distinguer trois mécanismes : masque causal pour les accès au contexte, labels -100 pour la supervision, décalage pour la prédiction suivante.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afficher quelques positions avec input_id, token et label permet de détecter ces erreurs. Un simple entraînement qui « ne plante pas » ne prouve pas que la tâche optimisée est celle que l'on voulait.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Aligner une ligne de tokens d’entrée x₀, x₁, x₂… et une ligne de cibles suivantes x₁, x₂, x₃…. La flèche du logit produit à la position t doit arriver à la cible t+1.</a:t>
            </a:r>
            <a:endParaRPr/>
          </a:p>
          <a:p xmlns:a="http://schemas.openxmlformats.org/drawingml/2006/main">
            <a:pPr marL="0" lvl="0" indent="0" algn="l">
              <a:spcBef>
                <a:spcPts val="0"/>
              </a:spcBef>
              <a:spcAft>
                <a:spcPts val="0"/>
              </a:spcAft>
              <a:buNone/>
            </a:pPr>
            <a:r>
              <a:t>2. Le calcul au temps t utilise le préfixe jusqu’à x_t inclus ; le masque causal empêche de lire x_{t+1} et la suite. Une entrée « Le | colis » permet au logit de la position « colis » de prédire « arrive ».</a:t>
            </a:r>
            <a:endParaRPr/>
          </a:p>
          <a:p xmlns:a="http://schemas.openxmlformats.org/drawingml/2006/main">
            <a:pPr marL="0" lvl="0" indent="0" algn="l">
              <a:spcBef>
                <a:spcPts val="0"/>
              </a:spcBef>
              <a:spcAft>
                <a:spcPts val="0"/>
              </a:spcAft>
              <a:buNone/>
            </a:pPr>
            <a:r>
              <a:t>3. Dans le SFT, les positions de cible associées au prompt peuvent être ignorées par −100, tandis que les cibles de réponse comptent. Le premier token de réponse est prédit depuis la dernière position de son préfixe, pas depuis sa propre représentation future.</a:t>
            </a:r>
            <a:endParaRPr/>
          </a:p>
          <a:p xmlns:a="http://schemas.openxmlformats.org/drawingml/2006/main">
            <a:pPr marL="0" lvl="0" indent="0" algn="l">
              <a:spcBef>
                <a:spcPts val="0"/>
              </a:spcBef>
              <a:spcAft>
                <a:spcPts val="0"/>
              </a:spcAft>
              <a:buNone/>
            </a:pPr>
            <a:r>
              <a:t>4. L’implémentation du modèle causal gère le décalage prévu par son contrat de loss. Le dataset peut donc présenter des labels alignés sur input_ids avant ce décalage interne : ne pas décaler encore manuellement.</a:t>
            </a:r>
            <a:endParaRPr/>
          </a:p>
          <a:p xmlns:a="http://schemas.openxmlformats.org/drawingml/2006/main">
            <a:pPr marL="0" lvl="0" indent="0" algn="l">
              <a:spcBef>
                <a:spcPts val="0"/>
              </a:spcBef>
              <a:spcAft>
                <a:spcPts val="0"/>
              </a:spcAft>
              <a:buNone/>
            </a:pPr>
            <a:r>
              <a:t>5. Question : quel bug crée un décalage fait deux fois ? Le réseau apprend une cible trop éloignée d’une position supplémentaire. Inspecter quelques positions et leurs cibles, car une exécution sans erreur et une loss finie ne garantissent pas le bon alignement.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À chaque position, prédire le token suivant de la séquence supervisée.</a:t>
            </a:r>
            <a:endParaRPr/>
          </a:p>
          <a:p xmlns:a="http://schemas.openxmlformats.org/drawingml/2006/main">
            <a:pPr marL="0" lvl="0" indent="0" algn="l">
              <a:spcBef>
                <a:spcPts val="0"/>
              </a:spcBef>
              <a:spcAft>
                <a:spcPts val="0"/>
              </a:spcAft>
              <a:buNone/>
            </a:pPr>
            <a:r>
              <a:t>• Le modèle causal calcule généralement le décalage interne de la loss.</a:t>
            </a:r>
            <a:endParaRPr/>
          </a:p>
          <a:p xmlns:a="http://schemas.openxmlformats.org/drawingml/2006/main">
            <a:pPr marL="0" lvl="0" indent="0" algn="l">
              <a:spcBef>
                <a:spcPts val="0"/>
              </a:spcBef>
              <a:spcAft>
                <a:spcPts val="0"/>
              </a:spcAft>
              <a:buNone/>
            </a:pPr>
            <a:r>
              <a:t>• Le masque des labels précise quelles cibles comptent.</a:t>
            </a:r>
            <a:endParaRPr/>
          </a:p>
          <a:p xmlns:a="http://schemas.openxmlformats.org/drawingml/2006/main">
            <a:pPr marL="0" lvl="0" indent="0" algn="l">
              <a:spcBef>
                <a:spcPts val="0"/>
              </a:spcBef>
              <a:spcAft>
                <a:spcPts val="0"/>
              </a:spcAft>
              <a:buNone/>
            </a:pPr>
            <a:r>
              <a:t>• Inspecter une paire entrée/cible à la frontière prompt-réponse.</a:t>
            </a:r>
            <a:endParaRPr/>
          </a:p>
          <a:p xmlns:a="http://schemas.openxmlformats.org/drawingml/2006/main">
            <a:pPr marL="0" lvl="0" indent="0" algn="l">
              <a:spcBef>
                <a:spcPts val="0"/>
              </a:spcBef>
              <a:spcAft>
                <a:spcPts val="0"/>
              </a:spcAft>
              <a:buNone/>
            </a:pPr>
            <a:r>
              <a:t>• Une loss basse peut cacher une mauvaise préparation des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Les entrées le, colis, arrive, demain, EOS sont alignées avec les cibles colis, arrive, demain, EOS, aucune. Les quatre premières sorties prédisent le token suivant.</a:t>
            </a:r>
            <a:endParaRPr/>
          </a:p>
          <a:p xmlns:a="http://schemas.openxmlformats.org/drawingml/2006/main">
            <a:pPr marL="0" lvl="0" indent="0" algn="l">
              <a:spcBef>
                <a:spcPts val="0"/>
              </a:spcBef>
              <a:spcAft>
                <a:spcPts val="0"/>
              </a:spcAft>
              <a:buNone/>
            </a:pPr>
            <a:r>
              <a:t>Chaque logit à la position t vise le token t+1 ; appliquer ce décalage une seule fois.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À chaque position, prédire le token suivant de la séquence supervisée.</a:t>
            </a:r>
            <a:endParaRPr/>
          </a:p>
          <a:p xmlns:a="http://schemas.openxmlformats.org/drawingml/2006/main">
            <a:pPr marL="0" lvl="0" indent="0" algn="l">
              <a:spcBef>
                <a:spcPts val="0"/>
              </a:spcBef>
              <a:spcAft>
                <a:spcPts val="0"/>
              </a:spcAft>
              <a:buNone/>
            </a:pPr>
            <a:r>
              <a:t>Le modèle causal calcule généralement le décalage interne de la loss.</a:t>
            </a:r>
            <a:endParaRPr/>
          </a:p>
          <a:p xmlns:a="http://schemas.openxmlformats.org/drawingml/2006/main">
            <a:pPr marL="0" lvl="0" indent="0" algn="l">
              <a:spcBef>
                <a:spcPts val="0"/>
              </a:spcBef>
              <a:spcAft>
                <a:spcPts val="0"/>
              </a:spcAft>
              <a:buNone/>
            </a:pPr>
            <a:r>
              <a:t>Le masque des labels précise quelles cibles comptent.</a:t>
            </a:r>
            <a:endParaRPr/>
          </a:p>
          <a:p xmlns:a="http://schemas.openxmlformats.org/drawingml/2006/main">
            <a:pPr marL="0" lvl="0" indent="0" algn="l">
              <a:spcBef>
                <a:spcPts val="0"/>
              </a:spcBef>
              <a:spcAft>
                <a:spcPts val="0"/>
              </a:spcAft>
              <a:buNone/>
            </a:pPr>
            <a:r>
              <a:t>Inspecter une paire entrée/cible à la frontière prompt-réponse.</a:t>
            </a:r>
            <a:endParaRPr/>
          </a:p>
          <a:p xmlns:a="http://schemas.openxmlformats.org/drawingml/2006/main">
            <a:pPr marL="0" lvl="0" indent="0" algn="l">
              <a:spcBef>
                <a:spcPts val="0"/>
              </a:spcBef>
              <a:spcAft>
                <a:spcPts val="0"/>
              </a:spcAft>
              <a:buNone/>
            </a:pPr>
            <a:r>
              <a:t>Une loss basse peut cacher une mauvaise préparation des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https://huggingface.co/learn/llm-course/fr/chapter7/6</a:t>
            </a:r>
            <a:endParaRPr/>
          </a:p>
          <a:p xmlns:a="http://schemas.openxmlformats.org/drawingml/2006/main">
            <a:pPr marL="0" lvl="0" indent="0" algn="l">
              <a:spcBef>
                <a:spcPts val="0"/>
              </a:spcBef>
              <a:spcAft>
                <a:spcPts val="0"/>
              </a:spcAft>
              <a:buNone/>
            </a:pPr>
            <a:r>
              <a:t>https://huggingface.co/docs/trl/sft_trainer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78 — LoRA : apprendre une petite correction de matrice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lecture des deux branches, 3 min de calcul avec de petites matrices, 3 min de discussion. Dire explicitement que les vecteurs sont des colonnes dans cette écriture.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sortie y est la transformation de base W zéro fois x, plus alpha sur r fois la correction B fois A fois x. » Commencer par la branche gelée, puis suivre la branche entraînable dans l’ordre x, A, B, facteur d’échelle, addition.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x contient d_in caractéristiques ; y en contient d_out. W₀ est une matrice d_out × d_in dont les paramètres restent gelés. A a la forme r × d_in et réduit l’entrée à r coordonnées. B a la forme d_out × r et remonte à la dimension de sortie. Le produit BA possède donc la même forme que W₀. r est un entier positif choisi, et le rang de BA est au plus r. α est un hyperparamètre d’échelle ; α/r est sans unité. Les coordonnées sont des caractéristiques apprises, sans unité physique imposée.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Choisir d_in = d_out = 2, r = 1, α = 1 et x = (2 ; 1).</a:t>
            </a:r>
            <a:endParaRPr/>
          </a:p>
          <a:p xmlns:a="http://schemas.openxmlformats.org/drawingml/2006/main">
            <a:pPr marL="0" lvl="0" indent="0" algn="l">
              <a:spcBef>
                <a:spcPts val="0"/>
              </a:spcBef>
              <a:spcAft>
                <a:spcPts val="0"/>
              </a:spcAft>
              <a:buNone/>
            </a:pPr>
            <a:r>
              <a:t>2. Prendre W₀ égal à l’identité : W₀x = (2 ; 1).</a:t>
            </a:r>
            <a:endParaRPr/>
          </a:p>
          <a:p xmlns:a="http://schemas.openxmlformats.org/drawingml/2006/main">
            <a:pPr marL="0" lvl="0" indent="0" algn="l">
              <a:spcBef>
                <a:spcPts val="0"/>
              </a:spcBef>
              <a:spcAft>
                <a:spcPts val="0"/>
              </a:spcAft>
              <a:buNone/>
            </a:pPr>
            <a:r>
              <a:t>3. Prendre A = [1, −1] : Ax = 1×2 − 1×1 = 1.</a:t>
            </a:r>
            <a:endParaRPr/>
          </a:p>
          <a:p xmlns:a="http://schemas.openxmlformats.org/drawingml/2006/main">
            <a:pPr marL="0" lvl="0" indent="0" algn="l">
              <a:spcBef>
                <a:spcPts val="0"/>
              </a:spcBef>
              <a:spcAft>
                <a:spcPts val="0"/>
              </a:spcAft>
              <a:buNone/>
            </a:pPr>
            <a:r>
              <a:t>4. Prendre B comme colonne (0,5 ; 1) : BAx = (0,5 ; 1).</a:t>
            </a:r>
            <a:endParaRPr/>
          </a:p>
          <a:p xmlns:a="http://schemas.openxmlformats.org/drawingml/2006/main">
            <a:pPr marL="0" lvl="0" indent="0" algn="l">
              <a:spcBef>
                <a:spcPts val="0"/>
              </a:spcBef>
              <a:spcAft>
                <a:spcPts val="0"/>
              </a:spcAft>
              <a:buNone/>
            </a:pPr>
            <a:r>
              <a:t>5. α/r = 1 ; additionner les branches donne y = (2,5 ; 2). Ces valeurs sont pédagogiques et ne décrivent pas l’initialisation réelle du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Cette écriture correspond au facteur d’échelle LoRA standard et ignore biais et dropout pour isoler le mécanisme. On gèle W₀, mais on calcule encore sa contribution et on peut propager des gradients vers les autres éléments entraînables : gelé ne signifie pas supprimé du graphe. LoRA ne retire pas le besoin de charger la base. Les modules ciblés et les éventuels autres poids entraînables doivent être inspectés.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SFT et LoRA sont-ils synonymes ? » Non : SFT nomme la supervision par démonstrations ; LoRA nomme les paramètres utilisés pour l’adaptation. Faire vérifier le nombre de paramètres réellement entraînables dans le TP.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W₀ reste gelée ; A et B sont entraînées.</a:t>
            </a:r>
            <a:endParaRPr/>
          </a:p>
          <a:p xmlns:a="http://schemas.openxmlformats.org/drawingml/2006/main">
            <a:pPr marL="0" lvl="0" indent="0" algn="l">
              <a:spcBef>
                <a:spcPts val="0"/>
              </a:spcBef>
              <a:spcAft>
                <a:spcPts val="0"/>
              </a:spcAft>
              <a:buNone/>
            </a:pPr>
            <a:r>
              <a:t>• A réduit vers un rang r ; B remonte vers la sortie.</a:t>
            </a:r>
            <a:endParaRPr/>
          </a:p>
          <a:p xmlns:a="http://schemas.openxmlformats.org/drawingml/2006/main">
            <a:pPr marL="0" lvl="0" indent="0" algn="l">
              <a:spcBef>
                <a:spcPts val="0"/>
              </a:spcBef>
              <a:spcAft>
                <a:spcPts val="0"/>
              </a:spcAft>
              <a:buNone/>
            </a:pPr>
            <a:r>
              <a:t>• La correction ΔW = BA est contrainte par son rang.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\mathbf{y}=W_0\mathbf{x}+\frac{\alpha}{r}\,BA\mathbf{x}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le schéma en deux branches issues de la même entrée colonne x. La branche W₀ produit la transformation de base ; elle reste calculée à chaque passe même si ses poids sont gelés.</a:t>
            </a:r>
            <a:endParaRPr/>
          </a:p>
          <a:p xmlns:a="http://schemas.openxmlformats.org/drawingml/2006/main">
            <a:pPr marL="0" lvl="0" indent="0" algn="l">
              <a:spcBef>
                <a:spcPts val="0"/>
              </a:spcBef>
              <a:spcAft>
                <a:spcPts val="0"/>
              </a:spcAft>
              <a:buNone/>
            </a:pPr>
            <a:r>
              <a:t>2. Suivre la branche de correction dans l’ordre A puis B. A réduit d_in vers r ; B remonte r vers d_out. Le produit BA a donc exactement la forme de W₀.</a:t>
            </a:r>
            <a:endParaRPr/>
          </a:p>
          <a:p xmlns:a="http://schemas.openxmlformats.org/drawingml/2006/main">
            <a:pPr marL="0" lvl="0" indent="0" algn="l">
              <a:spcBef>
                <a:spcPts val="0"/>
              </a:spcBef>
              <a:spcAft>
                <a:spcPts val="0"/>
              </a:spcAft>
              <a:buNone/>
            </a:pPr>
            <a:r>
              <a:t>3. Le facteur α/r multiplie la correction. La jonction finale est une addition de deux vecteurs de même dimension d_out, jamais une concaténation.</a:t>
            </a:r>
            <a:endParaRPr/>
          </a:p>
          <a:p xmlns:a="http://schemas.openxmlformats.org/drawingml/2006/main">
            <a:pPr marL="0" lvl="0" indent="0" algn="l">
              <a:spcBef>
                <a:spcPts val="0"/>
              </a:spcBef>
              <a:spcAft>
                <a:spcPts val="0"/>
              </a:spcAft>
              <a:buNone/>
            </a:pPr>
            <a:r>
              <a:t>4. Les annotations entraînable et gelé désignent les paramètres mis à jour ; elles ne signifient pas qu’aucun gradient ne traverse le calcul de la branche gelée vers d’autres paramètres autorisés. Les activations restent une composante du coût.</a:t>
            </a:r>
            <a:endParaRPr/>
          </a:p>
          <a:p xmlns:a="http://schemas.openxmlformats.org/drawingml/2006/main">
            <a:pPr marL="0" lvl="0" indent="0" algn="l">
              <a:spcBef>
                <a:spcPts val="0"/>
              </a:spcBef>
              <a:spcAft>
                <a:spcPts val="0"/>
              </a:spcAft>
              <a:buNone/>
            </a:pPr>
            <a:r>
              <a:t>5. Question : l’adaptateur peut-il fonctionner seul sans la base ? Non. Lors de l’inférence, recharger la base compatible et l’adaptateur, puis comparer aux sorties de base sur les mêmes cas. Le rang contraint la correction BA, pas le rang total de W₀ + (α/r)BA.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W₀ reste gelée ; A et B sont entraînées.</a:t>
            </a:r>
            <a:endParaRPr/>
          </a:p>
          <a:p xmlns:a="http://schemas.openxmlformats.org/drawingml/2006/main">
            <a:pPr marL="0" lvl="0" indent="0" algn="l">
              <a:spcBef>
                <a:spcPts val="0"/>
              </a:spcBef>
              <a:spcAft>
                <a:spcPts val="0"/>
              </a:spcAft>
              <a:buNone/>
            </a:pPr>
            <a:r>
              <a:t>• A réduit vers un rang r ; B remonte vers la sortie.</a:t>
            </a:r>
            <a:endParaRPr/>
          </a:p>
          <a:p xmlns:a="http://schemas.openxmlformats.org/drawingml/2006/main">
            <a:pPr marL="0" lvl="0" indent="0" algn="l">
              <a:spcBef>
                <a:spcPts val="0"/>
              </a:spcBef>
              <a:spcAft>
                <a:spcPts val="0"/>
              </a:spcAft>
              <a:buNone/>
            </a:pPr>
            <a:r>
              <a:t>• La correction ΔW = BA est contrainte par son rang.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\mathbf{y}=W_0\mathbf{x}+\frac{\alpha}{r}\,BA\mathbf{x}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x : entrée d_in ; y : sortie d_out</a:t>
            </a:r>
            <a:endParaRPr/>
          </a:p>
          <a:p xmlns:a="http://schemas.openxmlformats.org/drawingml/2006/main">
            <a:pPr marL="0" lvl="0" indent="0" algn="l">
              <a:spcBef>
                <a:spcPts val="0"/>
              </a:spcBef>
              <a:spcAft>
                <a:spcPts val="0"/>
              </a:spcAft>
              <a:buNone/>
            </a:pPr>
            <a:r>
              <a:t>W₀ : matrice gelée, d_out × d_in</a:t>
            </a:r>
            <a:endParaRPr/>
          </a:p>
          <a:p xmlns:a="http://schemas.openxmlformats.org/drawingml/2006/main">
            <a:pPr marL="0" lvl="0" indent="0" algn="l">
              <a:spcBef>
                <a:spcPts val="0"/>
              </a:spcBef>
              <a:spcAft>
                <a:spcPts val="0"/>
              </a:spcAft>
              <a:buNone/>
            </a:pPr>
            <a:r>
              <a:t>A : r × d_in ; B : d_out × r</a:t>
            </a:r>
            <a:endParaRPr/>
          </a:p>
          <a:p xmlns:a="http://schemas.openxmlformats.org/drawingml/2006/main">
            <a:pPr marL="0" lvl="0" indent="0" algn="l">
              <a:spcBef>
                <a:spcPts val="0"/>
              </a:spcBef>
              <a:spcAft>
                <a:spcPts val="0"/>
              </a:spcAft>
              <a:buNone/>
            </a:pPr>
            <a:r>
              <a:t>r : rang choisi pour la correction</a:t>
            </a:r>
            <a:endParaRPr/>
          </a:p>
          <a:p xmlns:a="http://schemas.openxmlformats.org/drawingml/2006/main">
            <a:pPr marL="0" lvl="0" indent="0" algn="l">
              <a:spcBef>
                <a:spcPts val="0"/>
              </a:spcBef>
              <a:spcAft>
                <a:spcPts val="0"/>
              </a:spcAft>
              <a:buNone/>
            </a:pPr>
            <a:r>
              <a:t>α/r : facteur d’échelle de la correction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W₀ = I, x = (2 ; 1), A = [1, −1], B = (0,5 ; 1), α/r = 1 → y = (2,5 ;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79 — LoRA : combien de paramètres apprend-on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de calcul, 3 min avec un autre rang, 3 min d’interprétation. Relier le comptage aux formes de A et B vues juste avant.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Une matrice complète compte dimension de sortie fois dimension d’entrée paramètres. Les deux matrices LoRA comptent ensemble r fois la somme des dimensions d’entrée et de sortie. » La seconde ligne additionne le nombre de paramètres de A et de B ; elle ne compte pas la base gelée.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d_in et d_out sont des nombres entiers de caractéristiques. r est la dimension intermédiaire de l’adaptateur. N_complet compte les paramètres de W₀, matrice d_out × d_in. N_LoRA compte les paramètres entraînables des matrices A, de forme r × d_in, et B, de forme d_out × r. Les deux N sont exprimés en paramètres, pas en octets. Leur conversion en mémoire dépend de la précision et des autres états stockés.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Poser d_in = d_out = 1024 et r = 8.</a:t>
            </a:r>
            <a:endParaRPr/>
          </a:p>
          <a:p xmlns:a="http://schemas.openxmlformats.org/drawingml/2006/main">
            <a:pPr marL="0" lvl="0" indent="0" algn="l">
              <a:spcBef>
                <a:spcPts val="0"/>
              </a:spcBef>
              <a:spcAft>
                <a:spcPts val="0"/>
              </a:spcAft>
              <a:buNone/>
            </a:pPr>
            <a:r>
              <a:t>2. La matrice complète compte 1024 × 1024 = 1 048 576 paramètres.</a:t>
            </a:r>
            <a:endParaRPr/>
          </a:p>
          <a:p xmlns:a="http://schemas.openxmlformats.org/drawingml/2006/main">
            <a:pPr marL="0" lvl="0" indent="0" algn="l">
              <a:spcBef>
                <a:spcPts val="0"/>
              </a:spcBef>
              <a:spcAft>
                <a:spcPts val="0"/>
              </a:spcAft>
              <a:buNone/>
            </a:pPr>
            <a:r>
              <a:t>3. A compte 8 × 1024 = 8192 paramètres ; B en compte autant.</a:t>
            </a:r>
            <a:endParaRPr/>
          </a:p>
          <a:p xmlns:a="http://schemas.openxmlformats.org/drawingml/2006/main">
            <a:pPr marL="0" lvl="0" indent="0" algn="l">
              <a:spcBef>
                <a:spcPts val="0"/>
              </a:spcBef>
              <a:spcAft>
                <a:spcPts val="0"/>
              </a:spcAft>
              <a:buNone/>
            </a:pPr>
            <a:r>
              <a:t>4. N_LoRA = 8192 + 8192 = 16 384.</a:t>
            </a:r>
            <a:endParaRPr/>
          </a:p>
          <a:p xmlns:a="http://schemas.openxmlformats.org/drawingml/2006/main">
            <a:pPr marL="0" lvl="0" indent="0" algn="l">
              <a:spcBef>
                <a:spcPts val="0"/>
              </a:spcBef>
              <a:spcAft>
                <a:spcPts val="0"/>
              </a:spcAft>
              <a:buNone/>
            </a:pPr>
            <a:r>
              <a:t>5. Le rapport vaut 16 384 / 1 048 576 = 1/64 = 0,015625, soit 1,5625 %.</a:t>
            </a:r>
            <a:endParaRPr/>
          </a:p>
          <a:p xmlns:a="http://schemas.openxmlformats.org/drawingml/2006/main">
            <a:pPr marL="0" lvl="0" indent="0" algn="l">
              <a:spcBef>
                <a:spcPts val="0"/>
              </a:spcBef>
              <a:spcAft>
                <a:spcPts val="0"/>
              </a:spcAft>
              <a:buNone/>
            </a:pPr>
            <a:r>
              <a:t>6. Avec r = 16, le nombre de paramètres d’adaptation double à 32 768, sans modifier le nombre de paramètres de la base.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Le calcul concerne une seule matrice, sans biais entraînable ni autre module. Ce pourcentage n’est pas automatiquement celui du modèle entier : il faut sommer les modules effectivement ciblés. Les poids de base restent chargés ; le gain d’entraînement concerne notamment gradients et états de l’optimiseur des poids gelés. Les activations restent nécessaires.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Doubler r garantit-il une meilleure validation ? » Non : on augmente la capacité de correction et le coût, mais peu de données peuvent favoriser la mémorisation. Le TP compare le calcul d’ordre de grandeur au compteur réel des paramètres entraînables.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Matrice 1 024 × 1 024 : 1 048 576 paramètres.</a:t>
            </a:r>
            <a:endParaRPr/>
          </a:p>
          <a:p xmlns:a="http://schemas.openxmlformats.org/drawingml/2006/main">
            <a:pPr marL="0" lvl="0" indent="0" algn="l">
              <a:spcBef>
                <a:spcPts val="0"/>
              </a:spcBef>
              <a:spcAft>
                <a:spcPts val="0"/>
              </a:spcAft>
              <a:buNone/>
            </a:pPr>
            <a:r>
              <a:t>• Avec r = 8 : 8 × (1 024 + 1 024) = 16 384.</a:t>
            </a:r>
            <a:endParaRPr/>
          </a:p>
          <a:p xmlns:a="http://schemas.openxmlformats.org/drawingml/2006/main">
            <a:pPr marL="0" lvl="0" indent="0" algn="l">
              <a:spcBef>
                <a:spcPts val="0"/>
              </a:spcBef>
              <a:spcAft>
                <a:spcPts val="0"/>
              </a:spcAft>
              <a:buNone/>
            </a:pPr>
            <a:r>
              <a:t>• La correction représente ici 1,56 % de la matrice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\begin{aligned}N_{\mathrm{complet}}&amp;=d_{\mathrm{out}}d_{\mathrm{in}}\\N_{\mathrm{LoRA}}&amp;=r\left(d_{\mathrm{in}}+d_{\mathrm{out}}\right)\end{aligned}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\begin{aligned}N_{\mathrm{complet}}&amp;=d_{\mathrm{out}}d_{\mathrm{in}}\\N_{\mathrm{LoRA}}&amp;=r\left(d_{\mathrm{in}}+d_{\mathrm{out}}\right)\end{aligned}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d_in, d_out : dimensions d’entrée et de sortie</a:t>
            </a:r>
            <a:endParaRPr/>
          </a:p>
          <a:p xmlns:a="http://schemas.openxmlformats.org/drawingml/2006/main">
            <a:pPr marL="0" lvl="0" indent="0" algn="l">
              <a:spcBef>
                <a:spcPts val="0"/>
              </a:spcBef>
              <a:spcAft>
                <a:spcPts val="0"/>
              </a:spcAft>
              <a:buNone/>
            </a:pPr>
            <a:r>
              <a:t>r : rang de l’adaptateur</a:t>
            </a:r>
            <a:endParaRPr/>
          </a:p>
          <a:p xmlns:a="http://schemas.openxmlformats.org/drawingml/2006/main">
            <a:pPr marL="0" lvl="0" indent="0" algn="l">
              <a:spcBef>
                <a:spcPts val="0"/>
              </a:spcBef>
              <a:spcAft>
                <a:spcPts val="0"/>
              </a:spcAft>
              <a:buNone/>
            </a:pPr>
            <a:r>
              <a:t>N_complet : paramètres de la matrice pleine</a:t>
            </a:r>
            <a:endParaRPr/>
          </a:p>
          <a:p xmlns:a="http://schemas.openxmlformats.org/drawingml/2006/main">
            <a:pPr marL="0" lvl="0" indent="0" algn="l">
              <a:spcBef>
                <a:spcPts val="0"/>
              </a:spcBef>
              <a:spcAft>
                <a:spcPts val="0"/>
              </a:spcAft>
              <a:buNone/>
            </a:pPr>
            <a:r>
              <a:t>N_LoRA : paramètres entraînables de A et 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1 024² = 1 048 576 ; r = 8 → 16 384 paramètres LoRA, soit 1,5625 % pour cette matrice.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https://huggingface.co/docs/peft/package_reference/lora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80 — QLoRA : quantifier la base, entraîner les adaptateurs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4 min de distinction stockage/calcul, 3 min de reformulation, 3 min de questions. Quantifier consiste à représenter les poids avec un nombre réduit de valeurs possibles et des métadonnées d'échelle. NF4 est adapté à la représentation de poids selon les hypothèses de la méthode ; les opérations ne deviennent pas toutes des calculs natifs en quatre bits.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QLoRA met-il à jour directement chaque poids quantifié de la base ? RÉPONSE : l'approche étudiée garde la base gelée et entraîne des adaptateurs. Le chemin de préparation comprend configuration de quantification, chargement, préparation pour l'entraînement en faible précision, puis adaptation LoRA. Le notebook propose la variante bitsandbytes lorsque le matériel et l'environnement conviennent. Sur T4, on utilise une configuration de calcul FP16 explicitement compatible ; ne pas activer BF16 par habitude. Faire distinguer le modèle petit de 0,5 milliard de paramètres et les démonstrations de recherche sur des modèles beaucoup plus grands : les résultats publiés ne prédisent pas notre mémoire ni notre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Dans le TP, mesurer le pic réel et documenter la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Partir de la base gelée dont les poids sont stockés sous une représentation quantifiée quatre bits, avec les métadonnées nécessaires. La boîte de stockage décrit un format, pas toute l’arithmétique du réseau.</a:t>
            </a:r>
            <a:endParaRPr/>
          </a:p>
          <a:p xmlns:a="http://schemas.openxmlformats.org/drawingml/2006/main">
            <a:pPr marL="0" lvl="0" indent="0" algn="l">
              <a:spcBef>
                <a:spcPts val="0"/>
              </a:spcBef>
              <a:spcAft>
                <a:spcPts val="0"/>
              </a:spcAft>
              <a:buNone/>
            </a:pPr>
            <a:r>
              <a:t>2. Suivre la flèche vers les opérations de calcul dans la précision configurée. La déquantification intervient selon les kernels et besoins du calcul ; le schéma ne signifie pas que l’on conserve nécessairement une copie complète FP16 de tous les poids en permanence.</a:t>
            </a:r>
            <a:endParaRPr/>
          </a:p>
          <a:p xmlns:a="http://schemas.openxmlformats.org/drawingml/2006/main">
            <a:pPr marL="0" lvl="0" indent="0" algn="l">
              <a:spcBef>
                <a:spcPts val="0"/>
              </a:spcBef>
              <a:spcAft>
                <a:spcPts val="0"/>
              </a:spcAft>
              <a:buNone/>
            </a:pPr>
            <a:r>
              <a:t>3. La branche LoRA ajoute des paramètres entraînables en précision adaptée. Le backward fournit leurs gradients, sans transformer les poids de base quatre bits en paramètres directement mis à jour.</a:t>
            </a:r>
            <a:endParaRPr/>
          </a:p>
          <a:p xmlns:a="http://schemas.openxmlformats.org/drawingml/2006/main">
            <a:pPr marL="0" lvl="0" indent="0" algn="l">
              <a:spcBef>
                <a:spcPts val="0"/>
              </a:spcBef>
              <a:spcAft>
                <a:spcPts val="0"/>
              </a:spcAft>
              <a:buNone/>
            </a:pPr>
            <a:r>
              <a:t>4. NF4 et précision de calcul répondent à deux questions distinctes. Sur le parcours T4, le notebook choisit une configuration FP16 compatible ; la disponibilité de BF16 n’est pas supposée. Le modèle quantifié est préparé avant l’entraînement des adaptateurs.</a:t>
            </a:r>
            <a:endParaRPr/>
          </a:p>
          <a:p xmlns:a="http://schemas.openxmlformats.org/drawingml/2006/main">
            <a:pPr marL="0" lvl="0" indent="0" algn="l">
              <a:spcBef>
                <a:spcPts val="0"/>
              </a:spcBef>
              <a:spcAft>
                <a:spcPts val="0"/>
              </a:spcAft>
              <a:buNone/>
            </a:pPr>
            <a:r>
              <a:t>5. Question : quatre bits divisent-ils toute la mémoire par quatre par rapport à FP16 ? Non : métadonnées, paramètres non quantifiés, adaptateurs, activations, buffers et états ajoutent des coûts. Mesurer l’étape réelle plutôt que déduire le total de la seule case « poids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Poids de base stockés en 4 bits ; adaptateurs entraînés séparément.</a:t>
            </a:r>
            <a:endParaRPr/>
          </a:p>
          <a:p xmlns:a="http://schemas.openxmlformats.org/drawingml/2006/main">
            <a:pPr marL="0" lvl="0" indent="0" algn="l">
              <a:spcBef>
                <a:spcPts val="0"/>
              </a:spcBef>
              <a:spcAft>
                <a:spcPts val="0"/>
              </a:spcAft>
              <a:buNone/>
            </a:pPr>
            <a:r>
              <a:t>• NF4 est un format de quantification, pas un type de calcul universel.</a:t>
            </a:r>
            <a:endParaRPr/>
          </a:p>
          <a:p xmlns:a="http://schemas.openxmlformats.org/drawingml/2006/main">
            <a:pPr marL="0" lvl="0" indent="0" algn="l">
              <a:spcBef>
                <a:spcPts val="0"/>
              </a:spcBef>
              <a:spcAft>
                <a:spcPts val="0"/>
              </a:spcAft>
              <a:buNone/>
            </a:pPr>
            <a:r>
              <a:t>• Le calcul utilise une précision choisie, par exemple FP16 sur T4.</a:t>
            </a:r>
            <a:endParaRPr/>
          </a:p>
          <a:p xmlns:a="http://schemas.openxmlformats.org/drawingml/2006/main">
            <a:pPr marL="0" lvl="0" indent="0" algn="l">
              <a:spcBef>
                <a:spcPts val="0"/>
              </a:spcBef>
              <a:spcAft>
                <a:spcPts val="0"/>
              </a:spcAft>
              <a:buNone/>
            </a:pPr>
            <a:r>
              <a:t>• Préparer le modèle quantifié avant d'ajouter et entraîner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L’entrée se sépare entre une base W0 gelée en quatre bits et une branche LoRA A puis B et facteur alpha sur r. Les deux contributions sont additionnées en sortie. Le calcul des couches quantifiées utilise FP16 dans cet exemple.</a:t>
            </a:r>
            <a:endParaRPr/>
          </a:p>
          <a:p xmlns:a="http://schemas.openxmlformats.org/drawingml/2006/main">
            <a:pPr marL="0" lvl="0" indent="0" algn="l">
              <a:spcBef>
                <a:spcPts val="0"/>
              </a:spcBef>
              <a:spcAft>
                <a:spcPts val="0"/>
              </a:spcAft>
              <a:buNone/>
            </a:pPr>
            <a:r>
              <a:t>Base stockée en NF4 ; calcul en FP16 ici ; seuls les adaptateurs sont entraînables.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Poids de base stockés en 4 bits ; adaptateurs entraînés séparément.</a:t>
            </a:r>
            <a:endParaRPr/>
          </a:p>
          <a:p xmlns:a="http://schemas.openxmlformats.org/drawingml/2006/main">
            <a:pPr marL="0" lvl="0" indent="0" algn="l">
              <a:spcBef>
                <a:spcPts val="0"/>
              </a:spcBef>
              <a:spcAft>
                <a:spcPts val="0"/>
              </a:spcAft>
              <a:buNone/>
            </a:pPr>
            <a:r>
              <a:t>NF4 est un format de quantification, pas un type de calcul universel.</a:t>
            </a:r>
            <a:endParaRPr/>
          </a:p>
          <a:p xmlns:a="http://schemas.openxmlformats.org/drawingml/2006/main">
            <a:pPr marL="0" lvl="0" indent="0" algn="l">
              <a:spcBef>
                <a:spcPts val="0"/>
              </a:spcBef>
              <a:spcAft>
                <a:spcPts val="0"/>
              </a:spcAft>
              <a:buNone/>
            </a:pPr>
            <a:r>
              <a:t>Le calcul utilise une précision choisie, par exemple FP16 sur T4.</a:t>
            </a:r>
            <a:endParaRPr/>
          </a:p>
          <a:p xmlns:a="http://schemas.openxmlformats.org/drawingml/2006/main">
            <a:pPr marL="0" lvl="0" indent="0" algn="l">
              <a:spcBef>
                <a:spcPts val="0"/>
              </a:spcBef>
              <a:spcAft>
                <a:spcPts val="0"/>
              </a:spcAft>
              <a:buNone/>
            </a:pPr>
            <a:r>
              <a:t>Préparer le modèle quantifié avant d'ajouter et entraîner LoRA.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https://arxiv.org/abs/2305.14314</a:t>
            </a:r>
            <a:endParaRPr/>
          </a:p>
          <a:p xmlns:a="http://schemas.openxmlformats.org/drawingml/2006/main">
            <a:pPr marL="0" lvl="0" indent="0" algn="l">
              <a:spcBef>
                <a:spcPts val="0"/>
              </a:spcBef>
              <a:spcAft>
                <a:spcPts val="0"/>
              </a:spcAft>
              <a:buNone/>
            </a:pPr>
            <a:r>
              <a:t>https://huggingface.co/docs/peft/developer_guides/quantization</a:t>
            </a:r>
            <a:endParaRPr/>
          </a:p>
          <a:p xmlns:a="http://schemas.openxmlformats.org/drawingml/2006/main">
            <a:pPr marL="0" lvl="0" indent="0" algn="l">
              <a:spcBef>
                <a:spcPts val="0"/>
              </a:spcBef>
              <a:spcAft>
                <a:spcPts val="0"/>
              </a:spcAft>
              <a:buNone/>
            </a:pPr>
            <a:r>
              <a:t>https://huggingface.co/docs/transformers/quantization/bitsandbytes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81 — La mémoire des poids n'est pas la mémoire totale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ANIMATION — 10 min</a:t>
            </a:r>
            <a:endParaRPr/>
          </a:p>
          <a:p xmlns:a="http://schemas.openxmlformats.org/drawingml/2006/main">
            <a:pPr marL="0" lvl="0" indent="0" algn="l">
              <a:spcBef>
                <a:spcPts val="0"/>
              </a:spcBef>
              <a:spcAft>
                <a:spcPts val="0"/>
              </a:spcAft>
              <a:buNone/>
            </a:pPr>
            <a:r>
              <a:t>4 min d’ordre de grandeur, 3 min d’inventaire, 3 min de correction. Demander ce qu’un estimateur qui ne compte que les poids oublie pendant l’entraînement.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ORALE</a:t>
            </a:r>
            <a:endParaRPr/>
          </a:p>
          <a:p xmlns:a="http://schemas.openxmlformats.org/drawingml/2006/main">
            <a:pPr marL="0" lvl="0" indent="0" algn="l">
              <a:spcBef>
                <a:spcPts val="0"/>
              </a:spcBef>
              <a:spcAft>
                <a:spcPts val="0"/>
              </a:spcAft>
              <a:buNone/>
            </a:pPr>
            <a:r>
              <a:t>« La mémoire totale est approximativement la somme des poids, des gradients, des états de l’optimiseur, des activations et des buffers. » Le signe environ rappelle qu’il s’agit d’un modèle de comptage, pas d’une prédiction exacte du pic.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SYMBOLES, DIMENSIONS ET UNITÉS</a:t>
            </a:r>
            <a:endParaRPr/>
          </a:p>
          <a:p xmlns:a="http://schemas.openxmlformats.org/drawingml/2006/main">
            <a:pPr marL="0" lvl="0" indent="0" algn="l">
              <a:spcBef>
                <a:spcPts val="0"/>
              </a:spcBef>
              <a:spcAft>
                <a:spcPts val="0"/>
              </a:spcAft>
              <a:buNone/>
            </a:pPr>
            <a:r>
              <a:t>Chaque M est une quantité de mémoire, à exprimer dans la même unité avant addition. M_poids couvre les paramètres de base et les adaptateurs. M_gradients stocke les dérivées associées aux paramètres entraînables. M_optimiseur couvre les états supplémentaires de la méthode d’optimisation. M_activations représente les valeurs intermédiaires conservées pour le backward ; elles dépendent notamment du batch et de la longueur. M_buffers couvre des tampons de travail et autres allocations. Un octet vaut huit bits ; un Go décimal vaut 10⁹ octets, tandis qu’un Gio vaut 2³⁰ octets.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CALCUL PAS À PAS</a:t>
            </a:r>
            <a:endParaRPr/>
          </a:p>
          <a:p xmlns:a="http://schemas.openxmlformats.org/drawingml/2006/main">
            <a:pPr marL="0" lvl="0" indent="0" algn="l">
              <a:spcBef>
                <a:spcPts val="0"/>
              </a:spcBef>
              <a:spcAft>
                <a:spcPts val="0"/>
              </a:spcAft>
              <a:buNone/>
            </a:pPr>
            <a:r>
              <a:t>1. Avec 0,5 milliard de paramètres arrondis et 16 bits par poids, compter 2 octets par poids.</a:t>
            </a:r>
            <a:endParaRPr/>
          </a:p>
          <a:p xmlns:a="http://schemas.openxmlformats.org/drawingml/2006/main">
            <a:pPr marL="0" lvl="0" indent="0" algn="l">
              <a:spcBef>
                <a:spcPts val="0"/>
              </a:spcBef>
              <a:spcAft>
                <a:spcPts val="0"/>
              </a:spcAft>
              <a:buNone/>
            </a:pPr>
            <a:r>
              <a:t>2. 0,5 × 10⁹ × 2 = 10⁹ octets, soit 1 Go de poids idéalisés.</a:t>
            </a:r>
            <a:endParaRPr/>
          </a:p>
          <a:p xmlns:a="http://schemas.openxmlformats.org/drawingml/2006/main">
            <a:pPr marL="0" lvl="0" indent="0" algn="l">
              <a:spcBef>
                <a:spcPts val="0"/>
              </a:spcBef>
              <a:spcAft>
                <a:spcPts val="0"/>
              </a:spcAft>
              <a:buNone/>
            </a:pPr>
            <a:r>
              <a:t>3. À quatre bits, chaque poids utilise idéalement 0,5 octet : 0,5 × 10⁹ × 0,5 = 0,25 Go, avant métadonnées et parties non quantifiées.</a:t>
            </a:r>
            <a:endParaRPr/>
          </a:p>
          <a:p xmlns:a="http://schemas.openxmlformats.org/drawingml/2006/main">
            <a:pPr marL="0" lvl="0" indent="0" algn="l">
              <a:spcBef>
                <a:spcPts val="0"/>
              </a:spcBef>
              <a:spcAft>
                <a:spcPts val="0"/>
              </a:spcAft>
              <a:buNone/>
            </a:pPr>
            <a:r>
              <a:t>4. Exemple d’addition distinct et fictif : 100 Mo de poids + 20 Mo de gradients + 40 Mo d’optimiseur + 80 Mo d’activations + 10 Mo de buffers = 250 Mo au total. Ces nombres n’ont pas été mesurés sur Qwen.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HYPOTHÈSES ET PIÈGE</a:t>
            </a:r>
            <a:endParaRPr/>
          </a:p>
          <a:p xmlns:a="http://schemas.openxmlformats.org/drawingml/2006/main">
            <a:pPr marL="0" lvl="0" indent="0" algn="l">
              <a:spcBef>
                <a:spcPts val="0"/>
              </a:spcBef>
              <a:spcAft>
                <a:spcPts val="0"/>
              </a:spcAft>
              <a:buNone/>
            </a:pPr>
            <a:r>
              <a:t>Les pics des composantes, les caches, l’allocateur et les états non quantifiés compliquent le total réel. Quatre bits pour les poids ne signifie pas quatre bits pour toutes les opérations ou toutes les activations. Le checkpointing échange du recalcul contre des activations stockées. Réduire la longueur peut couper la réponse cible ; réduire le micro-batch n’efface pas tous les coûts.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RÉPONSE</a:t>
            </a:r>
            <a:endParaRPr/>
          </a:p>
          <a:p xmlns:a="http://schemas.openxmlformats.org/drawingml/2006/main">
            <a:pPr marL="0" lvl="0" indent="0" algn="l">
              <a:spcBef>
                <a:spcPts val="0"/>
              </a:spcBef>
              <a:spcAft>
                <a:spcPts val="0"/>
              </a:spcAft>
              <a:buNone/>
            </a:pPr>
            <a:r>
              <a:t>« Les poids tiennent, donc l’entraînement tient ? » Non. Mesurer une étape complète et le pic réel avec la configuration du TP. Rapporter matériel, longueur, batch et méthode plutôt qu’une estimation présentée comme une mesure.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a:t>
            </a:r>
            <a:endParaRPr/>
          </a:p>
          <a:p xmlns:a="http://schemas.openxmlformats.org/drawingml/2006/main">
            <a:pPr marL="0" lvl="0" indent="0" algn="l">
              <a:spcBef>
                <a:spcPts val="0"/>
              </a:spcBef>
              <a:spcAft>
                <a:spcPts val="0"/>
              </a:spcAft>
              <a:buNone/>
            </a:pPr>
            <a:r>
              <a:t>• 0,5 milliard × 2 octets ≈ 1 Go pour des poids FP16 idéalisés.</a:t>
            </a:r>
            <a:endParaRPr/>
          </a:p>
          <a:p xmlns:a="http://schemas.openxmlformats.org/drawingml/2006/main">
            <a:pPr marL="0" lvl="0" indent="0" algn="l">
              <a:spcBef>
                <a:spcPts val="0"/>
              </a:spcBef>
              <a:spcAft>
                <a:spcPts val="0"/>
              </a:spcAft>
              <a:buNone/>
            </a:pPr>
            <a:r>
              <a:t>• À 4 bits : ≈ 0,25 Go théorique, avant métadonnées et poids non quantifiés.</a:t>
            </a:r>
            <a:endParaRPr/>
          </a:p>
          <a:p xmlns:a="http://schemas.openxmlformats.org/drawingml/2006/main">
            <a:pPr marL="0" lvl="0" indent="0" algn="l">
              <a:spcBef>
                <a:spcPts val="0"/>
              </a:spcBef>
              <a:spcAft>
                <a:spcPts val="0"/>
              </a:spcAft>
              <a:buNone/>
            </a:pPr>
            <a:r>
              <a:t>• Batch et longueur influencent fortement les activations.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LATEX DE LA FORMULE</a:t>
            </a:r>
            <a:endParaRPr/>
          </a:p>
          <a:p xmlns:a="http://schemas.openxmlformats.org/drawingml/2006/main">
            <a:pPr marL="0" lvl="0" indent="0" algn="l">
              <a:spcBef>
                <a:spcPts val="0"/>
              </a:spcBef>
              <a:spcAft>
                <a:spcPts val="0"/>
              </a:spcAft>
              <a:buNone/>
            </a:pPr>
            <a:r>
              <a:t>\begin{aligned}M_{\mathrm{total}}\approx{}&amp;M_{\mathrm{poids}}+M_{\mathrm{gradients}}+M_{\mathrm{optimiseur}}\\&amp;+M_{\mathrm{activations}}+M_{\mathrm{buffers}}\end{aligned}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 l'image de formule — LaTeX</a:t>
            </a:r>
            <a:endParaRPr/>
          </a:p>
          <a:p xmlns:a="http://schemas.openxmlformats.org/drawingml/2006/main">
            <a:pPr marL="0" lvl="0" indent="0" algn="l">
              <a:spcBef>
                <a:spcPts val="0"/>
              </a:spcBef>
              <a:spcAft>
                <a:spcPts val="0"/>
              </a:spcAft>
              <a:buNone/>
            </a:pPr>
            <a:r>
              <a:t>\begin{aligned}M_{\mathrm{total}}\approx{}&amp;M_{\mathrm{poids}}+M_{\mathrm{gradients}}+M_{\mathrm{optimiseur}}\\&amp;+M_{\mathrm{activations}}+M_{\mathrm{buffers}}\end{aligned}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Légende projetée</a:t>
            </a:r>
            <a:endParaRPr/>
          </a:p>
          <a:p xmlns:a="http://schemas.openxmlformats.org/drawingml/2006/main">
            <a:pPr marL="0" lvl="0" indent="0" algn="l">
              <a:spcBef>
                <a:spcPts val="0"/>
              </a:spcBef>
              <a:spcAft>
                <a:spcPts val="0"/>
              </a:spcAft>
              <a:buNone/>
            </a:pPr>
            <a:r>
              <a:t>M_total : mémoire totale approximative</a:t>
            </a:r>
            <a:endParaRPr/>
          </a:p>
          <a:p xmlns:a="http://schemas.openxmlformats.org/drawingml/2006/main">
            <a:pPr marL="0" lvl="0" indent="0" algn="l">
              <a:spcBef>
                <a:spcPts val="0"/>
              </a:spcBef>
              <a:spcAft>
                <a:spcPts val="0"/>
              </a:spcAft>
              <a:buNone/>
            </a:pPr>
            <a:r>
              <a:t>M_poids : paramètres du modèle et adaptateurs</a:t>
            </a:r>
            <a:endParaRPr/>
          </a:p>
          <a:p xmlns:a="http://schemas.openxmlformats.org/drawingml/2006/main">
            <a:pPr marL="0" lvl="0" indent="0" algn="l">
              <a:spcBef>
                <a:spcPts val="0"/>
              </a:spcBef>
              <a:spcAft>
                <a:spcPts val="0"/>
              </a:spcAft>
              <a:buNone/>
            </a:pPr>
            <a:r>
              <a:t>M_gradients, M_optimiseur : états d’apprentissage</a:t>
            </a:r>
            <a:endParaRPr/>
          </a:p>
          <a:p xmlns:a="http://schemas.openxmlformats.org/drawingml/2006/main">
            <a:pPr marL="0" lvl="0" indent="0" algn="l">
              <a:spcBef>
                <a:spcPts val="0"/>
              </a:spcBef>
              <a:spcAft>
                <a:spcPts val="0"/>
              </a:spcAft>
              <a:buNone/>
            </a:pPr>
            <a:r>
              <a:t>M_activations : valeurs intermédiaires conservées</a:t>
            </a:r>
            <a:endParaRPr/>
          </a:p>
          <a:p xmlns:a="http://schemas.openxmlformats.org/drawingml/2006/main">
            <a:pPr marL="0" lvl="0" indent="0" algn="l">
              <a:spcBef>
                <a:spcPts val="0"/>
              </a:spcBef>
              <a:spcAft>
                <a:spcPts val="0"/>
              </a:spcAft>
              <a:buNone/>
            </a:pPr>
            <a:r>
              <a:t>M_buffers : mémoire de travail et autres tampons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0,5 milliard × 2 octets = 1 Go de poids FP16 idéalisés, avant activations et autres états.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https://huggingface.co/docs/transformers/perf_train_gpu_one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82 — Quatre leviers à régler avec une 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présentation, 4 min de résolution d'un scénario, 3 min de correction. Scénario : la première étape échoue en mémoire, et les réponses cibles sont courtes mais les consignes très longues. Demander un ordre de diagnostic : vérifier ce qui est chargé, lire les longueurs, réduire micro-batch, puis choisir d'autres leviers sans supprimer le signal d'apprentissage. QUESTION : faut-il modifier tous les paramètres pour obtenir enfin une exécution ? RÉPONSE : une modification à la fois rend le résultat interprétable et la configuration reproductible. Le checkpointing économise de la mémoire en recalculant certaines activations pendant le backward ; il n'offre pas un gain gratuit. Les caches utiles à la génération ne sont pas toujours compatibles avec la configuration d'entraînement et doivent suivre les réglages du notebook. Le modèle reste le même au sein de la comparaison LoRA/QLoRA. Dans le TP, consigner un budget de temps et arrêter une expérience trop longue proprement en sauvegardant ce qui peut l'être. Une exécution courte valide le fonctionnement de la chaîne, pas une performance finale.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https://huggingface.co/docs/transformers/perf_train_gpu_one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83 — Après l'entraînement : base + adaptateur + tokenizer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schéma de fichiers, 4 min de protocole de comparaison, 3 min de questions. Un adaptateur contient la correction apprise et sa configuration ; il dépend du modèle de base compatible. Une petite taille de fichier ne signifie pas que toute l'inférence tient dans cette taille. QUESTION : peut-on charger l'adaptateur sur n'importe quel modèle de même famille ? RÉPONSE : non, l'architecture, les modules et le checkpoint doivent être compatibles. La fusion éventuelle est une opération distincte qui dépend des formats et de la quantification ; elle n'est pas nécessaire pour la démonstration pédagogique. Dans le TP, recharger explicitement base, adaptateur et tokenizer, puis exécuter les mêmes cas réservés. Faire conserver le prompt rendu, le décodage et la limite de sortie. Mesurer séparément respect du format, contenu demandé et inventions. Une réponse améliorée isolée n'établit pas un gain global. Demander aussi un cas où l'adaptation régresse. L'objectif est une comparaison honnête avec le point de départ, accompagnée de la configuration réellement entraînée et du nombre de pas.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https://huggingface.co/docs/peft/developer_guides/checkpoint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84 — Résumer : conserver les faits utiles sous une contrainte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2 min de lecture, 5 min de résumés individuels puis comparaison, 3 min de débrief. Demander une phrase pour un agent de support qui reprend le dossier. Une bonne proposition serait : « Le client signale qu'un article manque dans le colis AB123 reçu mardi et demande une vérification. » Cette phrase est un exemple original de correction, pas une sortie de modèle mesurée.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un résumé plus court est-il toujours meilleur ? RÉPONSE : il peut omettre un fait nécessaire à l'action. Distinguer extractif, qui sélectionne du texte source, et abstrait, qui reformule ou combine. Une baseline extractive simple permet de comparer le bénéfice et le risque de la génération. Le modèle instructionnel peut résumer sans adaptation spécifique, mais ses capacités sur notre français et nos entrées courtes doivent être observées. Dans le TP06, le résumé possède son propre entraînement LoRA autonome : 16 comptes rendus fictifs train, 2 validation et 4 test, avec 12 pas prévus. L'adaptateur support du TP05 n'est pas réutilisé comme s'il était spécialisé en résumé. On compare extractif, modèle initial et modèle adapté sur les mêmes quatre sources réservées, sans promettre de gain. Les étudiants commencent par définir une liste de faits de référence.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Commencer par la source : un compte rendu contient des faits, une demande et parfois une incertitude. Repérer référence, date, problème et action avant de lire une sortie de modèle.</a:t>
            </a:r>
            <a:endParaRPr/>
          </a:p>
          <a:p xmlns:a="http://schemas.openxmlformats.org/drawingml/2006/main">
            <a:pPr marL="0" lvl="0" indent="0" algn="l">
              <a:spcBef>
                <a:spcPts val="0"/>
              </a:spcBef>
              <a:spcAft>
                <a:spcPts val="0"/>
              </a:spcAft>
              <a:buNone/>
            </a:pPr>
            <a:r>
              <a:t>2. La branche extractive sélectionne des morceaux de la source ; elle peut omettre un fait important même sans introduire de mots nouveaux. La branche générative tokenise source et consigne, puis produit une séquence de résumé.</a:t>
            </a:r>
            <a:endParaRPr/>
          </a:p>
          <a:p xmlns:a="http://schemas.openxmlformats.org/drawingml/2006/main">
            <a:pPr marL="0" lvl="0" indent="0" algn="l">
              <a:spcBef>
                <a:spcPts val="0"/>
              </a:spcBef>
              <a:spcAft>
                <a:spcPts val="0"/>
              </a:spcAft>
              <a:buNone/>
            </a:pPr>
            <a:r>
              <a:t>3. Pour la comparaison du TP06, distinguer modèle initial et même base avec un LoRA entraîné spécifiquement sur le résumé. Les trois méthodes reçoivent les mêmes sources réservées ; le LoRA support du TP05 n’est pas un substitut à cet adaptateur.</a:t>
            </a:r>
            <a:endParaRPr/>
          </a:p>
          <a:p xmlns:a="http://schemas.openxmlformats.org/drawingml/2006/main">
            <a:pPr marL="0" lvl="0" indent="0" algn="l">
              <a:spcBef>
                <a:spcPts val="0"/>
              </a:spcBef>
              <a:spcAft>
                <a:spcPts val="0"/>
              </a:spcAft>
              <a:buNone/>
            </a:pPr>
            <a:r>
              <a:t>4. Les flèches vers l’évaluation relient chaque sortie à la référence et aux faits sources : ROUGE fournit un recouvrement lexical, la grille humaine vérifie fidélité, couverture et format.</a:t>
            </a:r>
            <a:endParaRPr/>
          </a:p>
          <a:p xmlns:a="http://schemas.openxmlformats.org/drawingml/2006/main">
            <a:pPr marL="0" lvl="0" indent="0" algn="l">
              <a:spcBef>
                <a:spcPts val="0"/>
              </a:spcBef>
              <a:spcAft>
                <a:spcPts val="0"/>
              </a:spcAft>
              <a:buNone/>
            </a:pPr>
            <a:r>
              <a:t>5. Question : une flèche d’entraînement depuis la référence test vers le modèle est-elle admissible ? Non, le test reste hors adaptation et sélection. Le TP autonome utilise 16 train, 2 validation, 4 test et 12 pas prévus ; l’objectif est la maîtrise de la chaîne, pas une performance métier démontrée.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Accroche : Source : colis AB123 reçu mardi ; un article manque ; le client demande une vérification.</a:t>
            </a:r>
            <a:endParaRPr/>
          </a:p>
          <a:p xmlns:a="http://schemas.openxmlformats.org/drawingml/2006/main">
            <a:pPr marL="0" lvl="0" indent="0" algn="l">
              <a:spcBef>
                <a:spcPts val="0"/>
              </a:spcBef>
              <a:spcAft>
                <a:spcPts val="0"/>
              </a:spcAft>
              <a:buNone/>
            </a:pPr>
            <a:r>
              <a:t>• Faits à préserver : référence, date, problème et demande.</a:t>
            </a:r>
            <a:endParaRPr/>
          </a:p>
          <a:p xmlns:a="http://schemas.openxmlformats.org/drawingml/2006/main">
            <a:pPr marL="0" lvl="0" indent="0" algn="l">
              <a:spcBef>
                <a:spcPts val="0"/>
              </a:spcBef>
              <a:spcAft>
                <a:spcPts val="0"/>
              </a:spcAft>
              <a:buNone/>
            </a:pPr>
            <a:r>
              <a:t>• Détails à ne pas inventer : remboursement, responsable, nouveau délai.</a:t>
            </a:r>
            <a:endParaRPr/>
          </a:p>
          <a:p xmlns:a="http://schemas.openxmlformats.org/drawingml/2006/main">
            <a:pPr marL="0" lvl="0" indent="0" algn="l">
              <a:spcBef>
                <a:spcPts val="0"/>
              </a:spcBef>
              <a:spcAft>
                <a:spcPts val="0"/>
              </a:spcAft>
              <a:buNone/>
            </a:pPr>
            <a:r>
              <a:t>• Comparer une extraction simple et une génération.</a:t>
            </a:r>
            <a:endParaRPr/>
          </a:p>
          <a:p xmlns:a="http://schemas.openxmlformats.org/drawingml/2006/main">
            <a:pPr marL="0" lvl="0" indent="0" algn="l">
              <a:spcBef>
                <a:spcPts val="0"/>
              </a:spcBef>
              <a:spcAft>
                <a:spcPts val="0"/>
              </a:spcAft>
              <a:buNone/>
            </a:pPr>
            <a:r>
              <a:t>• Fixer longueur et destinataire avant d'évaluer.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Description accessible du schéma</a:t>
            </a:r>
            <a:endParaRPr/>
          </a:p>
          <a:p xmlns:a="http://schemas.openxmlformats.org/drawingml/2006/main">
            <a:pPr marL="0" lvl="0" indent="0" algn="l">
              <a:spcBef>
                <a:spcPts val="0"/>
              </a:spcBef>
              <a:spcAft>
                <a:spcPts val="0"/>
              </a:spcAft>
              <a:buNone/>
            </a:pPr>
            <a:r>
              <a:t>Trois faits de la source, référence AB123 reçue mardi, article manquant et vérification demandée, sont reliés à leurs formulations dans un résumé. Un remboursement effectué est signalé comme non étayé.</a:t>
            </a:r>
            <a:endParaRPr/>
          </a:p>
          <a:p xmlns:a="http://schemas.openxmlformats.org/drawingml/2006/main">
            <a:pPr marL="0" lvl="0" indent="0" algn="l">
              <a:spcBef>
                <a:spcPts val="0"/>
              </a:spcBef>
              <a:spcAft>
                <a:spcPts val="0"/>
              </a:spcAft>
              <a:buNone/>
            </a:pPr>
            <a:r>
              <a:t>Chaque affirmation du résumé doit être étayée par un fait de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associés à l'illustration</a:t>
            </a:r>
            <a:endParaRPr/>
          </a:p>
          <a:p xmlns:a="http://schemas.openxmlformats.org/drawingml/2006/main">
            <a:pPr marL="0" lvl="0" indent="0" algn="l">
              <a:spcBef>
                <a:spcPts val="0"/>
              </a:spcBef>
              <a:spcAft>
                <a:spcPts val="0"/>
              </a:spcAft>
              <a:buNone/>
            </a:pPr>
            <a:r>
              <a:t>Source : colis AB123 reçu mardi ; un article manque ; le client demande une vérification.</a:t>
            </a:r>
            <a:endParaRPr/>
          </a:p>
          <a:p xmlns:a="http://schemas.openxmlformats.org/drawingml/2006/main">
            <a:pPr marL="0" lvl="0" indent="0" algn="l">
              <a:spcBef>
                <a:spcPts val="0"/>
              </a:spcBef>
              <a:spcAft>
                <a:spcPts val="0"/>
              </a:spcAft>
              <a:buNone/>
            </a:pPr>
            <a:r>
              <a:t>Faits à préserver : référence, date, problème et demande.</a:t>
            </a:r>
            <a:endParaRPr/>
          </a:p>
          <a:p xmlns:a="http://schemas.openxmlformats.org/drawingml/2006/main">
            <a:pPr marL="0" lvl="0" indent="0" algn="l">
              <a:spcBef>
                <a:spcPts val="0"/>
              </a:spcBef>
              <a:spcAft>
                <a:spcPts val="0"/>
              </a:spcAft>
              <a:buNone/>
            </a:pPr>
            <a:r>
              <a:t>Détails à ne pas inventer : remboursement, responsable, nouveau délai.</a:t>
            </a:r>
            <a:endParaRPr/>
          </a:p>
          <a:p xmlns:a="http://schemas.openxmlformats.org/drawingml/2006/main">
            <a:pPr marL="0" lvl="0" indent="0" algn="l">
              <a:spcBef>
                <a:spcPts val="0"/>
              </a:spcBef>
              <a:spcAft>
                <a:spcPts val="0"/>
              </a:spcAft>
              <a:buNone/>
            </a:pPr>
            <a:r>
              <a:t>Comparer une extraction simple et une génération.</a:t>
            </a:r>
            <a:endParaRPr/>
          </a:p>
          <a:p xmlns:a="http://schemas.openxmlformats.org/drawingml/2006/main">
            <a:pPr marL="0" lvl="0" indent="0" algn="l">
              <a:spcBef>
                <a:spcPts val="0"/>
              </a:spcBef>
              <a:spcAft>
                <a:spcPts val="0"/>
              </a:spcAft>
              <a:buNone/>
            </a:pPr>
            <a:r>
              <a:t>Fixer longueur et destinataire avant d'évaluer.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https://huggingface.co/learn/llm-course/fr/chapter7/5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85 — ROUGE mesure un recouvrement, pas la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d'intuition, 4 min de contre-exemples, 3 min de conclusion. Comparer la référence « Le colis est arrivé mardi » avec « Le colis n'est pas arrivé mardi ». Le recouvrement lexical peut rester élevé alors que le fait central est inversé. À l'inverse, « Livraison effectuée le mardi » peut exprimer un sens proche avec moins de mots identiques. QUESTION : faut-il abandonner toute métrique automatique ? RÉPONSE : non, elle fournit un signal reproductible si l'on comprend son objet et ses limites. Décrire le prétraitement et la tokenisation utilisés, particulièrement pour le français ; ne pas appliquer aveuglément un stemming conçu pour une autre langue. Une référence unique ne couvre pas toutes les formulations valides. Dans le TP, ROUGE accompagne une grille de fidélité factuelle et de couverture, il ne les remplace pas. Les notes humaines doivent citer un élément source pour chaque invention ou omission. Les scores des textes pédagogiques ne sont pas un benchmark général du modèle. L'intérêt de l'exercice est de voir quand l'indicateur et le jugement sur les faits divergent.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86 — Relier chaque affirmation à une preuve dans la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classement d'affirmations, 3 min d'accord inter-évaluateurs, 3 min de correction. La grille force à décomposer un texte fluide en faits contrôlables. Chaque affirmation reçoit un passage justificatif ou l'indication qu'elle n'est pas appuyée. Les omissions demandent l'opération inverse : parcourir les faits importants de la source et vérifier leur présence dans le résumé. QUESTION : une affirmation plausible mais absente doit-elle être acceptée ? RÉPONSE : pour un résumé fidèle au document fourni, la plausibilité ne suffit pas. Distinguer contradiction directe et ajout non étayé ; les deux peuvent être problématiques mais ne sont pas identiques. Faire travailler deux évaluateurs sans se concerter, puis discuter leurs désaccords sur l'importance d'un fait. Dans le TP, une grille courte accompagne chaque résumé : fidélité, couverture, format et lisibilité. Les notes ne doivent pas être agrégées au point de masquer une invention grave. Une sortie grammaticalement élégante ne compense pas un remboursement inventé. Le jour 5 utilisera la même logique pour évaluer les réponses générées du projet.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87 — Vérifier ce qui est réellement entraîné et évalué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individuelles, 5 min entre pairs, 6 min de correction. Réponse 1 : SFT décrit une supervision par démonstrations ; LoRA décrit une adaptation par petites matrices de rang réduit. Réponse 2 : non, la base est quantifiée pour son stockage tandis que le calcul et les adaptateurs utilisent d'autres précisions selon la configuration. Réponse 3 : cela vérifie que la réponse attendue contribue à la loss et que le prompt ou le padding ne sont pas supervisés par erreur. Réponse 4 : non, le recouvrement lexical ne prouve pas la factualité. Ajouter le calcul rapide d'une matrice 100 × 100 avec rang 4 : 10000 paramètres complets contre 800 pour A et B. Faire demander ce qui manque dans un budget basé uniquement sur les poids : activations, gradients, états et buffers. Avant le TP, chaque binôme écrit un critère de réussite observable et un critère qui invaliderait l'expérience. Cette formulation prévient la tentation de justifier après coup toute baisse de loss comme un succès.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88 — TP 4A · Préparer les démonstrations et la supervision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80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d'environnement T4, 20 min d'audit des données, 20 min de template et longueurs, 15 min de batch et masques, 10 min de contrôle croisé. Ouvrir notebooks/etudiants/05_j4_sft_lora.ipynb. Le modèle est Qwen/Qwen2.5-0.5B-Instruct. POINT DE CONTRÔLE : chaque binôme décode les positions effectivement supervisées et montre que la completion est présente après troncature. La configuration utilise completion_only_loss=True pour le format prompt/completion ; ne pas la remplacer sans comprendre le contrat. RÉSULTAT ATTENDU : un jeu audité et une préparation explicable avant toute optimisation. Si le GPU manque, terminer intégralement l'audit, le calcul de paramètres LoRA et l'inspection du format sur la voie prévue ; consigner que l'entraînement GPU n'a pas eu lieu. EXTENSION : ajouter un exemple avec information manquante et vérifier qu'il enseigne une demande de précision, pas une invention. Le formateur valide le point de contrôle avant le lancement du bloc suivant.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89 — TP 4B · Entraîner un adaptateur et mesurer l'effet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80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configuration, 25 min d'entraînement et d'exercices parallèles, 20 min de comparaison, 20 min de sauvegarde et restitution. POINT DE CONTRÔLE : afficher les paramètres entraînables et vérifier que les poids de base sont gelés selon la méthode retenue. Le chemin LoRA est la référence ; la variante QLoRA dépend de l'environnement et doit être comparée à configuration documentée. RÉSULTAT ATTENDU : une expérience finie et traçable, pas une garantie d'amélioration. Mesurer mémoire et temps réellement observés, sans recopier les ordres de grandeur du matin comme s'ils étaient des mesures. Pendant l'entraînement, évaluer des sorties de base et calculer le ratio des paramètres. Après sauvegarde, recharger l'adaptateur avec la base compatible. EXTENSION : comparer un autre rang sur validation si le budget le permet, sans consulter à répétition le test. La restitution doit montrer un gain, une régression ou une absence de changement, puis une hypothèse liée aux données et au nombre de pas.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90 — TP 4C · Fine-tuner un LoRA dédié au résumé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5 min d'environnement, 10 min d'audit des données et de la supervision, 5 min de baseline extractive sur développement, 20 min d'entraînement borné et d'exercices, soit 40 minutes. Ouvrir notebooks/etudiants/06_j4_resume_evaluation.ipynb. Ce TP est autonome : il repart du modèle Qwen2.5-0.5B-Instruct et entraîne un adaptateur LoRA spécifiquement pour le résumé. Le jeu original fictif contient 16 exemples train, 2 validation et 4 test ; 12 pas sont prévus pour observer la chaîne, pas pour garantir une généralisation. POINT DE CONTRÔLE : les cibles résument les faits sources sans inventer un remboursement ou effacer une incertitude, et les réponses ne sont pas tronquées. RÉSULTAT ATTENDU : une configuration, un nombre de pas réellement exécutés et un adaptateur identifié. Les deux cas de validation servent uniquement aux choix prévus ; le test final reste réservé. Si l'entraînement ne peut pas être réalisé, conserver l'évaluation extractive et le protocole, avec la mention non exécuté pour l'adaptation. Ne pas remplacer cet entraînement par le LoRA support du TP05.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91 — TP 4D · Comparer extractif, base et résumé adapté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4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sorties comparatives, 15 min de métriques et audit croisé, 10 min de sauvegarde et conclusion, soit 40 minutes ; avec le bloc précédent, le TP06 totalise 80 minutes. POINT DE CONTRÔLE : extractif, modèle initial et modèle adapté reçoivent les mêmes quatre sources test, avec un prompt et un décodage comparables pour les deux modèles génératifs. RÉSULTAT ATTENDU : un tableau de sorties et de mesures effectivement observées, sans gain imposé. Avec seulement quatre tests et douze pas, l'expérience prouve surtout la maîtrise du pipeline ; elle ne démontre aucune qualité métier générale. Chaque invention ou omission est reliée à la source. Les binômes évaluent sans connaître d'abord le nom de la méthode lorsque c'est possible. Vérifier que l'archive et la model card identifient l'adaptateur résumé, sa base et les données, distincts du support. Si une variante n'a pas été exécutée, laisser sa mesure absente et l'expliquer. Une meilleure métrique lexicale peut coexister avec une erreur factuelle grave ; la conclusion doit le dire.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https://aclanthology.org/W04-1013/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92 — Jour 5 · Évaluer, présenter et défendre un système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DURÉE : 5 min. Demander un exemple de différence entre « le code fonctionne » et « le système est utile ». Relier les productions de la semaine : représentation du jour 1, mécanisme du jour 2, adaptation du jour 3 et supervision du jour 4. Le projet final ne recommence pas tout depuis zéro ; il réutilise les artefacts et le protocole appris. La comparaison par défaut porte sur la classification du support : baseline TF-IDF, génération zéro-shot avec le petit LLM et classifieur fine-tuné si l'archive du jour 3 est disponible. Une autre tâche peut être retenue si son évaluation est définie. L'interface Gradio montre le comportement, tandis que le test réservé et l'analyse d'erreurs fournissent la preuve. La publication Hub est optionnelle ; l'évaluation et la documentation restent obligatoires. LIVRABLE DE LA JOURNÉE : À produire : résultats traçables, interface et limites explicites.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https://web.stanford.edu/class/cs224n/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93 — Avant le score, écrire le contrat d'évaluation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lecture, 5 min de contrat en binôme, 3 min de mise en commun. Faire compléter une phrase : « Nous cherchons à orienter des demandes françaises parmi cinq intentions ; nous choisirons selon… ». Ajouter un critère principal, un critère de coût et une limite. QUESTION : pourquoi écrire ce contrat avant l'expérience ? RÉPONSE : pour éviter de choisir après coup le score qui favorise la méthode préférée. La population doit préciser que le corpus est fictif et limité ; « messages clients en général » serait une généralisation excessive. Un bon contrat décrit aussi les cas exclus et la conduite face à une entrée ambiguë. Dans le projet, le test final ne doit pas être utilisé pour inventer les prompts ou les règles de parsing. Le seuil d'acceptation ne peut pas être fixé honnêtement à partir d'un résultat déjà vu sans le reconnaître. Demander aux étudiants quel résultat les conduirait à conserver TF-IDF. Cette question rend possible une conclusion négative ou nuancée et évite de noter la taille du modèle plutôt que la qualité du raisonnement.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94 — Comparer qualité, coût et fiabilité d'exécution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scénario de choix, 3 min de discussion. Donner deux systèmes fictifs : A atteint 0,84 de macro-F1 avec une faible latence, B atteint 0,85 mais demande beaucoup plus de mémoire et produit des erreurs de format. Les nombres servent à discuter, pas à annoncer les performances des notebooks. QUESTION : B est-il nécessairement préférable ? RÉPONSE : le choix dépend de l'incertitude, des contraintes et de la nature des erreurs. Une démo fluide peut masquer une initialisation très coûteuse ; une mesure de temps doit préciser si elle inclut le chargement. La robustesse se teste sur des cas définis, et la reproductibilité se démontre par un rechargement ou une exécution indépendante. Dans le projet, les étudiants doivent rapporter au moins une mesure de coût et un exemple d'échec. Si le GPU n'était pas disponible, ils décrivent cette limitation et ne remplacent pas une mesure absente par une estimation présentée comme réelle. L'évaluation récompense la capacité à prendre une décision soutenue par les observations disponibles.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95 — Une baseline zéro-shot exige aussi un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construction du prompt, 3 min de cas de parsing, 3 min de correction. Zéro-shot signifie ici absence de démonstrations annotées dans le prompt pour cette tâche ; le modèle instructionnel a bien une histoire d'entraînement préalable. Lui demander l'un des cinq labels n'en fait pas un classifieur calibré. QUESTION : si la réponse est « probablement livraison, mais aussi facturation », peut-on choisir livraison à la main ? RÉPONSE : le parsing doit avoir été défini avant l'évaluation ; une intervention opportuniste fausse la comparaison. Une sortie invalide doit rester comptée dans les résultats et faire l'objet d'une mesure de validité de format. Le prompt se développe sur validation, puis est figé pour test. Éviter d'inclure accidentellement la vraie réponse dans l'entrée. Dans le projet, Qwen2.5-0.5B-Instruct sert de baseline locale modeste ; son résultat ne représente pas tous les LLM. La comparaison porte sur les mêmes messages avec les mêmes labels, et non sur une démonstration choisie face à un score agrégé d'une autre méthode.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https://huggingface.co/docs/transformers/chat_templating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96 — La métrique dépend de l'unité de réussite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rappel, 4 min d'appariement de mauvais scores, 3 min de correction. Donner des exemples d'indicateurs mal choisis : accuracy de tokens pour conclure sur la NER, similarité sémantique pour prouver un fait, longueur moyenne pour juger un résumé. Demander pourquoi chaque mesure est insuffisante. QUESTION : peut-on agréger toutes les tâches dans une seule note de « qualité NLP » ? RÉPONSE : cela demande une pondération d'usage explicite ; sinon le nombre cache des unités différentes. Le tableau est un point de départ, pas une liste universelle. Pour la recherche à plusieurs documents pertinents, préciser le dénominateur de Recall@k ; pour la génération, séparer format et contenu. Dans le projet, le rapport doit relier la métrique au contrat de la diapositive précédente. Les métriques par classe ou par catégorie d'erreur donnent le contexte nécessaire à une moyenne globale. Faire calculer manuellement un exemple de la tâche choisie avant d'utiliser la bibliothèque. Cette vérification protège contre une implémentation qui retourne un nombre valide mais répond à la mauvaise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https://scikit-learn.org/stable/modules/model_evaluation.html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97 — Découper les résultats pour trouver les fragilités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définition des tranches, 4 min de proposition par binôme, 3 min de discussion. Une moyenne peut masquer une bonne performance sur des messages simples et un échec sur des formulations longues ou ambiguës. Choisir des tranches en rapport avec l'usage, puis rapporter leur effectif. QUESTION : si une tranche contient deux exemples et les deux sont faux, peut-on annoncer que le modèle échoue toujours dans ce cas ? RÉPONSE : on a identifié un signal à investiguer, pas une fréquence fiable. Ne pas multiplier les découpages jusqu'à trouver une différence spectaculaire sans signaler l'exploration. Le corpus fictif permet de construire des contre-exemples contrôlés mais ne représente pas toutes les langues, pratiques ou populations. Dans le projet, chaque binôme choisit deux tranches à l'avance et conserve une catégorie pour les erreurs découvertes. Distinguer robustesse orthographique et équité sociale : tester quelques fautes ne démontre pas l'absence de biais envers des groupes. La restitution doit dire quelles conditions ont été observées et lesquelles restent hors du périmètre.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98 — Un petit test produit un résultat incertain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calcul, 3 min de comparaison, 3 min de discussion. Si un système passe de 17 à 18 réponses correctes sur vingt, son accuracy passe de 85 à 90 %. Les cinq points peuvent correspondre à un seul cas particulier. QUESTION : une différence affichée avec trois décimales est-elle plus certaine ? RÉPONSE : la précision d'affichage ne change pas la quantité d'information. Pour comparer deux systèmes, conserver l'appariement des messages aide à comprendre sur quels cas ils divergent. Un bootstrap peut donner une indication de variabilité, mais doit respecter l'unité d'indépendance ; si des paraphrases appartiennent à un même scénario, rééchantillonner les groupes est plus pertinent que traiter les lignes comme indépendantes. Les répétitions de graines répondent à une autre question : sensibilité de l'entraînement. Dans le projet court, un tableau des désaccords et des effectifs est prioritaire à une procédure statistique mal comprise. Les intervalles éventuels ne corrigent pas un test biaisé ou artificiel. Exiger une conclusion proportionnée à la taille et à la nature des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99 — Une grille humaine doit rendre les jugements comparables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de notation indépendante, 3 min de discussion des écarts. Donner deux sorties courtes et demander à chacun une note accompagnée d'une citation du texte. Les niveaux ne deviennent utiles que si les évaluateurs partagent des exemples de ce qui compte comme une erreur. QUESTION : faut-il faire une moyenne qui permet à une belle rédaction de compenser un fait inventé ? RÉPONSE : cela dépend du contrat, mais pour le support une invention d'action peut constituer un critère bloquant distinct du score moyen. La grille donne des dimensions parallèles ; elle ne prescrit pas d'agrégation unique. Faire distinguer couverture et fidélité avec un résumé très court mais entièrement vrai. Dans le projet, deux étudiants évaluent indépendamment un petit échantillon, puis documentent leurs désaccords. Une personne qui connaît la méthode peut avoir des attentes ; masquer le nom du système réduit une partie de ce biais. Le rapport conserve les commentaires qui justifient les notes. Il ne doit pas prétendre mesurer objectivement tout aspect de la qualité avec quatre nombres.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100 — Un LLM juge peut aider, mais il faut aussi le contrôler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principe, 3 min de conception d'un contrôle, 3 min de discussion. Un juge automatique peut accélérer une première lecture, mais il peut préférer une réponse longue, élégante ou placée en première position. Il peut aussi partager des erreurs avec le modèle évalué. QUESTION : demander au même petit LLM s'il a bien répondu constitue-t-il une validation indépendante ? RÉPONSE : non ; l'auto-évaluation est une observation supplémentaire, pas une preuve. Faire inverser l'ordre de deux réponses identiques pour tester une sensibilité de position. Si les textes évalués contiennent des instructions, le juge doit les traiter comme des données de la tâche ; cette frontière fait partie des risques d'une évaluation automatisée. Dans le projet, le juge LLM reste optionnel et ne remplace pas la grille humaine du petit échantillon. Aucune API payante n'est nécessaire. Si un outil externe est utilisé en extension, documenter modèle, version, prompt et données envoyées. Les notes obtenues doivent être comparées à des jugements humains avant toute conclusion générale.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https://arxiv.org/abs/2306.05685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101 — Analyser une erreur pour décider d'une action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lecture, 4 min sur une erreur réelle du binôme, 3 min de restitution. Chaque groupe choisit un échec et écrit trois éléments : observation exacte, hypothèse de cause, expérience minimale pour départager les hypothèses. QUESTION : peut-on conclure « le modèle manque de données » à partir d'une seule erreur ? RÉPONSE : c'est une hypothèse trop générale ; il faut préciser quelles données et quel comportement elles devraient changer. Si une référence de commande a été tronquée, ajouter des époques ne la rendra pas visible. Si le vrai label est contestable, entraîner plus longtemps peut apprendre plus fortement une incohérence. Dans le projet, une seule amélioration ciblée est suffisante si elle est testée proprement sur validation. Les étudiants doivent conserver les erreurs initiales et les nouvelles prédictions pour montrer gains et régressions. Le test réservé intervient après le choix. Une analyse qui conduit à ne pas modifier le modèle mais à clarifier la tâche peut être une excellente décision d'ingénierie.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102 — Tester la robustesse avec des variations contrôlées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consigne, 5 min de création de paires, 3 min de mise en commun. Chaque binôme crée deux paires : une transformation qui devrait préserver la sortie et une qui devrait la changer. Paraphraser « mon mot de passe ne fonctionne plus » peut conserver compte ; transformer « je veux retourner le produit » en « je ne veux pas retourner le produit » demande une discussion du contexte et du schéma de labels. QUESTION : faut-il forcer une des cinq classes pour une demande de recette de cuisine ? RÉPONSE : le classifieur fermé le fera probablement ; une application doit définir comment reconnaître ou traiter les entrées hors domaine. Un score maximal faible n'est pas automatiquement un détecteur fiable, et un seuil demande une validation dédiée. Dans le projet, le jeu de robustesse reste séparé du test principal et ses exemples sont documentés. Pour une interface générative, tester aussi une entrée qui demande d'ignorer la consigne, sans prétendre que quelques essais démontrent une sécurité générale. Les étudiants rapportent précisément les comportements observés.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103 — Mesurer la latence dans des conditions compréhensibles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protocole, 3 min de repérage d'une mesure trompeuse, 3 min de correction. Une première exécution inclut parfois téléchargement, allocation et initialisation ; les suivantes peuvent utiliser des caches. Comparer une seule première requête à la moyenne de dix requêtes à chaud serait injuste. QUESTION : pourquoi une simple différence d'horloges peut-elle sous-estimer le temps GPU ? RÉPONSE : certaines opérations sont asynchrones ; il faut attendre la fin du travail selon le protocole de mesure. Pour la génération, davantage de tokens produits augmente généralement la durée ; rapporter seulement une latence sans longueur est incomplet. La médiane donne une valeur typique et une mesure de dispersion révèle les variations, sans prétendre à un benchmark industriel sur quelques essais Colab. Dans le projet, mesurer des entrées identiques et limiter la charge. Ne pas inclure le temps humain d'annotation dans le temps d'inférence. La consommation réelle dépend de l'environnement partagé ; une mesure T4 de classe constitue un résultat local à décrire, pas une promesse de service.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https://pytorch.org/docs/stable/generated/torch.cuda.synchronize.html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104 — Une démo Gradio rend le comportement inspectable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CONCEPT ET ANIMATION</a:t>
            </a:r>
            <a:endParaRPr/>
          </a:p>
          <a:p xmlns:a="http://schemas.openxmlformats.org/drawingml/2006/main">
            <a:pPr marL="0" lvl="0" indent="0" algn="l">
              <a:spcBef>
                <a:spcPts val="0"/>
              </a:spcBef>
              <a:spcAft>
                <a:spcPts val="0"/>
              </a:spcAft>
              <a:buNone/>
            </a:pPr>
            <a:r>
              <a:t>DÉROULÉ : 3 min de parcours utilisateur, 4 min de conception en binôme, 3 min de discussion. L'interface doit permettre à une autre personne de tester le système sans comprendre le notebook. Elle affiche le label et, si utile, les scores avec une explication de leur portée.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 faut-il charger le modèle à chaque clic ? RÉPONSE : non, on initialise une fois puis on réutilise la fonction d'inférence. Prévoir les cas simples qui interrompent souvent une démo : texte vide, longueur excessive, modèle absent ou fichier d'archive non chargé. Le partage public est désactivé par défaut dans le notebook ; une publication est une action distincte de l'évaluation locale. Dans le projet, chaque groupe fournit trois exemples : normal, difficile et échec connu. Une interface agréable et rapide facilite l'inspection mais ne remplace pas le jeu de test. Si le modèle fine-tuné n'est pas disponible, la baseline peut alimenter la démo avec un nom fidèle à ce qui est chargé. Ne pas présenter un bouton fonctionnel comme une preuve de préparation à la production.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 GUIDÉE DU SCHÉMA</a:t>
            </a:r>
            <a:endParaRPr/>
          </a:p>
          <a:p xmlns:a="http://schemas.openxmlformats.org/drawingml/2006/main">
            <a:pPr marL="0" lvl="0" indent="0" algn="l">
              <a:spcBef>
                <a:spcPts val="0"/>
              </a:spcBef>
              <a:spcAft>
                <a:spcPts val="0"/>
              </a:spcAft>
              <a:buNone/>
            </a:pPr>
            <a:r>
              <a:t>1. Lire l’interface comme un parcours : texte saisi → validation de l’entrée → fonction d’inférence → sortie lisible. Une flèche de validation peut conduire à un message d’erreur clair pour une entrée vide ou trop longue.</a:t>
            </a:r>
            <a:endParaRPr/>
          </a:p>
          <a:p xmlns:a="http://schemas.openxmlformats.org/drawingml/2006/main">
            <a:pPr marL="0" lvl="0" indent="0" algn="l">
              <a:spcBef>
                <a:spcPts val="0"/>
              </a:spcBef>
              <a:spcAft>
                <a:spcPts val="0"/>
              </a:spcAft>
              <a:buNone/>
            </a:pPr>
            <a:r>
              <a:t>2. Le modèle et son tokenizer sont chargés en amont une seule fois ; la fonction les réutilise à chaque requête. Le dessin ne doit pas suggérer un nouvel entraînement à chaque clic.</a:t>
            </a:r>
            <a:endParaRPr/>
          </a:p>
          <a:p xmlns:a="http://schemas.openxmlformats.org/drawingml/2006/main">
            <a:pPr marL="0" lvl="0" indent="0" algn="l">
              <a:spcBef>
                <a:spcPts val="0"/>
              </a:spcBef>
              <a:spcAft>
                <a:spcPts val="0"/>
              </a:spcAft>
              <a:buNone/>
            </a:pPr>
            <a:r>
              <a:t>3. Dans la fonction, prétraitement, calcul et post-traitement restent distincts. La sortie visible peut contenir un label et des scores, avec une explication de leur portée et du modèle réellement utilisé.</a:t>
            </a:r>
            <a:endParaRPr/>
          </a:p>
          <a:p xmlns:a="http://schemas.openxmlformats.org/drawingml/2006/main">
            <a:pPr marL="0" lvl="0" indent="0" algn="l">
              <a:spcBef>
                <a:spcPts val="0"/>
              </a:spcBef>
              <a:spcAft>
                <a:spcPts val="0"/>
              </a:spcAft>
              <a:buNone/>
            </a:pPr>
            <a:r>
              <a:t>4. La frontière entre notebook local et publication doit être explicite : le partage public est désactivé par défaut. Une archive locale et une démo fonctionnelle sont évaluables sans URL publique ni compte Hub.</a:t>
            </a:r>
            <a:endParaRPr/>
          </a:p>
          <a:p xmlns:a="http://schemas.openxmlformats.org/drawingml/2006/main">
            <a:pPr marL="0" lvl="0" indent="0" algn="l">
              <a:spcBef>
                <a:spcPts val="0"/>
              </a:spcBef>
              <a:spcAft>
                <a:spcPts val="0"/>
              </a:spcAft>
              <a:buNone/>
            </a:pPr>
            <a:r>
              <a:t>5. Question : une requête réussie valide-t-elle le système ? Elle prouve seulement ce comportement observé. Montrer aussi un cas ambigu et un échec connu ; la qualité générale vient du protocole de test, pas de la présence d’une interface.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REPÈRES DU CORPS DE DIAPOSITIVE À EXPLICITER</a:t>
            </a:r>
            <a:endParaRPr/>
          </a:p>
          <a:p xmlns:a="http://schemas.openxmlformats.org/drawingml/2006/main">
            <a:pPr marL="0" lvl="0" indent="0" algn="l">
              <a:spcBef>
                <a:spcPts val="0"/>
              </a:spcBef>
              <a:spcAft>
                <a:spcPts val="0"/>
              </a:spcAft>
              <a:buNone/>
            </a:pPr>
            <a:r>
              <a:t>• Un champ texte, une sortie lisible et quelques exemples choisis.</a:t>
            </a:r>
            <a:endParaRPr/>
          </a:p>
          <a:p xmlns:a="http://schemas.openxmlformats.org/drawingml/2006/main">
            <a:pPr marL="0" lvl="0" indent="0" algn="l">
              <a:spcBef>
                <a:spcPts val="0"/>
              </a:spcBef>
              <a:spcAft>
                <a:spcPts val="0"/>
              </a:spcAft>
              <a:buNone/>
            </a:pPr>
            <a:r>
              <a:t>• Charger le modèle une fois, puis appeler une fonction d'inférence.</a:t>
            </a:r>
            <a:endParaRPr/>
          </a:p>
          <a:p xmlns:a="http://schemas.openxmlformats.org/drawingml/2006/main">
            <a:pPr marL="0" lvl="0" indent="0" algn="l">
              <a:spcBef>
                <a:spcPts val="0"/>
              </a:spcBef>
              <a:spcAft>
                <a:spcPts val="0"/>
              </a:spcAft>
              <a:buNone/>
            </a:pPr>
            <a:r>
              <a:t>• Prévoir entrée vide, texte long et message d'erreur compréhensible.</a:t>
            </a:r>
            <a:endParaRPr/>
          </a:p>
          <a:p xmlns:a="http://schemas.openxmlformats.org/drawingml/2006/main">
            <a:pPr marL="0" lvl="0" indent="0" algn="l">
              <a:spcBef>
                <a:spcPts val="0"/>
              </a:spcBef>
              <a:spcAft>
                <a:spcPts val="0"/>
              </a:spcAft>
              <a:buNone/>
            </a:pPr>
            <a:r>
              <a:t>• Lancement local au notebook ; partage public désactivé par défaut.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https://www.gradio.app/guides/quickstart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105 — Le livrable doit raconter comment le résultat a été obtenu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distinction des documents, 4 min de rédaction d'un paragraphe, 3 min de revue croisée. Demander à un binôme de reprendre le projet d'un autre sans explication orale : quelles informations manqueraient ? Un README sert à exécuter ; la model card décrit le système et son évaluation ; la data card décrit les données et leurs limites. QUESTION : écrire « entraîné sur des données de support » suffit-il ? RÉPONSE : non, il faut préciser qu'elles sont fictives, comment elles ont été construites, leur taille et leur séparation. Rapporter les métriques réellement mesurées avec leur matériel et leur protocole. Si l'entraînement n'a pas été exécuté, le dire explicitement au lieu de conserver une valeur d'exemple. Dans le projet, la documentation comprend aussi une phrase sur les usages non démontrés, par exemple données client réelles ou déploiement multi-utilisateur. Les résultats doivent pouvoir être reliés aux prédictions sauvegardées. Les fichiers de secrets, caches inutiles et informations personnelles n'appartiennent pas à l'archive remise.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https://huggingface.co/docs/hub/model-cards</a:t>
            </a:r>
            <a:endParaRPr/>
          </a:p>
          <a:p xmlns:a="http://schemas.openxmlformats.org/drawingml/2006/main">
            <a:pPr marL="0" lvl="0" indent="0" algn="l">
              <a:spcBef>
                <a:spcPts val="0"/>
              </a:spcBef>
              <a:spcAft>
                <a:spcPts val="0"/>
              </a:spcAft>
              <a:buNone/>
            </a:pPr>
            <a:r>
              <a:t>https://huggingface.co/docs/hub/datasets-cards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106 — Publier sur le Hub : rendre l'artefact réutilisable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chaîne de publication, 4 min d'audit de fichiers, 3 min de questions. Distinguer modèle, dataset et Space : ils correspondent à des artefacts différents. Une archive locale fonctionnelle peut être un livrable complet pour le cours ; la publication en ligne ajoute un partage et des obligations de documentation. QUESTION : un dépôt privé autorise-t-il l'envoi de n'importe quelles données ? RÉPONSE : non, il faut toujours avoir le droit de les utiliser et de les transférer. Le notebook rend la publication explicitement optionnelle et utilise une visibilité privée lorsque cette voie est choisie. Les tokens d'accès restent dans les mécanismes de secrets appropriés et ne sont pas écrits dans les cellules ou dans la model card. Pour un adaptateur, préciser base, révision, tokenizer et procédure de chargement ; un utilisateur ne doit pas deviner la dépendance. Dans le projet, le formateur peut évaluer la documentation et le rechargement local sans compte Hub. Une publication réussie prouve un transfert de fichiers, pas une qualité métier ni une sécurité de production.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https://huggingface.co/docs/hub/repositories-settings</a:t>
            </a:r>
            <a:endParaRPr/>
          </a:p>
          <a:p xmlns:a="http://schemas.openxmlformats.org/drawingml/2006/main">
            <a:pPr marL="0" lvl="0" indent="0" algn="l">
              <a:spcBef>
                <a:spcPts val="0"/>
              </a:spcBef>
              <a:spcAft>
                <a:spcPts val="0"/>
              </a:spcAft>
              <a:buNone/>
            </a:pPr>
            <a:r>
              <a:t>https://huggingface.co/docs/hub/model-cards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107 — Mini-projet : une décision défendable en binôme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3 min de présentation du barème, 4 min de choix du périmètre, 3 min de vérification. Le barème officiel de evaluation/PROJET.md comporte six critères totalisant vingt points : protocole et absence de fuite 4 ; comparaison équitable 4 ; évaluation et analyse 4 ; reproductibilité 3 ; démonstration et model card 3 ; soutenance et compréhension individuelle 2. Le tableau regroupe visuellement les deux critères à trois points sans modifier leur attribution. Une comparaison qui montre la baseline préférable peut obtenir une excellente note si elle est correcte et argumentée. QUESTION : faut-il entraîner un nouveau modèle le jour 5 ? RÉPONSE : non, réutiliser l'artefact support du jour 3 laisse du temps pour évaluer. L'artefact Allociné prédit un sentiment et ne doit pas être confondu avec le routeur à cinq intentions. Chaque point correspond aux preuves décrites dans le sujet. L'indisponibilité du GPU est documentée avec un protocole reproductible, sans inventer une mesure. Chaque membre doit expliquer une décision de données et une erreur. Une recommandation de ne pas déployer peut recevoir tous les points.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108 — Soutenir : problème, preuve, décision, limite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2 min de présentation du format, 5 min de répétition en binôme, 3 min de feedback. La soutenance individuelle de groupe vise cinq minutes, auxquelles le formateur ajoute les questions selon l'effectif. Le dernier bloc d'après-midi prévoit quarante minutes de soutenance, puis dix minutes de remise : huit binômes au maximum à cinq minutes, ou une galerie simultanée avec vérification individuelle si les groupes sont plus nombreux. QUESTION : comment présenter un modèle qui n'a pas amélioré la baseline ? RÉPONSE : montrer la comparaison, expliquer les erreurs et recommander le choix le mieux soutenu ; une conclusion négative fait partie de l'ingénierie. Interdire les phrases vagues telles que « cela marche bien » sans exemple ni mesure. Chaque groupe doit montrer un cas difficile et une limite, pas seulement la meilleure entrée. Faire répartir la parole pour que les deux membres expliquent une décision. Le support final peut tenir sur une seule page avec table, exemple et conclusion. Les questions du jury portent sur la séparation des données, l'unité de métrique, le rechargement et l'action suivante la plus informative.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109 — Avant de conclure : que peut-on réellement affirmer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matin · 15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DÉROULÉ : 4 min de réponses, 5 min de discussion, 6 min de correction. Réponse 1 : la démo prouve un comportement sur les entrées essayées ; la généralisation nécessite un protocole et des données représentatives. Réponse 2 : appliquer la règle de parsing définie et compter les sorties invalides, sans correction manuelle opportuniste. Réponse 3 : cinq points d'accuracy dans cet exemple, avec une forte sensibilité aux cas du petit test ; il faut lire les désaccords et limiter la conclusion. Réponse 4 : données ou accès documenté, partitions, configuration, versions, artefact rechargeable et prédictions sauvegardées. Ajouter une dernière question personnelle : quelle erreur de raisonnement commettiez-vous en début de semaine que vous savez désormais éviter ? Les réponses peuvent mentionner token égal mot, attention égale explication, loss égale qualité, LoRA égal modèle complet ou démo égale production. Terminer par le contrat du projet : une hypothèse, une comparaison, une preuve, une décision et une limite. Les étudiants disposent ensuite de quatre heures de travail guidé.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110 — TP 5A · Verrouiller le protocole et lancer les références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75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15 min de contrat, 20 min de rechargement et audit des partitions, 40 min de construction des baselines, soit 75 minutes conformément au sujet de projet. Ouvrir notebooks/etudiants/07_j5_projet.ipynb. POINT DE CONTRÔLE : toutes les méthodes reçoivent les mêmes messages support, les mêmes labels de référence et une règle de sortie déclarée. Recharger l'archive du routeur support du jour 3 ; l'export de sentiment Allociné est un autre modèle et ne convient pas à cette tâche. Son absence est indiquée et ne doit pas être remplacée par une tête aléatoire présentée comme entraînée. RÉSULTAT ATTENDU : une table de prédictions de validation et une référence majoritaire puis TF-IDF. Préparer le zéro-shot du petit modèle local avec un prompt et un parsing fixes ; enregistrer toute sortie invalide. Le test final reste réservé. Si le groupe choisit NER ou résumé, adapter explicitement baseline et métrique avant le lancement. Le formateur vérifie le périmètre pour éviter un projet trop large qui empêcherait de terminer l'analyse.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111 — TP 5B · Tester une amélioration et lire les 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75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45 min de comparaison sur validation, incluant l'analyse et une éventuelle variante, puis 30 min pour figer les choix, exécuter le test final et analyser les erreurs ; total 75 minutes. POINT DE CONTRÔLE : la modification répond à une erreur observée et son effet attendu est écrit avant exécution. Une meilleure consigne, un réglage de représentation ou la décision de conserver la baseline peut suffire ; un nouvel entraînement n'est pas obligatoire. RÉSULTAT ATTENDU : distinguer clairement développement sur validation et résultat final sur test. Afficher effectifs, métriques, sorties invalides et au moins une mesure de temps dans des conditions connues. Les cinq erreurs sont des textes précis avec catégories et hypothèses. Un petit jeu de robustesse contrôlé reste séparé du test principal et signalé comme exploratoire. Ne pas continuer à choisir des réglages après consultation du test tout en le présentant comme indépendant. Si une amélioration dégrade une catégorie, l'indiquer ; le choix final expose ce compromis. Conserver les prédictions et la configuration pour la documentation.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112 — TP 5C · Préparer une démo et un livrable rechargeable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40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20 min de démonstration, 20 min de model card et de recommandation, soit 40 minutes. POINT DE CONTRÔLE : un autre binôme saisit une phrase nouvelle et comprend la sortie. Une interface Gradio ou un scénario de prédictions dans le notebook peut remplir la fonction de démonstration prévue au sujet. Le partage public reste désactivé par défaut. Vérifier une entrée vide, une longue demande et un cas ambigu. RÉSULTAT ATTENDU : un artefact dont le nom correspond au modèle chargé ; si la démo utilise TF-IDF, elle doit le dire. La model card reprend les résultats réellement observés, les partitions, versions et limites du corpus fictif. Vérifier les éléments nécessaires au rechargement pendant cette préparation ; les exports définitifs occupent les dix dernières minutes du bloc suivant. La publication Hub reste facultative avec choix explicite de visibilité, et aucun token d'accès ne figure dans les fichiers. Une documentation complète est prioritaire à une décoration supplémentaire. Préparer une page contenant problème, table des résultats, erreur, décision et limite.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113 — TP 5D · Soutenances, revue croisée et bilan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Jour 5 · apres-midi · 50 min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ORGANISATION : 40 min de soutenances, puis 10 min d'exports et de remise, soit 50 minutes. Huit binômes au maximum peuvent passer cinq minutes chacun ; au-delà, organiser une galerie simultanée avec grille de revue croisée et vérification individuelle du formateur. POINT DE CONTRÔLE : chaque membre explique une décision et répond à une question sur les données ou l'évaluation. RÉSULTAT ATTENDU : une conclusion proportionnée aux preuves ; le plus gros modèle ou le meilleur score isolé n'est pas automatiquement le meilleur projet. Appliquer le barème officiel 4/4/4/3/3/2 sur vingt. Le jury demande ce qui ferait changer la décision et quelle donnée manque encore. Les dix minutes finales servent à remettre le notebook exécuté, les résultats et l'identification des artefacts, puis un bilan individuel bref : notion comprise, erreur évitée et compétence à approfondir. Vérifier que les fichiers du runtime temporaire ont été téléchargés. Les pistes suivantes, telles que RAG ou annotation réelle, ne doivent pas être présentées comme déjà réalisées pendant la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1b03d7a7934cfa"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5efc0924534385" /><Relationship Type="http://schemas.openxmlformats.org/officeDocument/2006/relationships/slideLayout" Target="/ppt/slideLayouts/slideLayout1.xml" Id="R5c44cfd34b894076"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c44cfd34b89407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499e5b89aa4b2f" /><Relationship Type="http://schemas.openxmlformats.org/officeDocument/2006/relationships/image" Target="/ppt/media/image.png" Id="R5752a3edecea4ee2" /><Relationship Type="http://schemas.openxmlformats.org/officeDocument/2006/relationships/image" Target="/ppt/media/image2.png" Id="R496045123f5b4ad7" /><Relationship Type="http://schemas.openxmlformats.org/officeDocument/2006/relationships/notesSlide" Target="/ppt/notesSlides/notesSlide1.xml" Id="Rc75e2e4739414d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932a51163e4733" /><Relationship Type="http://schemas.openxmlformats.org/officeDocument/2006/relationships/image" Target="/ppt/media/image3.png" Id="Rfac185dd774c421d" /><Relationship Type="http://schemas.openxmlformats.org/officeDocument/2006/relationships/image" Target="/ppt/media/image4.png" Id="R565b3be6dc2c45e3" /><Relationship Type="http://schemas.openxmlformats.org/officeDocument/2006/relationships/notesSlide" Target="/ppt/notesSlides/notesSlide2.xml" Id="R01cbba3460f547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60ae6014bb4a9b" /><Relationship Type="http://schemas.openxmlformats.org/officeDocument/2006/relationships/image" Target="/ppt/media/image3.png" Id="R24f7845820184104" /><Relationship Type="http://schemas.openxmlformats.org/officeDocument/2006/relationships/image" Target="/ppt/media/image4.png" Id="Rd5e20071f5954484" /><Relationship Type="http://schemas.openxmlformats.org/officeDocument/2006/relationships/notesSlide" Target="/ppt/notesSlides/notesSlide3.xml" Id="Re187b5c9658344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13d27eb31e4083" /><Relationship Type="http://schemas.openxmlformats.org/officeDocument/2006/relationships/image" Target="/ppt/media/image.png" Id="Rfa42cf21df1b4830" /><Relationship Type="http://schemas.openxmlformats.org/officeDocument/2006/relationships/image" Target="/ppt/media/image2.png" Id="Rf3d9b15d10274d5e" /><Relationship Type="http://schemas.openxmlformats.org/officeDocument/2006/relationships/notesSlide" Target="/ppt/notesSlides/notesSlide4.xml" Id="Ra787431f28a441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8b3a75f7214b9b" /><Relationship Type="http://schemas.openxmlformats.org/officeDocument/2006/relationships/image" Target="/ppt/media/image3.png" Id="R05546365e98a45fb" /><Relationship Type="http://schemas.openxmlformats.org/officeDocument/2006/relationships/image" Target="/ppt/media/image4.png" Id="R45b327cb01b448da" /><Relationship Type="http://schemas.openxmlformats.org/officeDocument/2006/relationships/notesSlide" Target="/ppt/notesSlides/notesSlide5.xml" Id="R473a8664c7e94e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3f0015a85e412e" /><Relationship Type="http://schemas.openxmlformats.org/officeDocument/2006/relationships/image" Target="/ppt/media/image3.png" Id="Rddaf1dcdad664d97" /><Relationship Type="http://schemas.openxmlformats.org/officeDocument/2006/relationships/image" Target="/ppt/media/image4.png" Id="R36fb8f8154994e66" /><Relationship Type="http://schemas.openxmlformats.org/officeDocument/2006/relationships/notesSlide" Target="/ppt/notesSlides/notesSlide6.xml" Id="R1dd28cae3c8146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034e33a2954de6" /><Relationship Type="http://schemas.openxmlformats.org/officeDocument/2006/relationships/image" Target="/ppt/media/image3.png" Id="R10816544943b46e1" /><Relationship Type="http://schemas.openxmlformats.org/officeDocument/2006/relationships/image" Target="/ppt/media/image4.png" Id="R58d08c0891b14c14" /><Relationship Type="http://schemas.openxmlformats.org/officeDocument/2006/relationships/notesSlide" Target="/ppt/notesSlides/notesSlide7.xml" Id="R9ec2d5fc010c4e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cf41f4f0b14cb1" /><Relationship Type="http://schemas.openxmlformats.org/officeDocument/2006/relationships/image" Target="/ppt/media/image3.png" Id="Rd2b1bf7b60bd470d" /><Relationship Type="http://schemas.openxmlformats.org/officeDocument/2006/relationships/image" Target="/ppt/media/image4.png" Id="R0600b2eaddcb49b3" /><Relationship Type="http://schemas.openxmlformats.org/officeDocument/2006/relationships/notesSlide" Target="/ppt/notesSlides/notesSlide8.xml" Id="R3b324c73b2b244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356f6496ed4528" /><Relationship Type="http://schemas.openxmlformats.org/officeDocument/2006/relationships/image" Target="/ppt/media/image3.png" Id="R8418d28e912e4e1c" /><Relationship Type="http://schemas.openxmlformats.org/officeDocument/2006/relationships/image" Target="/ppt/media/image4.png" Id="R092ee742ed6c4ffb" /><Relationship Type="http://schemas.openxmlformats.org/officeDocument/2006/relationships/notesSlide" Target="/ppt/notesSlides/notesSlide9.xml" Id="Rd0a52b27b7e14b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c4468cece1401b" /><Relationship Type="http://schemas.openxmlformats.org/officeDocument/2006/relationships/image" Target="/ppt/media/image3.png" Id="R0560d783ff6c4fa7" /><Relationship Type="http://schemas.openxmlformats.org/officeDocument/2006/relationships/image" Target="/ppt/media/image4.png" Id="R4a6e0321b72b4d84" /><Relationship Type="http://schemas.openxmlformats.org/officeDocument/2006/relationships/image" Target="/ppt/media/image5.png" Id="R67c783f00ea54a16" /><Relationship Type="http://schemas.openxmlformats.org/officeDocument/2006/relationships/notesSlide" Target="/ppt/notesSlides/notesSlide10.xml" Id="Rc268212fb26a4e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786b1025904e7e" /><Relationship Type="http://schemas.openxmlformats.org/officeDocument/2006/relationships/image" Target="/ppt/media/image3.png" Id="R18712a6b59934efd" /><Relationship Type="http://schemas.openxmlformats.org/officeDocument/2006/relationships/image" Target="/ppt/media/image4.png" Id="Rc6481101d7ad4146" /><Relationship Type="http://schemas.openxmlformats.org/officeDocument/2006/relationships/notesSlide" Target="/ppt/notesSlides/notesSlide11.xml" Id="R5efd6f523e7b44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daa1230d4c84d9b" /><Relationship Type="http://schemas.openxmlformats.org/officeDocument/2006/relationships/image" Target="/ppt/media/image3.png" Id="Rbd0c2052773844c9" /><Relationship Type="http://schemas.openxmlformats.org/officeDocument/2006/relationships/image" Target="/ppt/media/image4.png" Id="Ra1b30eb5e44043f8" /><Relationship Type="http://schemas.openxmlformats.org/officeDocument/2006/relationships/notesSlide" Target="/ppt/notesSlides/notesSlide12.xml" Id="Rd5e4dafa08be4c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589ca1fcac4aab" /><Relationship Type="http://schemas.openxmlformats.org/officeDocument/2006/relationships/image" Target="/ppt/media/image3.png" Id="R263a475bdec34285" /><Relationship Type="http://schemas.openxmlformats.org/officeDocument/2006/relationships/image" Target="/ppt/media/image4.png" Id="Ra0c1ee7a3acf4da2" /><Relationship Type="http://schemas.openxmlformats.org/officeDocument/2006/relationships/notesSlide" Target="/ppt/notesSlides/notesSlide13.xml" Id="R52bd0b1747574e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e63c31575c44b6" /><Relationship Type="http://schemas.openxmlformats.org/officeDocument/2006/relationships/image" Target="/ppt/media/image3.png" Id="Re6371632fe694049" /><Relationship Type="http://schemas.openxmlformats.org/officeDocument/2006/relationships/image" Target="/ppt/media/image4.png" Id="Rce0db87a459844e2" /><Relationship Type="http://schemas.openxmlformats.org/officeDocument/2006/relationships/notesSlide" Target="/ppt/notesSlides/notesSlide14.xml" Id="Rf59ad621e44742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cf4fe8a271e4e9c" /><Relationship Type="http://schemas.openxmlformats.org/officeDocument/2006/relationships/image" Target="/ppt/media/image3.png" Id="R71253278467d416b" /><Relationship Type="http://schemas.openxmlformats.org/officeDocument/2006/relationships/image" Target="/ppt/media/image4.png" Id="R283c202dddea49e2" /><Relationship Type="http://schemas.openxmlformats.org/officeDocument/2006/relationships/notesSlide" Target="/ppt/notesSlides/notesSlide15.xml" Id="Rf9535033e61d48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bc6a850c044556" /><Relationship Type="http://schemas.openxmlformats.org/officeDocument/2006/relationships/image" Target="/ppt/media/image3.png" Id="Rc25b7774e36143a6" /><Relationship Type="http://schemas.openxmlformats.org/officeDocument/2006/relationships/image" Target="/ppt/media/image4.png" Id="Re7affb9dba564502" /><Relationship Type="http://schemas.openxmlformats.org/officeDocument/2006/relationships/notesSlide" Target="/ppt/notesSlides/notesSlide16.xml" Id="R44004443471b42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f8736af8124946" /><Relationship Type="http://schemas.openxmlformats.org/officeDocument/2006/relationships/image" Target="/ppt/media/image3.png" Id="R753952232bd24f0d" /><Relationship Type="http://schemas.openxmlformats.org/officeDocument/2006/relationships/image" Target="/ppt/media/image4.png" Id="R68f35f76c8fe4691" /><Relationship Type="http://schemas.openxmlformats.org/officeDocument/2006/relationships/image" Target="/ppt/media/image6.png" Id="R811bbb2336654a13" /><Relationship Type="http://schemas.openxmlformats.org/officeDocument/2006/relationships/notesSlide" Target="/ppt/notesSlides/notesSlide17.xml" Id="R97f1d17113154f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02d68118cc4b94" /><Relationship Type="http://schemas.openxmlformats.org/officeDocument/2006/relationships/image" Target="/ppt/media/image3.png" Id="R41876e45c8554ecc" /><Relationship Type="http://schemas.openxmlformats.org/officeDocument/2006/relationships/image" Target="/ppt/media/image4.png" Id="R19f5185738c343b8" /><Relationship Type="http://schemas.openxmlformats.org/officeDocument/2006/relationships/image" Target="/ppt/media/image7.png" Id="R8862325baca0478a" /><Relationship Type="http://schemas.openxmlformats.org/officeDocument/2006/relationships/notesSlide" Target="/ppt/notesSlides/notesSlide18.xml" Id="R6dae30aabed74c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60d7c9699dc43d1" /><Relationship Type="http://schemas.openxmlformats.org/officeDocument/2006/relationships/image" Target="/ppt/media/image3.png" Id="R16ece257c71a4377" /><Relationship Type="http://schemas.openxmlformats.org/officeDocument/2006/relationships/image" Target="/ppt/media/image4.png" Id="R86d5a0293c4f466c" /><Relationship Type="http://schemas.openxmlformats.org/officeDocument/2006/relationships/notesSlide" Target="/ppt/notesSlides/notesSlide19.xml" Id="R905365a0a41b4bc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ead966efc59429d" /><Relationship Type="http://schemas.openxmlformats.org/officeDocument/2006/relationships/image" Target="/ppt/media/image3.png" Id="R5358dc7eb64648b7" /><Relationship Type="http://schemas.openxmlformats.org/officeDocument/2006/relationships/image" Target="/ppt/media/image4.png" Id="R64e4b00c08af480f" /><Relationship Type="http://schemas.openxmlformats.org/officeDocument/2006/relationships/notesSlide" Target="/ppt/notesSlides/notesSlide20.xml" Id="Re2d7b39a544a46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de6cb289385420a" /><Relationship Type="http://schemas.openxmlformats.org/officeDocument/2006/relationships/image" Target="/ppt/media/image3.png" Id="R9b3ab2850a3947cf" /><Relationship Type="http://schemas.openxmlformats.org/officeDocument/2006/relationships/image" Target="/ppt/media/image4.png" Id="R2b5ef2e0e5a04078" /><Relationship Type="http://schemas.openxmlformats.org/officeDocument/2006/relationships/notesSlide" Target="/ppt/notesSlides/notesSlide21.xml" Id="Re7111d86197e46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2697c8fa69946b1" /><Relationship Type="http://schemas.openxmlformats.org/officeDocument/2006/relationships/image" Target="/ppt/media/image3.png" Id="R72602bf3fbc3493b" /><Relationship Type="http://schemas.openxmlformats.org/officeDocument/2006/relationships/image" Target="/ppt/media/image4.png" Id="R61d5c2dfc1704712" /><Relationship Type="http://schemas.openxmlformats.org/officeDocument/2006/relationships/notesSlide" Target="/ppt/notesSlides/notesSlide22.xml" Id="Rc4df8d6e85634a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0884b5c942a41ca" /><Relationship Type="http://schemas.openxmlformats.org/officeDocument/2006/relationships/image" Target="/ppt/media/image3.png" Id="Rb8e4a97b1fce48e3" /><Relationship Type="http://schemas.openxmlformats.org/officeDocument/2006/relationships/image" Target="/ppt/media/image4.png" Id="R769dab1a0c2f4d72" /><Relationship Type="http://schemas.openxmlformats.org/officeDocument/2006/relationships/notesSlide" Target="/ppt/notesSlides/notesSlide23.xml" Id="R6cfe38ba9f80483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3daa6a2215f4431" /><Relationship Type="http://schemas.openxmlformats.org/officeDocument/2006/relationships/image" Target="/ppt/media/image3.png" Id="Rb59eb97c54fb4b80" /><Relationship Type="http://schemas.openxmlformats.org/officeDocument/2006/relationships/image" Target="/ppt/media/image4.png" Id="R0794a0c513ff40dc" /><Relationship Type="http://schemas.openxmlformats.org/officeDocument/2006/relationships/notesSlide" Target="/ppt/notesSlides/notesSlide24.xml" Id="R1bafae3b300743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00c68a91abe4d31" /><Relationship Type="http://schemas.openxmlformats.org/officeDocument/2006/relationships/image" Target="/ppt/media/image3.png" Id="R1ac0586c46e34bac" /><Relationship Type="http://schemas.openxmlformats.org/officeDocument/2006/relationships/image" Target="/ppt/media/image4.png" Id="Rf36a4f87e584469b" /><Relationship Type="http://schemas.openxmlformats.org/officeDocument/2006/relationships/notesSlide" Target="/ppt/notesSlides/notesSlide25.xml" Id="R6fc392c165774a7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9a3a8a991c14a42" /><Relationship Type="http://schemas.openxmlformats.org/officeDocument/2006/relationships/image" Target="/ppt/media/image.png" Id="R155b74810f5b4190" /><Relationship Type="http://schemas.openxmlformats.org/officeDocument/2006/relationships/image" Target="/ppt/media/image2.png" Id="R5e115af4ef614bfa" /><Relationship Type="http://schemas.openxmlformats.org/officeDocument/2006/relationships/notesSlide" Target="/ppt/notesSlides/notesSlide26.xml" Id="R796712a918924e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663398967f342f3" /><Relationship Type="http://schemas.openxmlformats.org/officeDocument/2006/relationships/image" Target="/ppt/media/image3.png" Id="Rdf28a3bde1ec4141" /><Relationship Type="http://schemas.openxmlformats.org/officeDocument/2006/relationships/image" Target="/ppt/media/image4.png" Id="R1315e15b9d494bcd" /><Relationship Type="http://schemas.openxmlformats.org/officeDocument/2006/relationships/notesSlide" Target="/ppt/notesSlides/notesSlide27.xml" Id="Rc14a911b6823426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98474d4a8844726" /><Relationship Type="http://schemas.openxmlformats.org/officeDocument/2006/relationships/image" Target="/ppt/media/image3.png" Id="R6a1408cb20a1436c" /><Relationship Type="http://schemas.openxmlformats.org/officeDocument/2006/relationships/image" Target="/ppt/media/image4.png" Id="R7efc1bef9d334fb0" /><Relationship Type="http://schemas.openxmlformats.org/officeDocument/2006/relationships/notesSlide" Target="/ppt/notesSlides/notesSlide28.xml" Id="Rcaa6798973cf412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4b16292a7844e66" /><Relationship Type="http://schemas.openxmlformats.org/officeDocument/2006/relationships/image" Target="/ppt/media/image3.png" Id="Re920eaf059664b98" /><Relationship Type="http://schemas.openxmlformats.org/officeDocument/2006/relationships/image" Target="/ppt/media/image4.png" Id="Ref155d18eeda4f57" /><Relationship Type="http://schemas.openxmlformats.org/officeDocument/2006/relationships/image" Target="/ppt/media/image8.png" Id="Readf5b44f7de4d77" /><Relationship Type="http://schemas.openxmlformats.org/officeDocument/2006/relationships/notesSlide" Target="/ppt/notesSlides/notesSlide29.xml" Id="R43938039e559422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6d6f1e3c4984f6a" /><Relationship Type="http://schemas.openxmlformats.org/officeDocument/2006/relationships/image" Target="/ppt/media/image3.png" Id="R7545eceedadf4393" /><Relationship Type="http://schemas.openxmlformats.org/officeDocument/2006/relationships/image" Target="/ppt/media/image4.png" Id="R357de7edebbb42ed" /><Relationship Type="http://schemas.openxmlformats.org/officeDocument/2006/relationships/notesSlide" Target="/ppt/notesSlides/notesSlide30.xml" Id="Ra81a7f02f4c241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2785a6be55f42ca" /><Relationship Type="http://schemas.openxmlformats.org/officeDocument/2006/relationships/image" Target="/ppt/media/image3.png" Id="R5a58bf59a75f485d" /><Relationship Type="http://schemas.openxmlformats.org/officeDocument/2006/relationships/image" Target="/ppt/media/image4.png" Id="R0e9c3df011bf4461" /><Relationship Type="http://schemas.openxmlformats.org/officeDocument/2006/relationships/notesSlide" Target="/ppt/notesSlides/notesSlide31.xml" Id="Rd51d9549f39e499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baba18f944f464d" /><Relationship Type="http://schemas.openxmlformats.org/officeDocument/2006/relationships/image" Target="/ppt/media/image3.png" Id="R8dcd9de73fdb4a1b" /><Relationship Type="http://schemas.openxmlformats.org/officeDocument/2006/relationships/image" Target="/ppt/media/image4.png" Id="Rd7af02c8cb1c4f31" /><Relationship Type="http://schemas.openxmlformats.org/officeDocument/2006/relationships/image" Target="/ppt/media/image9.png" Id="R1fc44d5d25244da0" /><Relationship Type="http://schemas.openxmlformats.org/officeDocument/2006/relationships/notesSlide" Target="/ppt/notesSlides/notesSlide32.xml" Id="R5bd5dc12f309416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6c05ed10daf452f" /><Relationship Type="http://schemas.openxmlformats.org/officeDocument/2006/relationships/image" Target="/ppt/media/image3.png" Id="R364637ec9f5c4a40" /><Relationship Type="http://schemas.openxmlformats.org/officeDocument/2006/relationships/image" Target="/ppt/media/image4.png" Id="R1898a09fbdbd4c6c" /><Relationship Type="http://schemas.openxmlformats.org/officeDocument/2006/relationships/image" Target="/ppt/media/image10.png" Id="R50270fa72f53415d" /><Relationship Type="http://schemas.openxmlformats.org/officeDocument/2006/relationships/notesSlide" Target="/ppt/notesSlides/notesSlide33.xml" Id="Rd1b584fad2e646f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f0fbd37e2d64d3f" /><Relationship Type="http://schemas.openxmlformats.org/officeDocument/2006/relationships/image" Target="/ppt/media/image3.png" Id="Re9e14391d5ce4c69" /><Relationship Type="http://schemas.openxmlformats.org/officeDocument/2006/relationships/image" Target="/ppt/media/image4.png" Id="Rf89679b1b11e4fa8" /><Relationship Type="http://schemas.openxmlformats.org/officeDocument/2006/relationships/image" Target="/ppt/media/image11.png" Id="Refacf852848244c3" /><Relationship Type="http://schemas.openxmlformats.org/officeDocument/2006/relationships/notesSlide" Target="/ppt/notesSlides/notesSlide34.xml" Id="Rf10c78a9debe4fb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59d6e9c41de41a6" /><Relationship Type="http://schemas.openxmlformats.org/officeDocument/2006/relationships/image" Target="/ppt/media/image3.png" Id="R33b988bc27704399" /><Relationship Type="http://schemas.openxmlformats.org/officeDocument/2006/relationships/image" Target="/ppt/media/image4.png" Id="Rfe919b8cff764d20" /><Relationship Type="http://schemas.openxmlformats.org/officeDocument/2006/relationships/image" Target="/ppt/media/image12.png" Id="Rf522fa4d540649d9" /><Relationship Type="http://schemas.openxmlformats.org/officeDocument/2006/relationships/notesSlide" Target="/ppt/notesSlides/notesSlide35.xml" Id="Rf4002f31c71c4c1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afff111b63f479f" /><Relationship Type="http://schemas.openxmlformats.org/officeDocument/2006/relationships/image" Target="/ppt/media/image3.png" Id="Ra18c3834a9fe41dc" /><Relationship Type="http://schemas.openxmlformats.org/officeDocument/2006/relationships/image" Target="/ppt/media/image4.png" Id="R1ae4edcbbd5e420d" /><Relationship Type="http://schemas.openxmlformats.org/officeDocument/2006/relationships/image" Target="/ppt/media/image13.png" Id="R6e1afc1c480f4334" /><Relationship Type="http://schemas.openxmlformats.org/officeDocument/2006/relationships/notesSlide" Target="/ppt/notesSlides/notesSlide36.xml" Id="R1189378f19c543f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c495fd696ce4866" /><Relationship Type="http://schemas.openxmlformats.org/officeDocument/2006/relationships/image" Target="/ppt/media/image3.png" Id="R541539260dcd4998" /><Relationship Type="http://schemas.openxmlformats.org/officeDocument/2006/relationships/image" Target="/ppt/media/image4.png" Id="Rcce885bb521f452f" /><Relationship Type="http://schemas.openxmlformats.org/officeDocument/2006/relationships/notesSlide" Target="/ppt/notesSlides/notesSlide37.xml" Id="R66b7fd1c2d344e7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4178cfc0d2c4f9d" /><Relationship Type="http://schemas.openxmlformats.org/officeDocument/2006/relationships/image" Target="/ppt/media/image3.png" Id="R4a8af188799a4921" /><Relationship Type="http://schemas.openxmlformats.org/officeDocument/2006/relationships/image" Target="/ppt/media/image4.png" Id="Rc0bc8ab851c541cf" /><Relationship Type="http://schemas.openxmlformats.org/officeDocument/2006/relationships/image" Target="/ppt/media/image14.png" Id="R64dba1cc91ef45b7" /><Relationship Type="http://schemas.openxmlformats.org/officeDocument/2006/relationships/notesSlide" Target="/ppt/notesSlides/notesSlide38.xml" Id="Rb89066c56232439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71c60733b7742a7" /><Relationship Type="http://schemas.openxmlformats.org/officeDocument/2006/relationships/image" Target="/ppt/media/image3.png" Id="R394f210a982a42e0" /><Relationship Type="http://schemas.openxmlformats.org/officeDocument/2006/relationships/image" Target="/ppt/media/image4.png" Id="R44370ba67c6744e6" /><Relationship Type="http://schemas.openxmlformats.org/officeDocument/2006/relationships/notesSlide" Target="/ppt/notesSlides/notesSlide39.xml" Id="R9bbbfee6c7ba498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2df6ab539bf4d99" /><Relationship Type="http://schemas.openxmlformats.org/officeDocument/2006/relationships/image" Target="/ppt/media/image3.png" Id="Rfc00c7fd7b3d46bf" /><Relationship Type="http://schemas.openxmlformats.org/officeDocument/2006/relationships/image" Target="/ppt/media/image4.png" Id="R67157f6aa42e4150" /><Relationship Type="http://schemas.openxmlformats.org/officeDocument/2006/relationships/image" Target="/ppt/media/image15.png" Id="R14414ab233b3461b" /><Relationship Type="http://schemas.openxmlformats.org/officeDocument/2006/relationships/notesSlide" Target="/ppt/notesSlides/notesSlide40.xml" Id="Rf060b5559be34fa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2c6c77d8a614a12" /><Relationship Type="http://schemas.openxmlformats.org/officeDocument/2006/relationships/image" Target="/ppt/media/image3.png" Id="R86f20656cad44e6a" /><Relationship Type="http://schemas.openxmlformats.org/officeDocument/2006/relationships/image" Target="/ppt/media/image4.png" Id="R5b72907715ad40d5" /><Relationship Type="http://schemas.openxmlformats.org/officeDocument/2006/relationships/notesSlide" Target="/ppt/notesSlides/notesSlide41.xml" Id="Rf439ba965f4d499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6c88d74fdbe4a36" /><Relationship Type="http://schemas.openxmlformats.org/officeDocument/2006/relationships/image" Target="/ppt/media/image3.png" Id="R21cf162cd2794103" /><Relationship Type="http://schemas.openxmlformats.org/officeDocument/2006/relationships/image" Target="/ppt/media/image4.png" Id="R98a5af0bf3f94405" /><Relationship Type="http://schemas.openxmlformats.org/officeDocument/2006/relationships/notesSlide" Target="/ppt/notesSlides/notesSlide42.xml" Id="R970357acef8a44b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a095f26abb04def" /><Relationship Type="http://schemas.openxmlformats.org/officeDocument/2006/relationships/image" Target="/ppt/media/image3.png" Id="R5c9f1da563e341fe" /><Relationship Type="http://schemas.openxmlformats.org/officeDocument/2006/relationships/image" Target="/ppt/media/image4.png" Id="Rf57c33ec15044592" /><Relationship Type="http://schemas.openxmlformats.org/officeDocument/2006/relationships/notesSlide" Target="/ppt/notesSlides/notesSlide43.xml" Id="Rd0feeea9b440459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6c2a6574c194eff" /><Relationship Type="http://schemas.openxmlformats.org/officeDocument/2006/relationships/image" Target="/ppt/media/image3.png" Id="Rb127fbde755a431a" /><Relationship Type="http://schemas.openxmlformats.org/officeDocument/2006/relationships/image" Target="/ppt/media/image4.png" Id="R47043b900cd74bf2" /><Relationship Type="http://schemas.openxmlformats.org/officeDocument/2006/relationships/notesSlide" Target="/ppt/notesSlides/notesSlide44.xml" Id="R9978b658e93e48f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240eede919a4fb5" /><Relationship Type="http://schemas.openxmlformats.org/officeDocument/2006/relationships/image" Target="/ppt/media/image3.png" Id="R48a5e4742827408a" /><Relationship Type="http://schemas.openxmlformats.org/officeDocument/2006/relationships/image" Target="/ppt/media/image4.png" Id="R9996b196acec4e13" /><Relationship Type="http://schemas.openxmlformats.org/officeDocument/2006/relationships/notesSlide" Target="/ppt/notesSlides/notesSlide45.xml" Id="R6beb5b379c1e41c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9986fbfd1e64a00" /><Relationship Type="http://schemas.openxmlformats.org/officeDocument/2006/relationships/image" Target="/ppt/media/image3.png" Id="R32747cec21224d47" /><Relationship Type="http://schemas.openxmlformats.org/officeDocument/2006/relationships/image" Target="/ppt/media/image4.png" Id="R66e85ccb140a412a" /><Relationship Type="http://schemas.openxmlformats.org/officeDocument/2006/relationships/notesSlide" Target="/ppt/notesSlides/notesSlide46.xml" Id="R9548a0454181424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a0dfdb86a3e418d" /><Relationship Type="http://schemas.openxmlformats.org/officeDocument/2006/relationships/image" Target="/ppt/media/image3.png" Id="R602bccdd39904cf8" /><Relationship Type="http://schemas.openxmlformats.org/officeDocument/2006/relationships/image" Target="/ppt/media/image4.png" Id="R4a5269cc37c74117" /><Relationship Type="http://schemas.openxmlformats.org/officeDocument/2006/relationships/notesSlide" Target="/ppt/notesSlides/notesSlide47.xml" Id="R9db5005dd77f45f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e8f10fec9d04827" /><Relationship Type="http://schemas.openxmlformats.org/officeDocument/2006/relationships/image" Target="/ppt/media/image.png" Id="R398171ee461e4894" /><Relationship Type="http://schemas.openxmlformats.org/officeDocument/2006/relationships/image" Target="/ppt/media/image2.png" Id="Rf8eb341dab6f4b08" /><Relationship Type="http://schemas.openxmlformats.org/officeDocument/2006/relationships/notesSlide" Target="/ppt/notesSlides/notesSlide48.xml" Id="Rb930211576264d9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8c09af5e0f140d9" /><Relationship Type="http://schemas.openxmlformats.org/officeDocument/2006/relationships/image" Target="/ppt/media/image3.png" Id="R20999cc984134057" /><Relationship Type="http://schemas.openxmlformats.org/officeDocument/2006/relationships/image" Target="/ppt/media/image4.png" Id="Rdf406752d1504c56" /><Relationship Type="http://schemas.openxmlformats.org/officeDocument/2006/relationships/image" Target="/ppt/media/image16.png" Id="Rec17574df8284846" /><Relationship Type="http://schemas.openxmlformats.org/officeDocument/2006/relationships/notesSlide" Target="/ppt/notesSlides/notesSlide49.xml" Id="R20c4d6b7642c45c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2db5c20bc2b4c7c" /><Relationship Type="http://schemas.openxmlformats.org/officeDocument/2006/relationships/image" Target="/ppt/media/image3.png" Id="R402d9037816b49c6" /><Relationship Type="http://schemas.openxmlformats.org/officeDocument/2006/relationships/image" Target="/ppt/media/image4.png" Id="R76a4e4ce82b14a3d" /><Relationship Type="http://schemas.openxmlformats.org/officeDocument/2006/relationships/image" Target="/ppt/media/image17.png" Id="R22df74a78bb04b7f" /><Relationship Type="http://schemas.openxmlformats.org/officeDocument/2006/relationships/notesSlide" Target="/ppt/notesSlides/notesSlide50.xml" Id="R575242960ab649f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e8d3a361b754b62" /><Relationship Type="http://schemas.openxmlformats.org/officeDocument/2006/relationships/image" Target="/ppt/media/image3.png" Id="Rf6fd03ad76814fd1" /><Relationship Type="http://schemas.openxmlformats.org/officeDocument/2006/relationships/image" Target="/ppt/media/image4.png" Id="Rb102a07704024b05" /><Relationship Type="http://schemas.openxmlformats.org/officeDocument/2006/relationships/notesSlide" Target="/ppt/notesSlides/notesSlide51.xml" Id="Rf5db4eb2dcfc42a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79077674dda4a59" /><Relationship Type="http://schemas.openxmlformats.org/officeDocument/2006/relationships/image" Target="/ppt/media/image3.png" Id="Rb5ff0c5a900a4729" /><Relationship Type="http://schemas.openxmlformats.org/officeDocument/2006/relationships/image" Target="/ppt/media/image4.png" Id="Rdd1a4315737c460a" /><Relationship Type="http://schemas.openxmlformats.org/officeDocument/2006/relationships/notesSlide" Target="/ppt/notesSlides/notesSlide52.xml" Id="Rc3fab4888f884d9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bdc695e1a8d4256" /><Relationship Type="http://schemas.openxmlformats.org/officeDocument/2006/relationships/image" Target="/ppt/media/image3.png" Id="Rf7e717fe58c040a2" /><Relationship Type="http://schemas.openxmlformats.org/officeDocument/2006/relationships/image" Target="/ppt/media/image4.png" Id="R601a8c22bf364f59" /><Relationship Type="http://schemas.openxmlformats.org/officeDocument/2006/relationships/image" Target="/ppt/media/image18.png" Id="Rf71fadaab39b4f7e" /><Relationship Type="http://schemas.openxmlformats.org/officeDocument/2006/relationships/notesSlide" Target="/ppt/notesSlides/notesSlide53.xml" Id="R6eaebfb6162044b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b48ef597e104cb0" /><Relationship Type="http://schemas.openxmlformats.org/officeDocument/2006/relationships/image" Target="/ppt/media/image3.png" Id="Rb23e2e42bcad4848" /><Relationship Type="http://schemas.openxmlformats.org/officeDocument/2006/relationships/image" Target="/ppt/media/image4.png" Id="R311a67daa7784949" /><Relationship Type="http://schemas.openxmlformats.org/officeDocument/2006/relationships/notesSlide" Target="/ppt/notesSlides/notesSlide54.xml" Id="Rc6285076f702400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f2d1bfbdc2f4eef" /><Relationship Type="http://schemas.openxmlformats.org/officeDocument/2006/relationships/image" Target="/ppt/media/image3.png" Id="R16d0f06e8b9d43e3" /><Relationship Type="http://schemas.openxmlformats.org/officeDocument/2006/relationships/image" Target="/ppt/media/image4.png" Id="R6fbed232524848a2" /><Relationship Type="http://schemas.openxmlformats.org/officeDocument/2006/relationships/image" Target="/ppt/media/image19.png" Id="R42576420db1d4cb4" /><Relationship Type="http://schemas.openxmlformats.org/officeDocument/2006/relationships/notesSlide" Target="/ppt/notesSlides/notesSlide55.xml" Id="Re27bf26eb43845e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a4159e041614ee5" /><Relationship Type="http://schemas.openxmlformats.org/officeDocument/2006/relationships/image" Target="/ppt/media/image3.png" Id="Rcbc068cb29cf48a1" /><Relationship Type="http://schemas.openxmlformats.org/officeDocument/2006/relationships/image" Target="/ppt/media/image4.png" Id="Ra0babdded2c645ea" /><Relationship Type="http://schemas.openxmlformats.org/officeDocument/2006/relationships/notesSlide" Target="/ppt/notesSlides/notesSlide56.xml" Id="R1ca9dab52d7f499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ea486fb1103410f" /><Relationship Type="http://schemas.openxmlformats.org/officeDocument/2006/relationships/image" Target="/ppt/media/image3.png" Id="R1f496dfa5a56491c" /><Relationship Type="http://schemas.openxmlformats.org/officeDocument/2006/relationships/image" Target="/ppt/media/image4.png" Id="R846e02c8f5bc4b2c" /><Relationship Type="http://schemas.openxmlformats.org/officeDocument/2006/relationships/notesSlide" Target="/ppt/notesSlides/notesSlide57.xml" Id="R9bc83cd3cbc645c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04edd28b4134187" /><Relationship Type="http://schemas.openxmlformats.org/officeDocument/2006/relationships/image" Target="/ppt/media/image3.png" Id="R577492e00c2c482c" /><Relationship Type="http://schemas.openxmlformats.org/officeDocument/2006/relationships/image" Target="/ppt/media/image4.png" Id="Rcbb6554070b34d44" /><Relationship Type="http://schemas.openxmlformats.org/officeDocument/2006/relationships/image" Target="/ppt/media/image20.png" Id="R531aaecfd1734d6b" /><Relationship Type="http://schemas.openxmlformats.org/officeDocument/2006/relationships/notesSlide" Target="/ppt/notesSlides/notesSlide58.xml" Id="Rd20d76ea6701425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511d25428624dd9" /><Relationship Type="http://schemas.openxmlformats.org/officeDocument/2006/relationships/image" Target="/ppt/media/image3.png" Id="R836dc58cd6af4771" /><Relationship Type="http://schemas.openxmlformats.org/officeDocument/2006/relationships/image" Target="/ppt/media/image4.png" Id="Rd5b4c94965854644" /><Relationship Type="http://schemas.openxmlformats.org/officeDocument/2006/relationships/notesSlide" Target="/ppt/notesSlides/notesSlide59.xml" Id="Rd9244eb77086412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552163b76ec465f" /><Relationship Type="http://schemas.openxmlformats.org/officeDocument/2006/relationships/image" Target="/ppt/media/image3.png" Id="R20f0e044db094632" /><Relationship Type="http://schemas.openxmlformats.org/officeDocument/2006/relationships/image" Target="/ppt/media/image4.png" Id="R7550b87431d74ee4" /><Relationship Type="http://schemas.openxmlformats.org/officeDocument/2006/relationships/notesSlide" Target="/ppt/notesSlides/notesSlide60.xml" Id="Redece044755746c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d7e212f5279483e" /><Relationship Type="http://schemas.openxmlformats.org/officeDocument/2006/relationships/image" Target="/ppt/media/image3.png" Id="R5efa7ffb245f4fdc" /><Relationship Type="http://schemas.openxmlformats.org/officeDocument/2006/relationships/image" Target="/ppt/media/image4.png" Id="R3611c0be76f04f76" /><Relationship Type="http://schemas.openxmlformats.org/officeDocument/2006/relationships/notesSlide" Target="/ppt/notesSlides/notesSlide61.xml" Id="R2a7d783d8d5e45b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8fa3c97da4f4719" /><Relationship Type="http://schemas.openxmlformats.org/officeDocument/2006/relationships/image" Target="/ppt/media/image3.png" Id="Rdacf345465764799" /><Relationship Type="http://schemas.openxmlformats.org/officeDocument/2006/relationships/image" Target="/ppt/media/image4.png" Id="R96c76483915348bf" /><Relationship Type="http://schemas.openxmlformats.org/officeDocument/2006/relationships/notesSlide" Target="/ppt/notesSlides/notesSlide62.xml" Id="R318390f85ee24a1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3b1e80c6cce044d4" /><Relationship Type="http://schemas.openxmlformats.org/officeDocument/2006/relationships/image" Target="/ppt/media/image3.png" Id="Rd82829fae6134753" /><Relationship Type="http://schemas.openxmlformats.org/officeDocument/2006/relationships/image" Target="/ppt/media/image4.png" Id="Rc002f79ed76a4422" /><Relationship Type="http://schemas.openxmlformats.org/officeDocument/2006/relationships/notesSlide" Target="/ppt/notesSlides/notesSlide63.xml" Id="Re1cf2eb2d2c14d1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e704e5b50fec4e3d" /><Relationship Type="http://schemas.openxmlformats.org/officeDocument/2006/relationships/image" Target="/ppt/media/image3.png" Id="Rfa7d7b43a54b4972" /><Relationship Type="http://schemas.openxmlformats.org/officeDocument/2006/relationships/image" Target="/ppt/media/image4.png" Id="Rd0e2452707cb4803" /><Relationship Type="http://schemas.openxmlformats.org/officeDocument/2006/relationships/notesSlide" Target="/ppt/notesSlides/notesSlide64.xml" Id="R79a1a5053b54460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70b3d6681a34833" /><Relationship Type="http://schemas.openxmlformats.org/officeDocument/2006/relationships/image" Target="/ppt/media/image3.png" Id="R2758d516731f45a4" /><Relationship Type="http://schemas.openxmlformats.org/officeDocument/2006/relationships/image" Target="/ppt/media/image4.png" Id="R724b7999595e49ae" /><Relationship Type="http://schemas.openxmlformats.org/officeDocument/2006/relationships/notesSlide" Target="/ppt/notesSlides/notesSlide65.xml" Id="R5c37bbd6a60a476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cbf1c2f30e314b19" /><Relationship Type="http://schemas.openxmlformats.org/officeDocument/2006/relationships/image" Target="/ppt/media/image3.png" Id="R8af59f86e1a646d8" /><Relationship Type="http://schemas.openxmlformats.org/officeDocument/2006/relationships/image" Target="/ppt/media/image4.png" Id="Rcdf4a6fa4aa94c4f" /><Relationship Type="http://schemas.openxmlformats.org/officeDocument/2006/relationships/notesSlide" Target="/ppt/notesSlides/notesSlide66.xml" Id="Rbc51ce6608234e6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339eba5d94c54bfc" /><Relationship Type="http://schemas.openxmlformats.org/officeDocument/2006/relationships/image" Target="/ppt/media/image3.png" Id="R1edfb6e428ab479c" /><Relationship Type="http://schemas.openxmlformats.org/officeDocument/2006/relationships/image" Target="/ppt/media/image4.png" Id="Ree877f0efe0e468e" /><Relationship Type="http://schemas.openxmlformats.org/officeDocument/2006/relationships/notesSlide" Target="/ppt/notesSlides/notesSlide67.xml" Id="R96f2ca9b1f50492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c59f333bee7945c3" /><Relationship Type="http://schemas.openxmlformats.org/officeDocument/2006/relationships/image" Target="/ppt/media/image3.png" Id="R4dafac2697b24dcb" /><Relationship Type="http://schemas.openxmlformats.org/officeDocument/2006/relationships/image" Target="/ppt/media/image4.png" Id="R51d79af5e9a54a1e" /><Relationship Type="http://schemas.openxmlformats.org/officeDocument/2006/relationships/notesSlide" Target="/ppt/notesSlides/notesSlide68.xml" Id="R1728aaf548a648a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400a37b736b54c96" /><Relationship Type="http://schemas.openxmlformats.org/officeDocument/2006/relationships/image" Target="/ppt/media/image3.png" Id="R9dad8fea81184b4f" /><Relationship Type="http://schemas.openxmlformats.org/officeDocument/2006/relationships/image" Target="/ppt/media/image4.png" Id="R182df673ac4b4262" /><Relationship Type="http://schemas.openxmlformats.org/officeDocument/2006/relationships/notesSlide" Target="/ppt/notesSlides/notesSlide69.xml" Id="R821500741d624c4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36d2f7e3d5ae40c2" /><Relationship Type="http://schemas.openxmlformats.org/officeDocument/2006/relationships/image" Target="/ppt/media/image.png" Id="R75027ba5fe8f4035" /><Relationship Type="http://schemas.openxmlformats.org/officeDocument/2006/relationships/image" Target="/ppt/media/image2.png" Id="R106e35a1ba1c419f" /><Relationship Type="http://schemas.openxmlformats.org/officeDocument/2006/relationships/notesSlide" Target="/ppt/notesSlides/notesSlide70.xml" Id="R152bf273609e4f84"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a0d829dc64124217" /><Relationship Type="http://schemas.openxmlformats.org/officeDocument/2006/relationships/image" Target="/ppt/media/image3.png" Id="Rf18817cabb114d9b" /><Relationship Type="http://schemas.openxmlformats.org/officeDocument/2006/relationships/image" Target="/ppt/media/image4.png" Id="Rd33f02718b7141df" /><Relationship Type="http://schemas.openxmlformats.org/officeDocument/2006/relationships/notesSlide" Target="/ppt/notesSlides/notesSlide71.xml" Id="Ra39237607198437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6ffaa30bb7494cfb" /><Relationship Type="http://schemas.openxmlformats.org/officeDocument/2006/relationships/image" Target="/ppt/media/image3.png" Id="R0b4e1c435a124a3d" /><Relationship Type="http://schemas.openxmlformats.org/officeDocument/2006/relationships/image" Target="/ppt/media/image4.png" Id="R18a890c1f42f421c" /><Relationship Type="http://schemas.openxmlformats.org/officeDocument/2006/relationships/notesSlide" Target="/ppt/notesSlides/notesSlide72.xml" Id="Rfca34b4273f3483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7d55796450044d7e" /><Relationship Type="http://schemas.openxmlformats.org/officeDocument/2006/relationships/image" Target="/ppt/media/image3.png" Id="R941acb81b65446d7" /><Relationship Type="http://schemas.openxmlformats.org/officeDocument/2006/relationships/image" Target="/ppt/media/image4.png" Id="Rf056cce53eb74648" /><Relationship Type="http://schemas.openxmlformats.org/officeDocument/2006/relationships/notesSlide" Target="/ppt/notesSlides/notesSlide73.xml" Id="Re7e1ae6b888940a8"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d88c19b9ca514f7a" /><Relationship Type="http://schemas.openxmlformats.org/officeDocument/2006/relationships/image" Target="/ppt/media/image3.png" Id="R9e74f5b83922446f" /><Relationship Type="http://schemas.openxmlformats.org/officeDocument/2006/relationships/image" Target="/ppt/media/image4.png" Id="R505914b77ffb4796" /><Relationship Type="http://schemas.openxmlformats.org/officeDocument/2006/relationships/notesSlide" Target="/ppt/notesSlides/notesSlide74.xml" Id="R110c45da517f441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19b10963f0a24ec5" /><Relationship Type="http://schemas.openxmlformats.org/officeDocument/2006/relationships/image" Target="/ppt/media/image3.png" Id="Ra9c54a4299974e01" /><Relationship Type="http://schemas.openxmlformats.org/officeDocument/2006/relationships/image" Target="/ppt/media/image4.png" Id="R5b49c8e96280443d" /><Relationship Type="http://schemas.openxmlformats.org/officeDocument/2006/relationships/image" Target="/ppt/media/image21.png" Id="Re6cb6572d179428f" /><Relationship Type="http://schemas.openxmlformats.org/officeDocument/2006/relationships/notesSlide" Target="/ppt/notesSlides/notesSlide75.xml" Id="R2cf52355b0c1491c"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742d8d6dcecd4de2" /><Relationship Type="http://schemas.openxmlformats.org/officeDocument/2006/relationships/image" Target="/ppt/media/image3.png" Id="R5975c6b22a144c06" /><Relationship Type="http://schemas.openxmlformats.org/officeDocument/2006/relationships/image" Target="/ppt/media/image4.png" Id="Rfc1515396b164a1e" /><Relationship Type="http://schemas.openxmlformats.org/officeDocument/2006/relationships/image" Target="/ppt/media/image22.png" Id="Rb7caab7c108b4af9" /><Relationship Type="http://schemas.openxmlformats.org/officeDocument/2006/relationships/notesSlide" Target="/ppt/notesSlides/notesSlide76.xml" Id="R36a4acf071fd44fa"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5eb416efd0594000" /><Relationship Type="http://schemas.openxmlformats.org/officeDocument/2006/relationships/image" Target="/ppt/media/image3.png" Id="Re8f736dccbf04c9c" /><Relationship Type="http://schemas.openxmlformats.org/officeDocument/2006/relationships/image" Target="/ppt/media/image4.png" Id="R30855a3bda724fd8" /><Relationship Type="http://schemas.openxmlformats.org/officeDocument/2006/relationships/image" Target="/ppt/media/image23.png" Id="R96cf5c40a22a4590" /><Relationship Type="http://schemas.openxmlformats.org/officeDocument/2006/relationships/notesSlide" Target="/ppt/notesSlides/notesSlide77.xml" Id="Rfd314debc7904a61"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4fc0d0a0d56a4b01" /><Relationship Type="http://schemas.openxmlformats.org/officeDocument/2006/relationships/image" Target="/ppt/media/image3.png" Id="Rcbe5ed34cfbe4cff" /><Relationship Type="http://schemas.openxmlformats.org/officeDocument/2006/relationships/image" Target="/ppt/media/image4.png" Id="R53ca76e57e36454a" /><Relationship Type="http://schemas.openxmlformats.org/officeDocument/2006/relationships/image" Target="/ppt/media/image24.png" Id="R3fcdb05cdf574f6e" /><Relationship Type="http://schemas.openxmlformats.org/officeDocument/2006/relationships/notesSlide" Target="/ppt/notesSlides/notesSlide78.xml" Id="Rfa9d9bdffca7429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e2cd74e284ba40cd" /><Relationship Type="http://schemas.openxmlformats.org/officeDocument/2006/relationships/image" Target="/ppt/media/image3.png" Id="R6dc83aabab834ddb" /><Relationship Type="http://schemas.openxmlformats.org/officeDocument/2006/relationships/image" Target="/ppt/media/image4.png" Id="Rd093a4af8ab0421a" /><Relationship Type="http://schemas.openxmlformats.org/officeDocument/2006/relationships/image" Target="/ppt/media/image25.png" Id="Rba67afc58f0a47d6" /><Relationship Type="http://schemas.openxmlformats.org/officeDocument/2006/relationships/notesSlide" Target="/ppt/notesSlides/notesSlide79.xml" Id="R73cfad0775cf4815"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ead6c64e92374cee" /><Relationship Type="http://schemas.openxmlformats.org/officeDocument/2006/relationships/image" Target="/ppt/media/image3.png" Id="R327f0296792d4a4f" /><Relationship Type="http://schemas.openxmlformats.org/officeDocument/2006/relationships/image" Target="/ppt/media/image4.png" Id="Rfb895a4c00d841c6" /><Relationship Type="http://schemas.openxmlformats.org/officeDocument/2006/relationships/image" Target="/ppt/media/image26.png" Id="Ra79b3a38fedd4e29" /><Relationship Type="http://schemas.openxmlformats.org/officeDocument/2006/relationships/notesSlide" Target="/ppt/notesSlides/notesSlide80.xml" Id="R9b541f4a8f534c30"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689e620f3c484f8a" /><Relationship Type="http://schemas.openxmlformats.org/officeDocument/2006/relationships/image" Target="/ppt/media/image3.png" Id="R109c31a652bf4c77" /><Relationship Type="http://schemas.openxmlformats.org/officeDocument/2006/relationships/image" Target="/ppt/media/image4.png" Id="Rb782109528314f54" /><Relationship Type="http://schemas.openxmlformats.org/officeDocument/2006/relationships/image" Target="/ppt/media/image27.png" Id="R5eed4234c8764fa2" /><Relationship Type="http://schemas.openxmlformats.org/officeDocument/2006/relationships/notesSlide" Target="/ppt/notesSlides/notesSlide81.xml" Id="Rdb75d2f244c948c3"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38d78f5090434d4e" /><Relationship Type="http://schemas.openxmlformats.org/officeDocument/2006/relationships/image" Target="/ppt/media/image3.png" Id="Re43a9361794245dd" /><Relationship Type="http://schemas.openxmlformats.org/officeDocument/2006/relationships/image" Target="/ppt/media/image4.png" Id="R0eb75e38d3274a13" /><Relationship Type="http://schemas.openxmlformats.org/officeDocument/2006/relationships/notesSlide" Target="/ppt/notesSlides/notesSlide82.xml" Id="Rbafab5ea090c4fc8"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01808d546764c9d" /><Relationship Type="http://schemas.openxmlformats.org/officeDocument/2006/relationships/image" Target="/ppt/media/image3.png" Id="R1c97e6894f05424e" /><Relationship Type="http://schemas.openxmlformats.org/officeDocument/2006/relationships/image" Target="/ppt/media/image4.png" Id="Rd76508ded6fc4165" /><Relationship Type="http://schemas.openxmlformats.org/officeDocument/2006/relationships/notesSlide" Target="/ppt/notesSlides/notesSlide83.xml" Id="Rff066916cd1840c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e352fe01d5a4453d" /><Relationship Type="http://schemas.openxmlformats.org/officeDocument/2006/relationships/image" Target="/ppt/media/image3.png" Id="R9cff96dd46da42fc" /><Relationship Type="http://schemas.openxmlformats.org/officeDocument/2006/relationships/image" Target="/ppt/media/image4.png" Id="R948f54860e49495c" /><Relationship Type="http://schemas.openxmlformats.org/officeDocument/2006/relationships/image" Target="/ppt/media/image28.png" Id="Rd7d8046d93f24128" /><Relationship Type="http://schemas.openxmlformats.org/officeDocument/2006/relationships/notesSlide" Target="/ppt/notesSlides/notesSlide84.xml" Id="R1861646ac27b4b2b"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ad108444d26a45ba" /><Relationship Type="http://schemas.openxmlformats.org/officeDocument/2006/relationships/image" Target="/ppt/media/image3.png" Id="Rf1614f8353674947" /><Relationship Type="http://schemas.openxmlformats.org/officeDocument/2006/relationships/image" Target="/ppt/media/image4.png" Id="Raf6f57ae44354e44" /><Relationship Type="http://schemas.openxmlformats.org/officeDocument/2006/relationships/notesSlide" Target="/ppt/notesSlides/notesSlide85.xml" Id="Rb5ec371529cb441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cb32884829fd4328" /><Relationship Type="http://schemas.openxmlformats.org/officeDocument/2006/relationships/image" Target="/ppt/media/image3.png" Id="R42958fe853174cad" /><Relationship Type="http://schemas.openxmlformats.org/officeDocument/2006/relationships/image" Target="/ppt/media/image4.png" Id="R1add518a95944e9d" /><Relationship Type="http://schemas.openxmlformats.org/officeDocument/2006/relationships/notesSlide" Target="/ppt/notesSlides/notesSlide86.xml" Id="R341c73383f0a47a7"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fa06d6bbb0094e46" /><Relationship Type="http://schemas.openxmlformats.org/officeDocument/2006/relationships/image" Target="/ppt/media/image3.png" Id="Rf623bcb4604642e0" /><Relationship Type="http://schemas.openxmlformats.org/officeDocument/2006/relationships/image" Target="/ppt/media/image4.png" Id="R58b362a6da174885" /><Relationship Type="http://schemas.openxmlformats.org/officeDocument/2006/relationships/notesSlide" Target="/ppt/notesSlides/notesSlide87.xml" Id="Racffd87287c7493a"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283ee88f886840b7" /><Relationship Type="http://schemas.openxmlformats.org/officeDocument/2006/relationships/image" Target="/ppt/media/image3.png" Id="Rda166e16cd7f4d31" /><Relationship Type="http://schemas.openxmlformats.org/officeDocument/2006/relationships/image" Target="/ppt/media/image4.png" Id="R5314be7de42046fa" /><Relationship Type="http://schemas.openxmlformats.org/officeDocument/2006/relationships/notesSlide" Target="/ppt/notesSlides/notesSlide88.xml" Id="Rd94b8ce73a7e458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03301743c35f4b53" /><Relationship Type="http://schemas.openxmlformats.org/officeDocument/2006/relationships/image" Target="/ppt/media/image3.png" Id="R12d42460d45c4e67" /><Relationship Type="http://schemas.openxmlformats.org/officeDocument/2006/relationships/image" Target="/ppt/media/image4.png" Id="R58dff1b0d03848b3" /><Relationship Type="http://schemas.openxmlformats.org/officeDocument/2006/relationships/notesSlide" Target="/ppt/notesSlides/notesSlide89.xml" Id="Re58aab87fa2f409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f340494eb81540cf" /><Relationship Type="http://schemas.openxmlformats.org/officeDocument/2006/relationships/image" Target="/ppt/media/image3.png" Id="R9fa3a89ea3174cc0" /><Relationship Type="http://schemas.openxmlformats.org/officeDocument/2006/relationships/image" Target="/ppt/media/image4.png" Id="R1a2785bbfa8c4501" /><Relationship Type="http://schemas.openxmlformats.org/officeDocument/2006/relationships/notesSlide" Target="/ppt/notesSlides/notesSlide90.xml" Id="R194be76dc98d415b"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3eba8f96441243b9" /><Relationship Type="http://schemas.openxmlformats.org/officeDocument/2006/relationships/image" Target="/ppt/media/image3.png" Id="R1bb09ece883946b9" /><Relationship Type="http://schemas.openxmlformats.org/officeDocument/2006/relationships/image" Target="/ppt/media/image4.png" Id="Rcf49045464074c16" /><Relationship Type="http://schemas.openxmlformats.org/officeDocument/2006/relationships/notesSlide" Target="/ppt/notesSlides/notesSlide91.xml" Id="Rd487e30e384b48c6"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09f4beb7f1264b6f" /><Relationship Type="http://schemas.openxmlformats.org/officeDocument/2006/relationships/image" Target="/ppt/media/image.png" Id="R5baf97f8211f4afd" /><Relationship Type="http://schemas.openxmlformats.org/officeDocument/2006/relationships/image" Target="/ppt/media/image2.png" Id="Rc1a33ee4eda447ec" /><Relationship Type="http://schemas.openxmlformats.org/officeDocument/2006/relationships/notesSlide" Target="/ppt/notesSlides/notesSlide92.xml" Id="R8642d516117f468e"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a5084ddbfb4c4980" /><Relationship Type="http://schemas.openxmlformats.org/officeDocument/2006/relationships/image" Target="/ppt/media/image3.png" Id="R18bb20618d1448e5" /><Relationship Type="http://schemas.openxmlformats.org/officeDocument/2006/relationships/image" Target="/ppt/media/image4.png" Id="R164064f801a249a7" /><Relationship Type="http://schemas.openxmlformats.org/officeDocument/2006/relationships/notesSlide" Target="/ppt/notesSlides/notesSlide93.xml" Id="R3c30a6db7bff47a4"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f7c2303d920d4f3a" /><Relationship Type="http://schemas.openxmlformats.org/officeDocument/2006/relationships/image" Target="/ppt/media/image3.png" Id="R583e9a26bc9e4df8" /><Relationship Type="http://schemas.openxmlformats.org/officeDocument/2006/relationships/image" Target="/ppt/media/image4.png" Id="R59594219fef642c1" /><Relationship Type="http://schemas.openxmlformats.org/officeDocument/2006/relationships/notesSlide" Target="/ppt/notesSlides/notesSlide94.xml" Id="R7d74d3c55c784148"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1f1b9ea287e74452" /><Relationship Type="http://schemas.openxmlformats.org/officeDocument/2006/relationships/image" Target="/ppt/media/image3.png" Id="Rd1fa85a5c98e45b7" /><Relationship Type="http://schemas.openxmlformats.org/officeDocument/2006/relationships/image" Target="/ppt/media/image4.png" Id="R2545662f65684423" /><Relationship Type="http://schemas.openxmlformats.org/officeDocument/2006/relationships/notesSlide" Target="/ppt/notesSlides/notesSlide95.xml" Id="R2c916af9dfda447e"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a71c9ff51d2e487d" /><Relationship Type="http://schemas.openxmlformats.org/officeDocument/2006/relationships/image" Target="/ppt/media/image3.png" Id="R4cf0c7a1b2c643a6" /><Relationship Type="http://schemas.openxmlformats.org/officeDocument/2006/relationships/image" Target="/ppt/media/image4.png" Id="R6588f111491142ee" /><Relationship Type="http://schemas.openxmlformats.org/officeDocument/2006/relationships/notesSlide" Target="/ppt/notesSlides/notesSlide96.xml" Id="R76e52bdad4e24bc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4ce5ddda65ea4d6e" /><Relationship Type="http://schemas.openxmlformats.org/officeDocument/2006/relationships/image" Target="/ppt/media/image3.png" Id="R75e0d7bc53cd45c1" /><Relationship Type="http://schemas.openxmlformats.org/officeDocument/2006/relationships/image" Target="/ppt/media/image4.png" Id="Ra6e5755ef8d14470" /><Relationship Type="http://schemas.openxmlformats.org/officeDocument/2006/relationships/notesSlide" Target="/ppt/notesSlides/notesSlide97.xml" Id="Ra61572fcd20f49e1"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0225ba67fef14d7b" /><Relationship Type="http://schemas.openxmlformats.org/officeDocument/2006/relationships/image" Target="/ppt/media/image3.png" Id="R4038b3b115f84448" /><Relationship Type="http://schemas.openxmlformats.org/officeDocument/2006/relationships/image" Target="/ppt/media/image4.png" Id="R45cea7df6371453d" /><Relationship Type="http://schemas.openxmlformats.org/officeDocument/2006/relationships/notesSlide" Target="/ppt/notesSlides/notesSlide98.xml" Id="Ra8f2523b13614c1c"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6d06d9bb47db45e8" /><Relationship Type="http://schemas.openxmlformats.org/officeDocument/2006/relationships/image" Target="/ppt/media/image3.png" Id="R11b1be7833d54d20" /><Relationship Type="http://schemas.openxmlformats.org/officeDocument/2006/relationships/image" Target="/ppt/media/image4.png" Id="R094e785392f2456e" /><Relationship Type="http://schemas.openxmlformats.org/officeDocument/2006/relationships/notesSlide" Target="/ppt/notesSlides/notesSlide99.xml" Id="R3670660ea8a64e1b"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bfaa782d7f3e45aa" /><Relationship Type="http://schemas.openxmlformats.org/officeDocument/2006/relationships/image" Target="/ppt/media/image3.png" Id="Rf21d2eb883484050" /><Relationship Type="http://schemas.openxmlformats.org/officeDocument/2006/relationships/image" Target="/ppt/media/image4.png" Id="R171f87e1055b4c56" /><Relationship Type="http://schemas.openxmlformats.org/officeDocument/2006/relationships/notesSlide" Target="/ppt/notesSlides/notesSlide100.xml" Id="Rb8da19a62b5c406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344e657d892742ad" /><Relationship Type="http://schemas.openxmlformats.org/officeDocument/2006/relationships/image" Target="/ppt/media/image3.png" Id="Ra1d931c95e974ab7" /><Relationship Type="http://schemas.openxmlformats.org/officeDocument/2006/relationships/image" Target="/ppt/media/image4.png" Id="R34bdfc7ffd1f446c" /><Relationship Type="http://schemas.openxmlformats.org/officeDocument/2006/relationships/notesSlide" Target="/ppt/notesSlides/notesSlide101.xml" Id="R1488985317754234"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4cd6c269e37a4cba" /><Relationship Type="http://schemas.openxmlformats.org/officeDocument/2006/relationships/image" Target="/ppt/media/image3.png" Id="Refa9375f94214c31" /><Relationship Type="http://schemas.openxmlformats.org/officeDocument/2006/relationships/image" Target="/ppt/media/image4.png" Id="R4e0624e3599f4e3b" /><Relationship Type="http://schemas.openxmlformats.org/officeDocument/2006/relationships/notesSlide" Target="/ppt/notesSlides/notesSlide102.xml" Id="R12004c65cdfc4962"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3154b38e3afc4b48" /><Relationship Type="http://schemas.openxmlformats.org/officeDocument/2006/relationships/image" Target="/ppt/media/image3.png" Id="R484cd444cb75460a" /><Relationship Type="http://schemas.openxmlformats.org/officeDocument/2006/relationships/image" Target="/ppt/media/image4.png" Id="Rfc8763472a6d4aa8" /><Relationship Type="http://schemas.openxmlformats.org/officeDocument/2006/relationships/notesSlide" Target="/ppt/notesSlides/notesSlide103.xml" Id="Rbb757fa3d4984e3f"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3d56f389a6a74d1c" /><Relationship Type="http://schemas.openxmlformats.org/officeDocument/2006/relationships/image" Target="/ppt/media/image3.png" Id="R7656d5a32147450d" /><Relationship Type="http://schemas.openxmlformats.org/officeDocument/2006/relationships/image" Target="/ppt/media/image4.png" Id="R94d729df29b44dfd" /><Relationship Type="http://schemas.openxmlformats.org/officeDocument/2006/relationships/notesSlide" Target="/ppt/notesSlides/notesSlide104.xml" Id="R3e843f53bac54e9a"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3d7299968f704800" /><Relationship Type="http://schemas.openxmlformats.org/officeDocument/2006/relationships/image" Target="/ppt/media/image3.png" Id="R796f871379074377" /><Relationship Type="http://schemas.openxmlformats.org/officeDocument/2006/relationships/image" Target="/ppt/media/image4.png" Id="R9c369f5640b3454e" /><Relationship Type="http://schemas.openxmlformats.org/officeDocument/2006/relationships/notesSlide" Target="/ppt/notesSlides/notesSlide105.xml" Id="R30ba5450d4cb45a0"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c8fd72104c864f46" /><Relationship Type="http://schemas.openxmlformats.org/officeDocument/2006/relationships/image" Target="/ppt/media/image3.png" Id="R5aad33c973694d29" /><Relationship Type="http://schemas.openxmlformats.org/officeDocument/2006/relationships/image" Target="/ppt/media/image4.png" Id="R2e05a57508b44cec" /><Relationship Type="http://schemas.openxmlformats.org/officeDocument/2006/relationships/notesSlide" Target="/ppt/notesSlides/notesSlide106.xml" Id="R43d7eb7cbbfc4f88"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023635d862344cdb" /><Relationship Type="http://schemas.openxmlformats.org/officeDocument/2006/relationships/image" Target="/ppt/media/image3.png" Id="R3e791add733941ab" /><Relationship Type="http://schemas.openxmlformats.org/officeDocument/2006/relationships/image" Target="/ppt/media/image4.png" Id="R1953410e29f74dc3" /><Relationship Type="http://schemas.openxmlformats.org/officeDocument/2006/relationships/notesSlide" Target="/ppt/notesSlides/notesSlide107.xml" Id="R0535bd5d379e417a"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16e1aef0667d44c6" /><Relationship Type="http://schemas.openxmlformats.org/officeDocument/2006/relationships/image" Target="/ppt/media/image3.png" Id="R9f6b5532dec04296" /><Relationship Type="http://schemas.openxmlformats.org/officeDocument/2006/relationships/image" Target="/ppt/media/image4.png" Id="R9c98aff0eab747e2" /><Relationship Type="http://schemas.openxmlformats.org/officeDocument/2006/relationships/notesSlide" Target="/ppt/notesSlides/notesSlide108.xml" Id="Ra6b5d3738bd64d7c"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a9f5e7993e1b4aad" /><Relationship Type="http://schemas.openxmlformats.org/officeDocument/2006/relationships/image" Target="/ppt/media/image3.png" Id="R7d0d8e9e7fb54a69" /><Relationship Type="http://schemas.openxmlformats.org/officeDocument/2006/relationships/image" Target="/ppt/media/image4.png" Id="R5ae9f8e2313743e1" /><Relationship Type="http://schemas.openxmlformats.org/officeDocument/2006/relationships/notesSlide" Target="/ppt/notesSlides/notesSlide109.xml" Id="R86967e3a5c1f4c25"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9c51b49eec2d46b2" /><Relationship Type="http://schemas.openxmlformats.org/officeDocument/2006/relationships/image" Target="/ppt/media/image3.png" Id="R9cef4dbc02234004" /><Relationship Type="http://schemas.openxmlformats.org/officeDocument/2006/relationships/image" Target="/ppt/media/image4.png" Id="R2619d09247034a32" /><Relationship Type="http://schemas.openxmlformats.org/officeDocument/2006/relationships/notesSlide" Target="/ppt/notesSlides/notesSlide110.xml" Id="R29670abb9fd84ac6"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d2eb93052edc4e64" /><Relationship Type="http://schemas.openxmlformats.org/officeDocument/2006/relationships/image" Target="/ppt/media/image3.png" Id="R89dadb6979a94bff" /><Relationship Type="http://schemas.openxmlformats.org/officeDocument/2006/relationships/image" Target="/ppt/media/image4.png" Id="R257fde6d1bee41f7" /><Relationship Type="http://schemas.openxmlformats.org/officeDocument/2006/relationships/notesSlide" Target="/ppt/notesSlides/notesSlide111.xml" Id="Rf4c0b14a20e849cf"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a9af522770f440a3" /><Relationship Type="http://schemas.openxmlformats.org/officeDocument/2006/relationships/image" Target="/ppt/media/image3.png" Id="R65b0209c7bfb41b1" /><Relationship Type="http://schemas.openxmlformats.org/officeDocument/2006/relationships/image" Target="/ppt/media/image4.png" Id="R7a68a99ce16d470a" /><Relationship Type="http://schemas.openxmlformats.org/officeDocument/2006/relationships/notesSlide" Target="/ppt/notesSlides/notesSlide112.xml" Id="R7b7fcd39544d420f"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4fe4ee2335884e06" /><Relationship Type="http://schemas.openxmlformats.org/officeDocument/2006/relationships/image" Target="/ppt/media/image3.png" Id="Ra3762c6c4c3f4e64" /><Relationship Type="http://schemas.openxmlformats.org/officeDocument/2006/relationships/image" Target="/ppt/media/image4.png" Id="R272391bdbe464c90" /><Relationship Type="http://schemas.openxmlformats.org/officeDocument/2006/relationships/notesSlide" Target="/ppt/notesSlides/notesSlide113.xml" Id="R5422b096d333461b" /></Relationships>
</file>

<file path=ppt/slides/slide1.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2F35AB4-C48A-44F3-8C3F-0F4F80F6959B}"/>
              </a:ext>
            </a:extLst>
          </p:cNvPr>
          <p:cNvSpPr>
            <a:spLocks xmlns:a="http://schemas.openxmlformats.org/drawingml/2006/main" noGrp="1"/>
          </p:cNvSpPr>
          <p:nvPr/>
        </p:nvSpPr>
        <p:spPr>
          <a:xfrm xmlns:a="http://schemas.openxmlformats.org/drawingml/2006/main">
            <a:off x="914400" y="1224375"/>
            <a:ext cx="103629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6000">
                <a:solidFill>
                  <a:srgbClr val="FFFFFF"/>
                </a:solidFill>
              </a:defRPr>
            </a:pPr>
            <a:r>
              <a:rPr sz="6000">
                <a:solidFill>
                  <a:srgbClr val="FFFFFF"/>
                </a:solidFill>
                <a:latin typeface="Archivo Black"/>
                <a:ea typeface="Archivo Black"/>
                <a:cs typeface="Archivo Black"/>
              </a:rPr>
              <a:t>NLP AVANCÉ</a:t>
            </a:r>
            <a:endParaRPr sz="7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16F1CEC8-E33A-49DB-986A-89F4236D60EB}"/>
              </a:ext>
            </a:extLst>
          </p:cNvPr>
          <p:cNvSpPr>
            <a:spLocks xmlns:a="http://schemas.openxmlformats.org/drawingml/2006/main" noGrp="1"/>
          </p:cNvSpPr>
          <p:nvPr/>
        </p:nvSpPr>
        <p:spPr>
          <a:xfrm xmlns:a="http://schemas.openxmlformats.org/drawingml/2006/main">
            <a:off x="914400" y="2166575"/>
            <a:ext cx="926520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3450">
                <a:solidFill>
                  <a:srgbClr val="FFFFFF"/>
                </a:solidFill>
              </a:defRPr>
            </a:pPr>
            <a:r>
              <a:rPr sz="3450">
                <a:solidFill>
                  <a:srgbClr val="FFFFFF"/>
                </a:solidFill>
                <a:latin typeface="Archivo Black"/>
                <a:ea typeface="Archivo Black"/>
                <a:cs typeface="Archivo Black"/>
              </a:rPr>
              <a:t>(BERT, GPT, Hugging Face)</a:t>
            </a:r>
            <a:endParaRPr sz="45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EA9798FB-E9A3-4A58-84AF-3B8FCDF50C07}"/>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33" name="Google Shape;19;p3"/>
          <p:cNvPicPr>
            <a:picLocks xmlns:a="http://schemas.openxmlformats.org/drawingml/2006/main" noChangeAspect="1"/>
          </p:cNvPicPr>
          <p:nvPr/>
        </p:nvPicPr>
        <p:blipFill>
          <a:blip xmlns:r="http://schemas.openxmlformats.org/officeDocument/2006/relationships" xmlns:a="http://schemas.openxmlformats.org/drawingml/2006/main" r:embed="R5752a3edecea4ee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C3B9D11F-5970-44F4-9101-D1237E0862D0}"/>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 name="Google Shape;21;p3">
            <a:extLst xmlns:a="http://schemas.openxmlformats.org/drawingml/2006/main">
              <a:ext uri="{FF2B5EF4-FFF2-40B4-BE49-F238E27FC236}">
                <a16:creationId xmlns:a16="http://schemas.microsoft.com/office/drawing/2014/main" id="{E0A1BCC2-62CC-4A54-99CD-C607687768F6}"/>
              </a:ext>
            </a:extLst>
          </p:cNvPr>
          <p:cNvSpPr>
            <a:spLocks xmlns:a="http://schemas.openxmlformats.org/drawingml/2006/main" noGrp="1"/>
          </p:cNvSpPr>
          <p:nvPr/>
        </p:nvSpPr>
        <p:spPr>
          <a:xfrm xmlns:a="http://schemas.openxmlformats.org/drawingml/2006/main">
            <a:off x="10701607" y="5705974"/>
            <a:ext cx="6768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defRPr sz="900">
                <a:solidFill>
                  <a:srgbClr val="111111"/>
                </a:solidFill>
              </a:defRPr>
            </a:pPr>
            <a:r>
              <a:rPr sz="900" b="0" i="0" u="none" cap="none">
                <a:solidFill>
                  <a:srgbClr val="111111"/>
                </a:solidFill>
                <a:latin typeface="Archivo Black"/>
                <a:ea typeface="Archivo Black"/>
                <a:cs typeface="Archivo Black"/>
              </a:rPr>
              <a:t>COLAB T4</a:t>
            </a:r>
            <a:endParaRPr sz="900" b="0" i="0" u="none" cap="none">
              <a:solidFill>
                <a:schemeClr val="dk1"/>
              </a:solidFill>
              <a:latin typeface="Calibri"/>
              <a:ea typeface="Calibri"/>
              <a:cs typeface="Calibri"/>
            </a:endParaRPr>
          </a:p>
        </p:txBody>
      </p:sp>
      <p:sp>
        <p:nvSpPr>
          <p:cNvPr id="22" name="Google Shape;22;p3">
            <a:extLst xmlns:a="http://schemas.openxmlformats.org/drawingml/2006/main">
              <a:ext uri="{FF2B5EF4-FFF2-40B4-BE49-F238E27FC236}">
                <a16:creationId xmlns:a16="http://schemas.microsoft.com/office/drawing/2014/main" id="{E246D307-6F28-4900-87B9-F18B308AB7D8}"/>
              </a:ext>
            </a:extLst>
          </p:cNvPr>
          <p:cNvSpPr>
            <a:spLocks xmlns:a="http://schemas.openxmlformats.org/drawingml/2006/main" noGrp="1"/>
          </p:cNvSpPr>
          <p:nvPr/>
        </p:nvSpPr>
        <p:spPr>
          <a:xfrm xmlns:a="http://schemas.openxmlformats.org/drawingml/2006/main">
            <a:off x="10701593" y="4545949"/>
            <a:ext cx="6768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900"/>
              <a:buFont typeface="Archivo Black"/>
              <a:buNone/>
              <a:defRPr sz="900">
                <a:solidFill>
                  <a:srgbClr val="111111"/>
                </a:solidFill>
              </a:defRPr>
            </a:pPr>
            <a:r>
              <a:rPr sz="900">
                <a:solidFill>
                  <a:srgbClr val="111111"/>
                </a:solidFill>
                <a:latin typeface="Archivo Black"/>
                <a:ea typeface="Archivo Black"/>
                <a:cs typeface="Archivo Black"/>
              </a:rPr>
              <a:t>5 JOURS</a:t>
            </a:r>
            <a:endParaRPr sz="900" b="0" i="0" u="none" cap="none">
              <a:solidFill>
                <a:schemeClr val="dk1"/>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1F7AC564-A2EB-4F81-91F3-25C70631C939}"/>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24" name="Google Shape;24;p3">
            <a:extLst xmlns:a="http://schemas.openxmlformats.org/drawingml/2006/main">
              <a:ext uri="{FF2B5EF4-FFF2-40B4-BE49-F238E27FC236}">
                <a16:creationId xmlns:a16="http://schemas.microsoft.com/office/drawing/2014/main" id="{E2E16341-19C4-41CA-B11E-57AA562E047A}"/>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 name="Google Shape;25;p3">
            <a:extLst xmlns:a="http://schemas.openxmlformats.org/drawingml/2006/main">
              <a:ext uri="{FF2B5EF4-FFF2-40B4-BE49-F238E27FC236}">
                <a16:creationId xmlns:a16="http://schemas.microsoft.com/office/drawing/2014/main" id="{D35A3EC2-513B-4138-A1BB-B58CADA07B74}"/>
              </a:ext>
            </a:extLst>
          </p:cNvPr>
          <p:cNvSpPr>
            <a:spLocks xmlns:a="http://schemas.openxmlformats.org/drawingml/2006/main" noGrp="1"/>
          </p:cNvSpPr>
          <p:nvPr/>
        </p:nvSpPr>
        <p:spPr>
          <a:xfrm xmlns:a="http://schemas.openxmlformats.org/drawingml/2006/main">
            <a:off x="10459000" y="5124000"/>
            <a:ext cx="1162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50000"/>
              </a:lnSpc>
              <a:spcBef>
                <a:spcPts val="0"/>
              </a:spcBef>
              <a:spcAft>
                <a:spcPts val="0"/>
              </a:spcAft>
              <a:buNone/>
              <a:defRPr sz="1650">
                <a:solidFill>
                  <a:srgbClr val="BF2E00"/>
                </a:solidFill>
              </a:defRPr>
            </a:pPr>
            <a:r>
              <a:rPr sz="1650">
                <a:solidFill>
                  <a:srgbClr val="BF2E00"/>
                </a:solidFill>
                <a:highlight>
                  <a:srgbClr val="F8F9FA"/>
                </a:highlight>
                <a:latin typeface="Roboto Mono"/>
                <a:ea typeface="Roboto Mono"/>
                <a:cs typeface="Roboto Mono"/>
              </a:rPr>
              <a:t>35 H</a:t>
            </a:r>
            <a:endParaRPr/>
          </a:p>
        </p:txBody>
      </p:sp>
      <p:pic>
        <p:nvPicPr>
          <p:cNvPr id="40" name="Google Shape;26;p3"/>
          <p:cNvPicPr>
            <a:picLocks xmlns:a="http://schemas.openxmlformats.org/drawingml/2006/main" noChangeAspect="1"/>
          </p:cNvPicPr>
          <p:nvPr/>
        </p:nvPicPr>
        <p:blipFill>
          <a:blip xmlns:r="http://schemas.openxmlformats.org/officeDocument/2006/relationships" xmlns:a="http://schemas.openxmlformats.org/drawingml/2006/main" r:embed="R496045123f5b4ad7">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28" name="presenter">
            <a:extLst xmlns:a="http://schemas.openxmlformats.org/drawingml/2006/main">
              <a:ext uri="{FF2B5EF4-FFF2-40B4-BE49-F238E27FC236}">
                <a16:creationId xmlns:a16="http://schemas.microsoft.com/office/drawing/2014/main" id="{B508C5B6-06D6-4D6F-B4E1-CAE88871EDD3}"/>
              </a:ext>
            </a:extLst>
          </p:cNvPr>
          <p:cNvSpPr>
            <a:spLocks xmlns:a="http://schemas.openxmlformats.org/drawingml/2006/main" noGrp="1"/>
          </p:cNvSpPr>
          <p:nvPr/>
        </p:nvSpPr>
        <p:spPr>
          <a:xfrm xmlns:a="http://schemas.openxmlformats.org/drawingml/2006/main">
            <a:off x="914400" y="411480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DM Sans"/>
                <a:ea typeface="DM Sans"/>
                <a:cs typeface="DM Sans"/>
              </a:defRPr>
            </a:pPr>
            <a:r>
              <a:rPr sz="2100">
                <a:solidFill>
                  <a:srgbClr val="FFFFFF"/>
                </a:solidFill>
                <a:latin typeface="DM Sans"/>
                <a:ea typeface="DM Sans"/>
                <a:cs typeface="DM Sans"/>
              </a:rPr>
              <a:t>Chrys NIONGOLO</a:t>
            </a:r>
          </a:p>
        </p:txBody>
      </p:sp>
      <p:sp>
        <p:nvSpPr>
          <p:cNvPr id="29" name="format">
            <a:extLst xmlns:a="http://schemas.openxmlformats.org/drawingml/2006/main">
              <a:ext uri="{FF2B5EF4-FFF2-40B4-BE49-F238E27FC236}">
                <a16:creationId xmlns:a16="http://schemas.microsoft.com/office/drawing/2014/main" id="{73650D55-E2AD-4422-8C5B-FB9EF082D99D}"/>
              </a:ext>
            </a:extLst>
          </p:cNvPr>
          <p:cNvSpPr>
            <a:spLocks xmlns:a="http://schemas.openxmlformats.org/drawingml/2006/main" noGrp="1"/>
          </p:cNvSpPr>
          <p:nvPr/>
        </p:nvSpPr>
        <p:spPr>
          <a:xfrm xmlns:a="http://schemas.openxmlformats.org/drawingml/2006/main">
            <a:off x="914400" y="4610100"/>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DM Sans"/>
                <a:ea typeface="DM Sans"/>
                <a:cs typeface="DM Sans"/>
              </a:defRPr>
            </a:pPr>
            <a:r>
              <a:rPr sz="1950">
                <a:solidFill>
                  <a:srgbClr val="FFFFFF"/>
                </a:solidFill>
                <a:latin typeface="DM Sans"/>
                <a:ea typeface="DM Sans"/>
                <a:cs typeface="DM Sans"/>
              </a:rPr>
              <a:t>15 h de notions et d’exemples · 20 h de pratique</a:t>
            </a:r>
          </a:p>
        </p:txBody>
      </p:sp>
    </p:spTree>
    <p:extLst>
      <p:ext uri="{BB962C8B-B14F-4D97-AF65-F5344CB8AC3E}">
        <p14:creationId xmlns:p14="http://schemas.microsoft.com/office/powerpoint/2010/main" val="16362322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ac185dd774c421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565b3be6dc2c45e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J0 · Programme</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849ABDD-EF90-4735-9004-53CEC86DF17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a:t>
            </a:r>
          </a:p>
        </p:txBody>
      </p:sp>
      <p:sp>
        <p:nvSpPr>
          <p:cNvPr id="159" name="course-title">
            <a:extLst xmlns:a="http://schemas.openxmlformats.org/drawingml/2006/main">
              <a:ext uri="{FF2B5EF4-FFF2-40B4-BE49-F238E27FC236}">
                <a16:creationId xmlns:a16="http://schemas.microsoft.com/office/drawing/2014/main" id="{97223976-C4C6-4DD3-8272-22BBF291914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Objectifs du cours</a:t>
            </a:r>
          </a:p>
        </p:txBody>
      </p:sp>
      <p:sp>
        <p:nvSpPr>
          <p:cNvPr id="160" name="body-1">
            <a:extLst xmlns:a="http://schemas.openxmlformats.org/drawingml/2006/main">
              <a:ext uri="{FF2B5EF4-FFF2-40B4-BE49-F238E27FC236}">
                <a16:creationId xmlns:a16="http://schemas.microsoft.com/office/drawing/2014/main" id="{E9B6DD97-E6BD-4A0B-9CF0-7C63C815BF89}"/>
              </a:ext>
            </a:extLst>
          </p:cNvPr>
          <p:cNvSpPr>
            <a:spLocks xmlns:a="http://schemas.openxmlformats.org/drawingml/2006/main" noGrp="1"/>
          </p:cNvSpPr>
          <p:nvPr/>
        </p:nvSpPr>
        <p:spPr>
          <a:xfrm xmlns:a="http://schemas.openxmlformats.org/drawingml/2006/main">
            <a:off x="781050" y="195262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Comprendre le traitement du langage naturel et les représentations vectorielles (embeddings).</a:t>
            </a:r>
          </a:p>
        </p:txBody>
      </p:sp>
      <p:sp>
        <p:nvSpPr>
          <p:cNvPr id="161" name="body-2">
            <a:extLst xmlns:a="http://schemas.openxmlformats.org/drawingml/2006/main">
              <a:ext uri="{FF2B5EF4-FFF2-40B4-BE49-F238E27FC236}">
                <a16:creationId xmlns:a16="http://schemas.microsoft.com/office/drawing/2014/main" id="{B33DC735-08F4-490B-BB72-A22B8B1CCFFA}"/>
              </a:ext>
            </a:extLst>
          </p:cNvPr>
          <p:cNvSpPr>
            <a:spLocks xmlns:a="http://schemas.openxmlformats.org/drawingml/2006/main" noGrp="1"/>
          </p:cNvSpPr>
          <p:nvPr/>
        </p:nvSpPr>
        <p:spPr>
          <a:xfrm xmlns:a="http://schemas.openxmlformats.org/drawingml/2006/main">
            <a:off x="781050" y="31369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Mettre en œuvre des modèles pré-entraînés (BERT, GPT) via Hugging Face.</a:t>
            </a:r>
          </a:p>
        </p:txBody>
      </p:sp>
      <p:sp>
        <p:nvSpPr>
          <p:cNvPr id="162" name="body-3">
            <a:extLst xmlns:a="http://schemas.openxmlformats.org/drawingml/2006/main">
              <a:ext uri="{FF2B5EF4-FFF2-40B4-BE49-F238E27FC236}">
                <a16:creationId xmlns:a16="http://schemas.microsoft.com/office/drawing/2014/main" id="{3F3D0864-EB1E-4378-ABAA-3F7774598161}"/>
              </a:ext>
            </a:extLst>
          </p:cNvPr>
          <p:cNvSpPr>
            <a:spLocks xmlns:a="http://schemas.openxmlformats.org/drawingml/2006/main" noGrp="1"/>
          </p:cNvSpPr>
          <p:nvPr/>
        </p:nvSpPr>
        <p:spPr>
          <a:xfrm xmlns:a="http://schemas.openxmlformats.org/drawingml/2006/main">
            <a:off x="781050" y="4321175"/>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Fine-tuner des LLMs sur des tâches métier (classification, NER, résumé).</a:t>
            </a:r>
          </a:p>
        </p:txBody>
      </p:sp>
    </p:spTree>
    <p:extLst>
      <p:ext uri="{BB962C8B-B14F-4D97-AF65-F5344CB8AC3E}">
        <p14:creationId xmlns:p14="http://schemas.microsoft.com/office/powerpoint/2010/main" val="67030486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4f784582018410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5e20071f595448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J0 · Programme</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093CAE5-9C50-4E46-8329-4A73C54098B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a:t>
            </a:r>
          </a:p>
        </p:txBody>
      </p:sp>
      <p:sp>
        <p:nvSpPr>
          <p:cNvPr id="159" name="course-title">
            <a:extLst xmlns:a="http://schemas.openxmlformats.org/drawingml/2006/main">
              <a:ext uri="{FF2B5EF4-FFF2-40B4-BE49-F238E27FC236}">
                <a16:creationId xmlns:a16="http://schemas.microsoft.com/office/drawing/2014/main" id="{EE4B840F-39BD-4EFD-8D52-43B1E76BD55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Cinq jours, cinq preuves de compréhension</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Jour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Question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Preuve produite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représenter le texte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Recherche TF-IDF + embeddings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Comment fonctionne l'attention ?</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Calcul QKV + génération contrôlée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adapter un encodeur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Classification + NER évaluées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Comment adapter un petit LLM ?</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LoRA support + LoRA résumé évalué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5</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Comment défendre un résultat ?</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Comparaison + démo + soutenance</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670304868"/>
      </p:ext>
    </p:extLst>
  </p:cSld>
</p:sld>
</file>

<file path=ppt/slides/slide4.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FD5C2D8C-21D6-4707-8FAA-B0542EC77135}"/>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7DB5612A-C039-498B-85B8-09EE800E7FC7}"/>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01</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240693C7-BE4D-4D75-94EB-D563F296B8DF}"/>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439467A-E017-41DC-A833-770DEE2765AB}"/>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5B0196A7-6A0B-4B3E-BA07-17DBBEC67AB7}"/>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fa42cf21df1b483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f3d9b15d10274d5e">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FDFDD261-2375-43FA-968D-AFD80CC8CDE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8D3D6140-90B1-4865-B259-F260B95C63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36F1B36D-B039-4298-91AF-E5E767A36EE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a:t>
            </a:r>
          </a:p>
        </p:txBody>
      </p:sp>
      <p:sp>
        <p:nvSpPr>
          <p:cNvPr id="144" name="section-title">
            <a:extLst xmlns:a="http://schemas.openxmlformats.org/drawingml/2006/main">
              <a:ext uri="{FF2B5EF4-FFF2-40B4-BE49-F238E27FC236}">
                <a16:creationId xmlns:a16="http://schemas.microsoft.com/office/drawing/2014/main" id="{EEE78463-3A1E-409D-A2F4-E192C5A76F6E}"/>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Du texte à une représentation</a:t>
            </a:r>
          </a:p>
        </p:txBody>
      </p:sp>
      <p:sp>
        <p:nvSpPr>
          <p:cNvPr id="145" name="day-goal">
            <a:extLst xmlns:a="http://schemas.openxmlformats.org/drawingml/2006/main">
              <a:ext uri="{FF2B5EF4-FFF2-40B4-BE49-F238E27FC236}">
                <a16:creationId xmlns:a16="http://schemas.microsoft.com/office/drawing/2014/main" id="{B54584FC-98C6-45F6-80FC-4FE44CDF97E6}"/>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Avant de choisir un modèle, définir ce qu'il doit reconnaître.</a:t>
            </a:r>
          </a:p>
        </p:txBody>
      </p:sp>
      <p:sp>
        <p:nvSpPr>
          <p:cNvPr id="146" name="day-agenda">
            <a:extLst xmlns:a="http://schemas.openxmlformats.org/drawingml/2006/main">
              <a:ext uri="{FF2B5EF4-FFF2-40B4-BE49-F238E27FC236}">
                <a16:creationId xmlns:a16="http://schemas.microsoft.com/office/drawing/2014/main" id="{8F4A4EB2-8D30-4F0F-8E8F-A5540DB90397}"/>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données, baseline, tokenisation, embeddings.</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comparer TF-IDF et embeddings pour retrouver une fiche FAQ.</a:t>
            </a:r>
          </a:p>
        </p:txBody>
      </p:sp>
    </p:spTree>
    <p:extLst>
      <p:ext uri="{BB962C8B-B14F-4D97-AF65-F5344CB8AC3E}">
        <p14:creationId xmlns:p14="http://schemas.microsoft.com/office/powerpoint/2010/main" val="6140882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5546365e98a45f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5b327cb01b448d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37799F9-85CC-4E98-B2DE-2CB389BCAB1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a:t>
            </a:r>
          </a:p>
        </p:txBody>
      </p:sp>
      <p:sp>
        <p:nvSpPr>
          <p:cNvPr id="159" name="course-title">
            <a:extLst xmlns:a="http://schemas.openxmlformats.org/drawingml/2006/main">
              <a:ext uri="{FF2B5EF4-FFF2-40B4-BE49-F238E27FC236}">
                <a16:creationId xmlns:a16="http://schemas.microsoft.com/office/drawing/2014/main" id="{4C1E101B-A3A6-4351-8857-F5393255239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Même vocabulaire, intention différente</a:t>
            </a:r>
          </a:p>
        </p:txBody>
      </p:sp>
      <p:sp>
        <p:nvSpPr>
          <p:cNvPr id="160" name="concrete-example">
            <a:extLst xmlns:a="http://schemas.openxmlformats.org/drawingml/2006/main">
              <a:ext uri="{FF2B5EF4-FFF2-40B4-BE49-F238E27FC236}">
                <a16:creationId xmlns:a16="http://schemas.microsoft.com/office/drawing/2014/main" id="{4163C4EB-9663-4111-BDF4-26D989C3E616}"/>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Je veux annuler » et « Je ne veux pas annuler » ne disent pas la même chose.</a:t>
            </a:r>
          </a:p>
        </p:txBody>
      </p:sp>
      <p:sp>
        <p:nvSpPr>
          <p:cNvPr id="161" name="body-1">
            <a:extLst xmlns:a="http://schemas.openxmlformats.org/drawingml/2006/main">
              <a:ext uri="{FF2B5EF4-FFF2-40B4-BE49-F238E27FC236}">
                <a16:creationId xmlns:a16="http://schemas.microsoft.com/office/drawing/2014/main" id="{C19E0447-104A-41AB-8FEE-BF1AA09985E4}"/>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Classer : « Mon compte est bloqué depuis mon retour de vacances. »</a:t>
            </a:r>
          </a:p>
        </p:txBody>
      </p:sp>
      <p:sp>
        <p:nvSpPr>
          <p:cNvPr id="162" name="body-2">
            <a:extLst xmlns:a="http://schemas.openxmlformats.org/drawingml/2006/main">
              <a:ext uri="{FF2B5EF4-FFF2-40B4-BE49-F238E27FC236}">
                <a16:creationId xmlns:a16="http://schemas.microsoft.com/office/drawing/2014/main" id="{B192C1A2-0137-4192-A70E-62C8CC244EC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Classer : « Je souhaite retourner un article payé deux fois. »</a:t>
            </a:r>
          </a:p>
        </p:txBody>
      </p:sp>
      <p:sp>
        <p:nvSpPr>
          <p:cNvPr id="163" name="body-3">
            <a:extLst xmlns:a="http://schemas.openxmlformats.org/drawingml/2006/main">
              <a:ext uri="{FF2B5EF4-FFF2-40B4-BE49-F238E27FC236}">
                <a16:creationId xmlns:a16="http://schemas.microsoft.com/office/drawing/2014/main" id="{6690B4E2-F060-4C63-977F-4AC9ECAF55C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Repérer la négation, le contexte et les demandes multiples.</a:t>
            </a:r>
          </a:p>
        </p:txBody>
      </p:sp>
      <p:sp>
        <p:nvSpPr>
          <p:cNvPr id="164" name="body-4">
            <a:extLst xmlns:a="http://schemas.openxmlformats.org/drawingml/2006/main">
              <a:ext uri="{FF2B5EF4-FFF2-40B4-BE49-F238E27FC236}">
                <a16:creationId xmlns:a16="http://schemas.microsoft.com/office/drawing/2014/main" id="{F5D0402D-BF84-4737-A702-37DE8A3A9CB9}"/>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Décider ce que doit faire le système lorsqu'il hésite.</a:t>
            </a:r>
          </a:p>
        </p:txBody>
      </p:sp>
    </p:spTree>
    <p:extLst>
      <p:ext uri="{BB962C8B-B14F-4D97-AF65-F5344CB8AC3E}">
        <p14:creationId xmlns:p14="http://schemas.microsoft.com/office/powerpoint/2010/main" val="67030486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ddaf1dcdad664d9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36fb8f8154994e6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433996C-8F40-441A-9DA8-222BA23125E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a:t>
            </a:r>
          </a:p>
        </p:txBody>
      </p:sp>
      <p:sp>
        <p:nvSpPr>
          <p:cNvPr id="159" name="course-title">
            <a:extLst xmlns:a="http://schemas.openxmlformats.org/drawingml/2006/main">
              <a:ext uri="{FF2B5EF4-FFF2-40B4-BE49-F238E27FC236}">
                <a16:creationId xmlns:a16="http://schemas.microsoft.com/office/drawing/2014/main" id="{EB0C4302-2554-453B-B4A2-F62B6795A4B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tâche = une entrée et une sortie vérifiable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Tâche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Entrée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Sortie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Classification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 message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facturation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NER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Commande AB123 à Lyon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AB123 : REF ; Lyon : LIEU</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Recherche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Je n'ai rien reçu</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Messages proches classés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Résumé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 échange complet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Faits essentiels conservés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Génération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Question + contexte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Réponse à contrôler</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67030486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0816544943b46e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8d08c0891b14c1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99F4D97-A978-46D8-9F52-3BE20E11969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a:t>
            </a:r>
          </a:p>
        </p:txBody>
      </p:sp>
      <p:sp>
        <p:nvSpPr>
          <p:cNvPr id="159" name="course-title">
            <a:extLst xmlns:a="http://schemas.openxmlformats.org/drawingml/2006/main">
              <a:ext uri="{FF2B5EF4-FFF2-40B4-BE49-F238E27FC236}">
                <a16:creationId xmlns:a16="http://schemas.microsoft.com/office/drawing/2014/main" id="{F7DEA289-AB62-4488-A845-8C6607526E7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jeu de données est déjà une décision de modèle</a:t>
            </a:r>
          </a:p>
        </p:txBody>
      </p:sp>
      <p:sp>
        <p:nvSpPr>
          <p:cNvPr id="160" name="body-1">
            <a:extLst xmlns:a="http://schemas.openxmlformats.org/drawingml/2006/main">
              <a:ext uri="{FF2B5EF4-FFF2-40B4-BE49-F238E27FC236}">
                <a16:creationId xmlns:a16="http://schemas.microsoft.com/office/drawing/2014/main" id="{CD8F65A1-E188-47B2-AAF3-7E27805C73F2}"/>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Décrire les fiches indexées et les requêtes avec leur référence attendue.</a:t>
            </a:r>
          </a:p>
        </p:txBody>
      </p:sp>
      <p:sp>
        <p:nvSpPr>
          <p:cNvPr id="161" name="body-2">
            <a:extLst xmlns:a="http://schemas.openxmlformats.org/drawingml/2006/main">
              <a:ext uri="{FF2B5EF4-FFF2-40B4-BE49-F238E27FC236}">
                <a16:creationId xmlns:a16="http://schemas.microsoft.com/office/drawing/2014/main" id="{626BD17D-9F89-452A-8697-A62B19ADF62C}"/>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Observer les longueurs, les ressemblances et les ambiguïtés.</a:t>
            </a:r>
          </a:p>
        </p:txBody>
      </p:sp>
      <p:sp>
        <p:nvSpPr>
          <p:cNvPr id="162" name="body-3">
            <a:extLst xmlns:a="http://schemas.openxmlformats.org/drawingml/2006/main">
              <a:ext uri="{FF2B5EF4-FFF2-40B4-BE49-F238E27FC236}">
                <a16:creationId xmlns:a16="http://schemas.microsoft.com/office/drawing/2014/main" id="{44EC27AA-8A51-463B-B582-7E9AA5B981FC}"/>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requêtes de validation et requêtes finales.</a:t>
            </a:r>
          </a:p>
        </p:txBody>
      </p:sp>
      <p:sp>
        <p:nvSpPr>
          <p:cNvPr id="163" name="body-4">
            <a:extLst xmlns:a="http://schemas.openxmlformats.org/drawingml/2006/main">
              <a:ext uri="{FF2B5EF4-FFF2-40B4-BE49-F238E27FC236}">
                <a16:creationId xmlns:a16="http://schemas.microsoft.com/office/drawing/2014/main" id="{CD48DBE2-3D31-4AE5-B4A0-D032EACB7500}"/>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Documenter l’origine fictive et les limites du corpus.</a:t>
            </a:r>
          </a:p>
        </p:txBody>
      </p:sp>
    </p:spTree>
    <p:extLst>
      <p:ext uri="{BB962C8B-B14F-4D97-AF65-F5344CB8AC3E}">
        <p14:creationId xmlns:p14="http://schemas.microsoft.com/office/powerpoint/2010/main" val="67030486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2b1bf7b60bd470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0600b2eaddcb49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4D3E6EE-B9A3-49E2-AC23-158C5BCCB6A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a:t>
            </a:r>
          </a:p>
        </p:txBody>
      </p:sp>
      <p:sp>
        <p:nvSpPr>
          <p:cNvPr id="159" name="course-title">
            <a:extLst xmlns:a="http://schemas.openxmlformats.org/drawingml/2006/main">
              <a:ext uri="{FF2B5EF4-FFF2-40B4-BE49-F238E27FC236}">
                <a16:creationId xmlns:a16="http://schemas.microsoft.com/office/drawing/2014/main" id="{C8E8996B-77E6-420C-85D2-2A6CCDD9317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fuite de données peut fabriquer un bon score</a:t>
            </a:r>
          </a:p>
        </p:txBody>
      </p:sp>
      <p:sp>
        <p:nvSpPr>
          <p:cNvPr id="160" name="concrete-example">
            <a:extLst xmlns:a="http://schemas.openxmlformats.org/drawingml/2006/main">
              <a:ext uri="{FF2B5EF4-FFF2-40B4-BE49-F238E27FC236}">
                <a16:creationId xmlns:a16="http://schemas.microsoft.com/office/drawing/2014/main" id="{4B9EF770-B5D4-448F-80D5-1B186AC09214}"/>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Le test doit représenter des situations réellement nouvelles.</a:t>
            </a:r>
          </a:p>
        </p:txBody>
      </p:sp>
      <p:sp>
        <p:nvSpPr>
          <p:cNvPr id="161" name="body-1">
            <a:extLst xmlns:a="http://schemas.openxmlformats.org/drawingml/2006/main">
              <a:ext uri="{FF2B5EF4-FFF2-40B4-BE49-F238E27FC236}">
                <a16:creationId xmlns:a16="http://schemas.microsoft.com/office/drawing/2014/main" id="{E95D67EF-E372-497A-B6E8-81EB418F9B14}"/>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Train : apprendre les paramètres et le vocabulaire de la baseline.</a:t>
            </a:r>
          </a:p>
        </p:txBody>
      </p:sp>
      <p:sp>
        <p:nvSpPr>
          <p:cNvPr id="162" name="body-2">
            <a:extLst xmlns:a="http://schemas.openxmlformats.org/drawingml/2006/main">
              <a:ext uri="{FF2B5EF4-FFF2-40B4-BE49-F238E27FC236}">
                <a16:creationId xmlns:a16="http://schemas.microsoft.com/office/drawing/2014/main" id="{74F550C9-1AFA-47CB-A480-77D2E8F4EAA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Validation : choisir les réglages et le seuil.</a:t>
            </a:r>
          </a:p>
        </p:txBody>
      </p:sp>
      <p:sp>
        <p:nvSpPr>
          <p:cNvPr id="163" name="body-3">
            <a:extLst xmlns:a="http://schemas.openxmlformats.org/drawingml/2006/main">
              <a:ext uri="{FF2B5EF4-FFF2-40B4-BE49-F238E27FC236}">
                <a16:creationId xmlns:a16="http://schemas.microsoft.com/office/drawing/2014/main" id="{CDC07047-DEA6-4895-8EA0-85240D4D8E5B}"/>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 : mesurer une fois le système retenu.</a:t>
            </a:r>
          </a:p>
        </p:txBody>
      </p:sp>
      <p:sp>
        <p:nvSpPr>
          <p:cNvPr id="164" name="body-4">
            <a:extLst xmlns:a="http://schemas.openxmlformats.org/drawingml/2006/main">
              <a:ext uri="{FF2B5EF4-FFF2-40B4-BE49-F238E27FC236}">
                <a16:creationId xmlns:a16="http://schemas.microsoft.com/office/drawing/2014/main" id="{1C8C4F6E-5F91-492D-BB63-DF5A8E48128E}"/>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Garder les paraphrases d'un même scénario dans le même jeu.</a:t>
            </a:r>
          </a:p>
        </p:txBody>
      </p:sp>
    </p:spTree>
    <p:extLst>
      <p:ext uri="{BB962C8B-B14F-4D97-AF65-F5344CB8AC3E}">
        <p14:creationId xmlns:p14="http://schemas.microsoft.com/office/powerpoint/2010/main" val="67030486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418d28e912e4e1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92ee742ed6c4ff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4BF7F0A-DC18-4EED-873D-0ECBF94D89E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a:t>
            </a:r>
          </a:p>
        </p:txBody>
      </p:sp>
      <p:sp>
        <p:nvSpPr>
          <p:cNvPr id="159" name="course-title">
            <a:extLst xmlns:a="http://schemas.openxmlformats.org/drawingml/2006/main">
              <a:ext uri="{FF2B5EF4-FFF2-40B4-BE49-F238E27FC236}">
                <a16:creationId xmlns:a16="http://schemas.microsoft.com/office/drawing/2014/main" id="{92AC7662-E51B-423C-BE68-EB6838B20F9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Sac de mots : compter avant de comprendre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2655094"/>
                <a:gridCol w="2655094"/>
                <a:gridCol w="2655094"/>
                <a:gridCol w="2655094"/>
              </a:tblGrid>
              <a:tr h="485775">
                <a:tc>
                  <a:txBody>
                    <a:bodyPr>
                      <a:noAutofit/>
                    </a:bodyPr>
                    <a:lstStyle/>
                    <a:p>
                      <a:r>
                        <a:rPr sz="1500" b="1">
                          <a:solidFill>
                            <a:srgbClr val="FFFFFF"/>
                          </a:solidFill>
                          <a:latin typeface="DM Sans"/>
                          <a:ea typeface="DM Sans"/>
                          <a:cs typeface="DM Sans"/>
                        </a:rPr>
                        <a:t>Texte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colis</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facture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retard</a:t>
                      </a:r>
                    </a:p>
                  </a:txBody>
                  <a:tcPr marL="114300" marR="114300" marT="85725" marB="85725" anchor="ctr">
                    <a:solidFill>
                      <a:srgbClr val="282A59"/>
                    </a:solidFill>
                  </a:tcPr>
                </a:tc>
              </a:tr>
              <a:tr h="485775">
                <a:tc>
                  <a:txBody>
                    <a:bodyPr>
                      <a:noAutofit/>
                    </a:bodyPr>
                    <a:lstStyle/>
                    <a:p>
                      <a:r>
                        <a:rPr sz="1500" b="0">
                          <a:solidFill>
                            <a:srgbClr val="111111"/>
                          </a:solidFill>
                          <a:latin typeface="DM Sans"/>
                          <a:ea typeface="DM Sans"/>
                          <a:cs typeface="DM Sans"/>
                        </a:rPr>
                        <a:t>colis en retard</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facture du colis</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FFFFF"/>
                    </a:solidFill>
                  </a:tcPr>
                </a:tc>
              </a:tr>
              <a:tr h="485775">
                <a:tc>
                  <a:txBody>
                    <a:bodyPr>
                      <a:noAutofit/>
                    </a:bodyPr>
                    <a:lstStyle/>
                    <a:p>
                      <a:r>
                        <a:rPr sz="1500" b="0">
                          <a:solidFill>
                            <a:srgbClr val="111111"/>
                          </a:solidFill>
                          <a:latin typeface="DM Sans"/>
                          <a:ea typeface="DM Sans"/>
                          <a:cs typeface="DM Sans"/>
                        </a:rPr>
                        <a:t>facture facture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2</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0</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7C0FBB1F-B464-4F7D-A3E1-CC733BA3DF4A}"/>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Une colonne par terme ; une ligne par document.</a:t>
            </a:r>
          </a:p>
        </p:txBody>
      </p:sp>
    </p:spTree>
    <p:extLst>
      <p:ext uri="{BB962C8B-B14F-4D97-AF65-F5344CB8AC3E}">
        <p14:creationId xmlns:p14="http://schemas.microsoft.com/office/powerpoint/2010/main" val="67030486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0560d783ff6c4fa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4a6e0321b72b4d8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9E2F7BF-649B-4C70-8743-070F0E8C9DE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a:t>
            </a:r>
          </a:p>
        </p:txBody>
      </p:sp>
      <p:sp>
        <p:nvSpPr>
          <p:cNvPr id="159" name="course-title">
            <a:extLst xmlns:a="http://schemas.openxmlformats.org/drawingml/2006/main">
              <a:ext uri="{FF2B5EF4-FFF2-40B4-BE49-F238E27FC236}">
                <a16:creationId xmlns:a16="http://schemas.microsoft.com/office/drawing/2014/main" id="{59D1AD46-C33F-47C5-A296-0D401C9F819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TF-IDF : un terme rare peut mieux distinguer</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67c783f00ea54a16"/>
          <a:stretch xmlns:a="http://schemas.openxmlformats.org/drawingml/2006/main"/>
        </p:blipFill>
        <p:spPr>
          <a:xfrm xmlns:a="http://schemas.openxmlformats.org/drawingml/2006/main">
            <a:off x="3976688" y="1895475"/>
            <a:ext cx="422910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16D21790-553D-4A47-92E3-D7977E13A8C4}"/>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Un terme compte davantage s’il distingue le document du corpus.</a:t>
            </a:r>
          </a:p>
        </p:txBody>
      </p:sp>
      <p:sp>
        <p:nvSpPr>
          <p:cNvPr id="162" name="formula-symbol-0">
            <a:extLst xmlns:a="http://schemas.openxmlformats.org/drawingml/2006/main">
              <a:ext uri="{FF2B5EF4-FFF2-40B4-BE49-F238E27FC236}">
                <a16:creationId xmlns:a16="http://schemas.microsoft.com/office/drawing/2014/main" id="{32C40054-9FF4-4012-B0F0-2F6547C1DB54}"/>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t : terme ; d : document</a:t>
            </a:r>
          </a:p>
        </p:txBody>
      </p:sp>
      <p:sp>
        <p:nvSpPr>
          <p:cNvPr id="163" name="formula-symbol-1">
            <a:extLst xmlns:a="http://schemas.openxmlformats.org/drawingml/2006/main">
              <a:ext uri="{FF2B5EF4-FFF2-40B4-BE49-F238E27FC236}">
                <a16:creationId xmlns:a16="http://schemas.microsoft.com/office/drawing/2014/main" id="{720AB3C8-D2DF-4CEB-9609-1E547D7160EB}"/>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tf(t,d) : occurrences de t dans d</a:t>
            </a:r>
          </a:p>
        </p:txBody>
      </p:sp>
      <p:sp>
        <p:nvSpPr>
          <p:cNvPr id="164" name="formula-symbol-2">
            <a:extLst xmlns:a="http://schemas.openxmlformats.org/drawingml/2006/main">
              <a:ext uri="{FF2B5EF4-FFF2-40B4-BE49-F238E27FC236}">
                <a16:creationId xmlns:a16="http://schemas.microsoft.com/office/drawing/2014/main" id="{9449EAF3-4005-43E9-BBE2-E30A57A32466}"/>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df(t) : documents contenant t</a:t>
            </a:r>
          </a:p>
        </p:txBody>
      </p:sp>
      <p:sp>
        <p:nvSpPr>
          <p:cNvPr id="165" name="formula-symbol-3">
            <a:extLst xmlns:a="http://schemas.openxmlformats.org/drawingml/2006/main">
              <a:ext uri="{FF2B5EF4-FFF2-40B4-BE49-F238E27FC236}">
                <a16:creationId xmlns:a16="http://schemas.microsoft.com/office/drawing/2014/main" id="{6050AAE5-4C38-479A-9426-98C1D819E537}"/>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 : nombre de documents du corpus</a:t>
            </a:r>
          </a:p>
        </p:txBody>
      </p:sp>
      <p:sp>
        <p:nvSpPr>
          <p:cNvPr id="166" name="formula-symbol-4">
            <a:extLst xmlns:a="http://schemas.openxmlformats.org/drawingml/2006/main">
              <a:ext uri="{FF2B5EF4-FFF2-40B4-BE49-F238E27FC236}">
                <a16:creationId xmlns:a16="http://schemas.microsoft.com/office/drawing/2014/main" id="{F39BA94B-8721-4462-91C5-0F3870F95596}"/>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w(t,d) : poids TF-IDF, sans unité</a:t>
            </a:r>
          </a:p>
        </p:txBody>
      </p:sp>
      <p:sp>
        <p:nvSpPr>
          <p:cNvPr id="167" name="formula-example">
            <a:extLst xmlns:a="http://schemas.openxmlformats.org/drawingml/2006/main">
              <a:ext uri="{FF2B5EF4-FFF2-40B4-BE49-F238E27FC236}">
                <a16:creationId xmlns:a16="http://schemas.microsoft.com/office/drawing/2014/main" id="{AF00C998-0D02-4CE9-A198-23A2F3D666B5}"/>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N = 4, df = 1, tf = 2 : w = 2 × ln(4) ≈ 2,773 avec la formule simplifiée.</a:t>
            </a:r>
          </a:p>
        </p:txBody>
      </p:sp>
    </p:spTree>
    <p:extLst>
      <p:ext uri="{BB962C8B-B14F-4D97-AF65-F5344CB8AC3E}">
        <p14:creationId xmlns:p14="http://schemas.microsoft.com/office/powerpoint/2010/main" val="67030486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8712a6b59934e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c6481101d7ad414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1DAE171-42F9-4EF9-8049-F403B0B1EFA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a:t>
            </a:r>
          </a:p>
        </p:txBody>
      </p:sp>
      <p:sp>
        <p:nvSpPr>
          <p:cNvPr id="159" name="course-title">
            <a:extLst xmlns:a="http://schemas.openxmlformats.org/drawingml/2006/main">
              <a:ext uri="{FF2B5EF4-FFF2-40B4-BE49-F238E27FC236}">
                <a16:creationId xmlns:a16="http://schemas.microsoft.com/office/drawing/2014/main" id="{0C8437D4-E5CD-456E-96D5-BF160B95489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baseline de recherche tient dans une chaîne claire</a:t>
            </a:r>
          </a:p>
        </p:txBody>
      </p:sp>
      <p:sp>
        <p:nvSpPr>
          <p:cNvPr id="160" name="concrete-example">
            <a:extLst xmlns:a="http://schemas.openxmlformats.org/drawingml/2006/main">
              <a:ext uri="{FF2B5EF4-FFF2-40B4-BE49-F238E27FC236}">
                <a16:creationId xmlns:a16="http://schemas.microsoft.com/office/drawing/2014/main" id="{3BA47F81-003E-481B-B9AC-2F7B54A8765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Requête → TF-IDF → cosinus avec les fiches → classement.</a:t>
            </a:r>
          </a:p>
        </p:txBody>
      </p:sp>
      <p:sp>
        <p:nvSpPr>
          <p:cNvPr id="161" name="body-1">
            <a:extLst xmlns:a="http://schemas.openxmlformats.org/drawingml/2006/main">
              <a:ext uri="{FF2B5EF4-FFF2-40B4-BE49-F238E27FC236}">
                <a16:creationId xmlns:a16="http://schemas.microsoft.com/office/drawing/2014/main" id="{0527557C-B256-43BB-B4BC-6E03D2C4940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Ajuster la représentation sur les fiches de l’index.</a:t>
            </a:r>
          </a:p>
        </p:txBody>
      </p:sp>
      <p:sp>
        <p:nvSpPr>
          <p:cNvPr id="162" name="body-2">
            <a:extLst xmlns:a="http://schemas.openxmlformats.org/drawingml/2006/main">
              <a:ext uri="{FF2B5EF4-FFF2-40B4-BE49-F238E27FC236}">
                <a16:creationId xmlns:a16="http://schemas.microsoft.com/office/drawing/2014/main" id="{DE991133-27E7-4C67-A643-831DD412C7C7}"/>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Évaluer Recall@1, Recall@3 et MRR sur les requêtes de validation.</a:t>
            </a:r>
          </a:p>
        </p:txBody>
      </p:sp>
      <p:sp>
        <p:nvSpPr>
          <p:cNvPr id="163" name="body-3">
            <a:extLst xmlns:a="http://schemas.openxmlformats.org/drawingml/2006/main">
              <a:ext uri="{FF2B5EF4-FFF2-40B4-BE49-F238E27FC236}">
                <a16:creationId xmlns:a16="http://schemas.microsoft.com/office/drawing/2014/main" id="{C8660827-0129-471E-897F-5BD25C66A46E}"/>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erreurs et les termes les plus discriminants.</a:t>
            </a:r>
          </a:p>
        </p:txBody>
      </p:sp>
      <p:sp>
        <p:nvSpPr>
          <p:cNvPr id="164" name="body-4">
            <a:extLst xmlns:a="http://schemas.openxmlformats.org/drawingml/2006/main">
              <a:ext uri="{FF2B5EF4-FFF2-40B4-BE49-F238E27FC236}">
                <a16:creationId xmlns:a16="http://schemas.microsoft.com/office/drawing/2014/main" id="{36B4D7CE-C9A5-4A2C-9D15-A33D0A408BEE}"/>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cette référence pour comparer les embeddings.</a:t>
            </a:r>
          </a:p>
        </p:txBody>
      </p:sp>
    </p:spTree>
    <p:extLst>
      <p:ext uri="{BB962C8B-B14F-4D97-AF65-F5344CB8AC3E}">
        <p14:creationId xmlns:p14="http://schemas.microsoft.com/office/powerpoint/2010/main" val="67030486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d0c2052773844c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a1b30eb5e44043f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EDF7F5B-D759-4481-89BD-973D6159A3B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12</a:t>
            </a:r>
          </a:p>
        </p:txBody>
      </p:sp>
      <p:sp>
        <p:nvSpPr>
          <p:cNvPr id="159" name="course-title">
            <a:extLst xmlns:a="http://schemas.openxmlformats.org/drawingml/2006/main">
              <a:ext uri="{FF2B5EF4-FFF2-40B4-BE49-F238E27FC236}">
                <a16:creationId xmlns:a16="http://schemas.microsoft.com/office/drawing/2014/main" id="{0DBD2A67-B4B3-464B-A4C4-7BA135B61B2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Lire une confusion au lieu d'admirer un pourcentage</a:t>
            </a:r>
          </a:p>
        </p:txBody>
      </p:sp>
      <p:graphicFrame>
        <p:nvGraphicFramePr>
          <p:cNvPr id="174" name=""/>
          <p:cNvGraphicFramePr/>
          <p:nvPr/>
        </p:nvGraphicFramePr>
        <p:xfrm>
          <a:off xmlns:a="http://schemas.openxmlformats.org/drawingml/2006/main" x="781050" y="1952625"/>
          <a:ext xmlns:a="http://schemas.openxmlformats.org/drawingml/2006/main" cx="10620375" cy="145732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Vrai / prédit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livraison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facturation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livraison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8</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facturation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9</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E7A75D92-F866-479F-843B-C6B8FF0D83A4}"/>
              </a:ext>
            </a:extLst>
          </p:cNvPr>
          <p:cNvSpPr>
            <a:spLocks xmlns:a="http://schemas.openxmlformats.org/drawingml/2006/main" noGrp="1"/>
          </p:cNvSpPr>
          <p:nvPr/>
        </p:nvSpPr>
        <p:spPr>
          <a:xfrm xmlns:a="http://schemas.openxmlformats.org/drawingml/2006/main">
            <a:off x="781050" y="355282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17 messages correctement classés sur 20 : accuracy = 85 %.</a:t>
            </a:r>
          </a:p>
        </p:txBody>
      </p:sp>
    </p:spTree>
    <p:extLst>
      <p:ext uri="{BB962C8B-B14F-4D97-AF65-F5344CB8AC3E}">
        <p14:creationId xmlns:p14="http://schemas.microsoft.com/office/powerpoint/2010/main" val="67030486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63a475bdec342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0c1ee7a3acf4da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DB7A00D-E4F9-4C6A-B841-41A228E6620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13</a:t>
            </a:r>
          </a:p>
        </p:txBody>
      </p:sp>
      <p:sp>
        <p:nvSpPr>
          <p:cNvPr id="159" name="course-title">
            <a:extLst xmlns:a="http://schemas.openxmlformats.org/drawingml/2006/main">
              <a:ext uri="{FF2B5EF4-FFF2-40B4-BE49-F238E27FC236}">
                <a16:creationId xmlns:a16="http://schemas.microsoft.com/office/drawing/2014/main" id="{B958156A-2A6C-445B-8AF8-8AEEB3DF6FE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Tokeniser : choisir les unités lues par le modèle</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Unité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Exemple illustratif</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Compromis</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Mot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remboursement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Vocabulaire large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Caractère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 · e · m · b…</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Séquences longues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Sous-mot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rembours · ement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Partage entre mots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Octet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Unités d'encodage UTF-8</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Couvre les caractères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6371632fe69404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ce0db87a459844e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865B59E-72C3-4367-B6EE-D901B7E106F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14</a:t>
            </a:r>
          </a:p>
        </p:txBody>
      </p:sp>
      <p:sp>
        <p:nvSpPr>
          <p:cNvPr id="159" name="course-title">
            <a:extLst xmlns:a="http://schemas.openxmlformats.org/drawingml/2006/main">
              <a:ext uri="{FF2B5EF4-FFF2-40B4-BE49-F238E27FC236}">
                <a16:creationId xmlns:a16="http://schemas.microsoft.com/office/drawing/2014/main" id="{730EEF30-AC08-4C01-917E-8B4A2863BC2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Prétraiter le français sans effacer le sens</a:t>
            </a:r>
          </a:p>
        </p:txBody>
      </p:sp>
      <p:sp>
        <p:nvSpPr>
          <p:cNvPr id="160" name="concrete-example">
            <a:extLst xmlns:a="http://schemas.openxmlformats.org/drawingml/2006/main">
              <a:ext uri="{FF2B5EF4-FFF2-40B4-BE49-F238E27FC236}">
                <a16:creationId xmlns:a16="http://schemas.microsoft.com/office/drawing/2014/main" id="{B9B41FA6-8A49-4181-B228-E8A70665419E}"/>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Chaque nettoyage doit être une hypothèse testable.</a:t>
            </a:r>
          </a:p>
        </p:txBody>
      </p:sp>
      <p:sp>
        <p:nvSpPr>
          <p:cNvPr id="161" name="body-1">
            <a:extLst xmlns:a="http://schemas.openxmlformats.org/drawingml/2006/main">
              <a:ext uri="{FF2B5EF4-FFF2-40B4-BE49-F238E27FC236}">
                <a16:creationId xmlns:a16="http://schemas.microsoft.com/office/drawing/2014/main" id="{EEB5D8F1-2B56-4564-82E0-B0A600D5240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payé » et « paye » : conserver ou normaliser ?</a:t>
            </a:r>
          </a:p>
        </p:txBody>
      </p:sp>
      <p:sp>
        <p:nvSpPr>
          <p:cNvPr id="162" name="body-2">
            <a:extLst xmlns:a="http://schemas.openxmlformats.org/drawingml/2006/main">
              <a:ext uri="{FF2B5EF4-FFF2-40B4-BE49-F238E27FC236}">
                <a16:creationId xmlns:a16="http://schemas.microsoft.com/office/drawing/2014/main" id="{DF6FC8E0-6080-4156-A351-8A88905C397D}"/>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pas satisfait » : quels mots sont indispensables ?</a:t>
            </a:r>
          </a:p>
        </p:txBody>
      </p:sp>
      <p:sp>
        <p:nvSpPr>
          <p:cNvPr id="163" name="body-3">
            <a:extLst xmlns:a="http://schemas.openxmlformats.org/drawingml/2006/main">
              <a:ext uri="{FF2B5EF4-FFF2-40B4-BE49-F238E27FC236}">
                <a16:creationId xmlns:a16="http://schemas.microsoft.com/office/drawing/2014/main" id="{C265DA02-DAE7-428C-A270-1B546B07949A}"/>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Paris » et « paris » : une casse parfois informative.</a:t>
            </a:r>
          </a:p>
        </p:txBody>
      </p:sp>
      <p:sp>
        <p:nvSpPr>
          <p:cNvPr id="164" name="body-4">
            <a:extLst xmlns:a="http://schemas.openxmlformats.org/drawingml/2006/main">
              <a:ext uri="{FF2B5EF4-FFF2-40B4-BE49-F238E27FC236}">
                <a16:creationId xmlns:a16="http://schemas.microsoft.com/office/drawing/2014/main" id="{5BD84909-AB4A-44AD-B54A-3AB0FC1D327B}"/>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 commande AB123 » : anonymiser sans détruire la tâche.</a:t>
            </a:r>
          </a:p>
        </p:txBody>
      </p:sp>
    </p:spTree>
    <p:extLst>
      <p:ext uri="{BB962C8B-B14F-4D97-AF65-F5344CB8AC3E}">
        <p14:creationId xmlns:p14="http://schemas.microsoft.com/office/powerpoint/2010/main" val="67030486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1253278467d416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283c202dddea49e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D3BBBA0-FAC7-4D71-AAFF-0576CF34F8E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15</a:t>
            </a:r>
          </a:p>
        </p:txBody>
      </p:sp>
      <p:sp>
        <p:nvSpPr>
          <p:cNvPr id="159" name="course-title">
            <a:extLst xmlns:a="http://schemas.openxmlformats.org/drawingml/2006/main">
              <a:ext uri="{FF2B5EF4-FFF2-40B4-BE49-F238E27FC236}">
                <a16:creationId xmlns:a16="http://schemas.microsoft.com/office/drawing/2014/main" id="{6B3AD6A5-33DB-439E-BCEF-A883A422BC4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BPE à la main : fusionner les paires fréquentes</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Mot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Fréquence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Découpage initial</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bas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 · a · 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basse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b · a · s · s · 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bal</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 · a · l</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A021E1E3-3F66-4DDB-BE92-FAD274E4C839}"/>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La paire b·a apparaît 6 fois : première fusion → ba.</a:t>
            </a:r>
          </a:p>
        </p:txBody>
      </p:sp>
    </p:spTree>
    <p:extLst>
      <p:ext uri="{BB962C8B-B14F-4D97-AF65-F5344CB8AC3E}">
        <p14:creationId xmlns:p14="http://schemas.microsoft.com/office/powerpoint/2010/main" val="67030486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25b7774e36143a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e7affb9dba56450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5BBDE6F-A7D0-42D7-9BB4-3A5DE1E97F2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16</a:t>
            </a:r>
          </a:p>
        </p:txBody>
      </p:sp>
      <p:sp>
        <p:nvSpPr>
          <p:cNvPr id="159" name="course-title">
            <a:extLst xmlns:a="http://schemas.openxmlformats.org/drawingml/2006/main">
              <a:ext uri="{FF2B5EF4-FFF2-40B4-BE49-F238E27FC236}">
                <a16:creationId xmlns:a16="http://schemas.microsoft.com/office/drawing/2014/main" id="{CB879247-49CE-44E7-9084-B3F10305B80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Des tokens aux tenseurs : trois objets différents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Objet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Exemple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Rôle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Tokens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bonjour · client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Unités textuelles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input_ids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[101, 1234, 5678, 102, 0]</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Indices illustratifs, 0 = padding</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attention_mask</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1, 1, 1, 0]</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Dernière place = padding</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Embeddings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Matrice longueur × dimension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Vecteurs appris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53952232bd24f0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68f35f76c8fe469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E1BDCDC-CC8D-4F66-A1BC-1EF1B85A6C4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17</a:t>
            </a:r>
          </a:p>
        </p:txBody>
      </p:sp>
      <p:sp>
        <p:nvSpPr>
          <p:cNvPr id="159" name="course-title">
            <a:extLst xmlns:a="http://schemas.openxmlformats.org/drawingml/2006/main">
              <a:ext uri="{FF2B5EF4-FFF2-40B4-BE49-F238E27FC236}">
                <a16:creationId xmlns:a16="http://schemas.microsoft.com/office/drawing/2014/main" id="{3AA035FB-B0FE-443E-A2E7-FBF5039300C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embedding rapproche des usages similaires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811bbb2336654a13"/>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F6A78E96-5689-4B3D-8150-147012CF472F}"/>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Les positions 2D sont illustratives ; la proximité ne prouve pas un sens identique.</a:t>
            </a:r>
          </a:p>
        </p:txBody>
      </p:sp>
    </p:spTree>
    <p:extLst>
      <p:ext uri="{BB962C8B-B14F-4D97-AF65-F5344CB8AC3E}">
        <p14:creationId xmlns:p14="http://schemas.microsoft.com/office/powerpoint/2010/main" val="67030486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41876e45c8554ec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19f5185738c343b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1115B44-0F6B-4C98-BB0E-ECB7A9B5488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18</a:t>
            </a:r>
          </a:p>
        </p:txBody>
      </p:sp>
      <p:sp>
        <p:nvSpPr>
          <p:cNvPr id="159" name="course-title">
            <a:extLst xmlns:a="http://schemas.openxmlformats.org/drawingml/2006/main">
              <a:ext uri="{FF2B5EF4-FFF2-40B4-BE49-F238E27FC236}">
                <a16:creationId xmlns:a16="http://schemas.microsoft.com/office/drawing/2014/main" id="{BEE7DC88-3582-4977-993F-89FB612FC1D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Cosinus : comparer une direction plutôt qu'une taille</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8862325baca0478a"/>
          <a:stretch xmlns:a="http://schemas.openxmlformats.org/drawingml/2006/main"/>
        </p:blipFill>
        <p:spPr>
          <a:xfrm xmlns:a="http://schemas.openxmlformats.org/drawingml/2006/main">
            <a:off x="4233863" y="1895475"/>
            <a:ext cx="37147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05DE5155-F0A6-4C78-B577-ADA76F4B34C8}"/>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Comparer la direction des vecteurs, indépendamment de leur taille.</a:t>
            </a:r>
          </a:p>
        </p:txBody>
      </p:sp>
      <p:sp>
        <p:nvSpPr>
          <p:cNvPr id="162" name="formula-symbol-0">
            <a:extLst xmlns:a="http://schemas.openxmlformats.org/drawingml/2006/main">
              <a:ext uri="{FF2B5EF4-FFF2-40B4-BE49-F238E27FC236}">
                <a16:creationId xmlns:a16="http://schemas.microsoft.com/office/drawing/2014/main" id="{2784B646-D481-4DDA-9091-FB85A9973EAD}"/>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 v : vecteurs de même dimension D</a:t>
            </a:r>
          </a:p>
        </p:txBody>
      </p:sp>
      <p:sp>
        <p:nvSpPr>
          <p:cNvPr id="163" name="formula-symbol-1">
            <a:extLst xmlns:a="http://schemas.openxmlformats.org/drawingml/2006/main">
              <a:ext uri="{FF2B5EF4-FFF2-40B4-BE49-F238E27FC236}">
                <a16:creationId xmlns:a16="http://schemas.microsoft.com/office/drawing/2014/main" id="{052BEE3C-D261-4996-959B-69325DEB0721}"/>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uᵀv : produit scalaire, somme de D produits</a:t>
            </a:r>
          </a:p>
        </p:txBody>
      </p:sp>
      <p:sp>
        <p:nvSpPr>
          <p:cNvPr id="164" name="formula-symbol-2">
            <a:extLst xmlns:a="http://schemas.openxmlformats.org/drawingml/2006/main">
              <a:ext uri="{FF2B5EF4-FFF2-40B4-BE49-F238E27FC236}">
                <a16:creationId xmlns:a16="http://schemas.microsoft.com/office/drawing/2014/main" id="{963012EE-0126-4998-BE04-947798BD53CB}"/>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‖u‖₂, ‖v‖₂ : longueurs euclidiennes</a:t>
            </a:r>
          </a:p>
        </p:txBody>
      </p:sp>
      <p:sp>
        <p:nvSpPr>
          <p:cNvPr id="165" name="formula-symbol-3">
            <a:extLst xmlns:a="http://schemas.openxmlformats.org/drawingml/2006/main">
              <a:ext uri="{FF2B5EF4-FFF2-40B4-BE49-F238E27FC236}">
                <a16:creationId xmlns:a16="http://schemas.microsoft.com/office/drawing/2014/main" id="{D5504237-224B-4E84-8254-BB01B35B262B}"/>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cos(u,v) : similarité comprise entre −1 et 1</a:t>
            </a:r>
          </a:p>
        </p:txBody>
      </p:sp>
      <p:sp>
        <p:nvSpPr>
          <p:cNvPr id="166" name="formula-example">
            <a:extLst xmlns:a="http://schemas.openxmlformats.org/drawingml/2006/main">
              <a:ext uri="{FF2B5EF4-FFF2-40B4-BE49-F238E27FC236}">
                <a16:creationId xmlns:a16="http://schemas.microsoft.com/office/drawing/2014/main" id="{4EB0475E-BDAB-4A24-9843-908DAC2567E6}"/>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u = (1,0), v = (1,1) : produit = 1 ; normes = 1 et √2 ; cosinus ≈ 0,707.</a:t>
            </a:r>
          </a:p>
        </p:txBody>
      </p:sp>
    </p:spTree>
    <p:extLst>
      <p:ext uri="{BB962C8B-B14F-4D97-AF65-F5344CB8AC3E}">
        <p14:creationId xmlns:p14="http://schemas.microsoft.com/office/powerpoint/2010/main" val="67030486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6ece257c71a437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86d5a0293c4f46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2181F27-BF13-42F8-AF29-5F68C937D8F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19</a:t>
            </a:r>
          </a:p>
        </p:txBody>
      </p:sp>
      <p:sp>
        <p:nvSpPr>
          <p:cNvPr id="159" name="course-title">
            <a:extLst xmlns:a="http://schemas.openxmlformats.org/drawingml/2006/main">
              <a:ext uri="{FF2B5EF4-FFF2-40B4-BE49-F238E27FC236}">
                <a16:creationId xmlns:a16="http://schemas.microsoft.com/office/drawing/2014/main" id="{32D4E1F0-E30C-4507-9237-4A00FADC971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proximité sémantique peut cacher une contradiction</a:t>
            </a:r>
          </a:p>
        </p:txBody>
      </p:sp>
      <p:sp>
        <p:nvSpPr>
          <p:cNvPr id="160" name="concrete-example">
            <a:extLst xmlns:a="http://schemas.openxmlformats.org/drawingml/2006/main">
              <a:ext uri="{FF2B5EF4-FFF2-40B4-BE49-F238E27FC236}">
                <a16:creationId xmlns:a16="http://schemas.microsoft.com/office/drawing/2014/main" id="{7F9B948C-CFC0-4D41-8D50-A18C71F1FCF4}"/>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J'ai reçu le colis » et « Je n'ai pas reçu le colis » partagent beaucoup de contexte.</a:t>
            </a:r>
          </a:p>
        </p:txBody>
      </p:sp>
      <p:sp>
        <p:nvSpPr>
          <p:cNvPr id="161" name="body-1">
            <a:extLst xmlns:a="http://schemas.openxmlformats.org/drawingml/2006/main">
              <a:ext uri="{FF2B5EF4-FFF2-40B4-BE49-F238E27FC236}">
                <a16:creationId xmlns:a16="http://schemas.microsoft.com/office/drawing/2014/main" id="{45F88AE7-A691-4D43-904F-6668792EF6E3}"/>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une paraphrase, une négation et une demande hors domaine.</a:t>
            </a:r>
          </a:p>
        </p:txBody>
      </p:sp>
      <p:sp>
        <p:nvSpPr>
          <p:cNvPr id="162" name="body-2">
            <a:extLst xmlns:a="http://schemas.openxmlformats.org/drawingml/2006/main">
              <a:ext uri="{FF2B5EF4-FFF2-40B4-BE49-F238E27FC236}">
                <a16:creationId xmlns:a16="http://schemas.microsoft.com/office/drawing/2014/main" id="{EC06D878-9E8D-48F3-9118-6FE319446F4B}"/>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similarité de thème et équivalence d'intention.</a:t>
            </a:r>
          </a:p>
        </p:txBody>
      </p:sp>
      <p:sp>
        <p:nvSpPr>
          <p:cNvPr id="163" name="body-3">
            <a:extLst xmlns:a="http://schemas.openxmlformats.org/drawingml/2006/main">
              <a:ext uri="{FF2B5EF4-FFF2-40B4-BE49-F238E27FC236}">
                <a16:creationId xmlns:a16="http://schemas.microsoft.com/office/drawing/2014/main" id="{EC8F0ABD-6A56-450D-A954-236C41E6BD1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trois premiers voisins, pas seulement le meilleur score.</a:t>
            </a:r>
          </a:p>
        </p:txBody>
      </p:sp>
      <p:sp>
        <p:nvSpPr>
          <p:cNvPr id="164" name="body-4">
            <a:extLst xmlns:a="http://schemas.openxmlformats.org/drawingml/2006/main">
              <a:ext uri="{FF2B5EF4-FFF2-40B4-BE49-F238E27FC236}">
                <a16:creationId xmlns:a16="http://schemas.microsoft.com/office/drawing/2014/main" id="{CAD9CEB2-C6C5-4519-B475-F6937C69DFCF}"/>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un petit jeu de requêtes annotées.</a:t>
            </a:r>
          </a:p>
        </p:txBody>
      </p:sp>
    </p:spTree>
    <p:extLst>
      <p:ext uri="{BB962C8B-B14F-4D97-AF65-F5344CB8AC3E}">
        <p14:creationId xmlns:p14="http://schemas.microsoft.com/office/powerpoint/2010/main" val="6703048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358dc7eb64648b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64e4b00c08af480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E1943D7-7B12-44F4-8596-7FDFE2A0D48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20</a:t>
            </a:r>
          </a:p>
        </p:txBody>
      </p:sp>
      <p:sp>
        <p:nvSpPr>
          <p:cNvPr id="159" name="course-title">
            <a:extLst xmlns:a="http://schemas.openxmlformats.org/drawingml/2006/main">
              <a:ext uri="{FF2B5EF4-FFF2-40B4-BE49-F238E27FC236}">
                <a16:creationId xmlns:a16="http://schemas.microsoft.com/office/drawing/2014/main" id="{44C608E3-33CE-44CA-9F79-46925282416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Choisir une représentation avec une expérience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Méthode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Force attendue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Test qui la défie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TF-IDF mots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Termes discriminants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Synonyme inédit</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TF-IDF caractères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Variantes et fautes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Relation entre propositions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Embedding de phrase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Paraphrases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Négation ou détail critique</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54795E93-33E9-41D5-BCFD-CFCE1524DF89}"/>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Même requêtes, même corpus, même définition de pertinence.</a:t>
            </a:r>
          </a:p>
        </p:txBody>
      </p:sp>
    </p:spTree>
    <p:extLst>
      <p:ext uri="{BB962C8B-B14F-4D97-AF65-F5344CB8AC3E}">
        <p14:creationId xmlns:p14="http://schemas.microsoft.com/office/powerpoint/2010/main" val="67030486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b3ab2850a3947c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b5ef2e0e5a0407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72F4F86-D968-4708-B351-D033C74751D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21</a:t>
            </a:r>
          </a:p>
        </p:txBody>
      </p:sp>
      <p:sp>
        <p:nvSpPr>
          <p:cNvPr id="159" name="course-title">
            <a:extLst xmlns:a="http://schemas.openxmlformats.org/drawingml/2006/main">
              <a:ext uri="{FF2B5EF4-FFF2-40B4-BE49-F238E27FC236}">
                <a16:creationId xmlns:a16="http://schemas.microsoft.com/office/drawing/2014/main" id="{23D03C5A-4E32-4189-AA88-078C866D5F1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Vérifier les acquis avant le TP</a:t>
            </a:r>
          </a:p>
        </p:txBody>
      </p:sp>
      <p:sp>
        <p:nvSpPr>
          <p:cNvPr id="160" name="body-1">
            <a:extLst xmlns:a="http://schemas.openxmlformats.org/drawingml/2006/main">
              <a:ext uri="{FF2B5EF4-FFF2-40B4-BE49-F238E27FC236}">
                <a16:creationId xmlns:a16="http://schemas.microsoft.com/office/drawing/2014/main" id="{8F08F636-605D-4005-9B91-9B93B8E5D45F}"/>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séparer les paraphrases par groupe ?</a:t>
            </a:r>
          </a:p>
        </p:txBody>
      </p:sp>
      <p:sp>
        <p:nvSpPr>
          <p:cNvPr id="161" name="body-2">
            <a:extLst xmlns:a="http://schemas.openxmlformats.org/drawingml/2006/main">
              <a:ext uri="{FF2B5EF4-FFF2-40B4-BE49-F238E27FC236}">
                <a16:creationId xmlns:a16="http://schemas.microsoft.com/office/drawing/2014/main" id="{2F349BE9-0503-4F8B-8D18-B813572ECC1F}"/>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token est-il toujours un mot ?</a:t>
            </a:r>
          </a:p>
        </p:txBody>
      </p:sp>
      <p:sp>
        <p:nvSpPr>
          <p:cNvPr id="162" name="body-3">
            <a:extLst xmlns:a="http://schemas.openxmlformats.org/drawingml/2006/main">
              <a:ext uri="{FF2B5EF4-FFF2-40B4-BE49-F238E27FC236}">
                <a16:creationId xmlns:a16="http://schemas.microsoft.com/office/drawing/2014/main" id="{21D6CF15-91ED-4926-B0A6-E0B28E0F385E}"/>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cosinus de 0,9 signifie-t-il 90 % de vérité ?</a:t>
            </a:r>
          </a:p>
        </p:txBody>
      </p:sp>
      <p:sp>
        <p:nvSpPr>
          <p:cNvPr id="163" name="body-4">
            <a:extLst xmlns:a="http://schemas.openxmlformats.org/drawingml/2006/main">
              <a:ext uri="{FF2B5EF4-FFF2-40B4-BE49-F238E27FC236}">
                <a16:creationId xmlns:a16="http://schemas.microsoft.com/office/drawing/2014/main" id="{8012F4DA-A203-4657-A32B-BEE27D006588}"/>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 exemple pourrait faire gagner TF-IDF face à un embedding ?</a:t>
            </a:r>
          </a:p>
        </p:txBody>
      </p:sp>
    </p:spTree>
    <p:extLst>
      <p:ext uri="{BB962C8B-B14F-4D97-AF65-F5344CB8AC3E}">
        <p14:creationId xmlns:p14="http://schemas.microsoft.com/office/powerpoint/2010/main" val="67030486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72602bf3fbc3493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61d5c2dfc170471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BE79068-15FA-4871-92CA-69B9EFF6C78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22</a:t>
            </a:r>
          </a:p>
        </p:txBody>
      </p:sp>
      <p:sp>
        <p:nvSpPr>
          <p:cNvPr id="159" name="course-title">
            <a:extLst xmlns:a="http://schemas.openxmlformats.org/drawingml/2006/main">
              <a:ext uri="{FF2B5EF4-FFF2-40B4-BE49-F238E27FC236}">
                <a16:creationId xmlns:a16="http://schemas.microsoft.com/office/drawing/2014/main" id="{8181ECCF-23DE-4918-B06E-7D1D6952E28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1A · Auditer les fiches et les requêtes</a:t>
            </a:r>
          </a:p>
        </p:txBody>
      </p:sp>
      <p:sp>
        <p:nvSpPr>
          <p:cNvPr id="160" name="concrete-example">
            <a:extLst xmlns:a="http://schemas.openxmlformats.org/drawingml/2006/main">
              <a:ext uri="{FF2B5EF4-FFF2-40B4-BE49-F238E27FC236}">
                <a16:creationId xmlns:a16="http://schemas.microsoft.com/office/drawing/2014/main" id="{BB68A62B-E8DE-4F6B-904C-F77BE622115E}"/>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35 min</a:t>
            </a:r>
          </a:p>
        </p:txBody>
      </p:sp>
      <p:sp>
        <p:nvSpPr>
          <p:cNvPr id="161" name="body-1">
            <a:extLst xmlns:a="http://schemas.openxmlformats.org/drawingml/2006/main">
              <a:ext uri="{FF2B5EF4-FFF2-40B4-BE49-F238E27FC236}">
                <a16:creationId xmlns:a16="http://schemas.microsoft.com/office/drawing/2014/main" id="{8312A288-C719-4B36-A0FF-38DD7E148AFC}"/>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les 12 fiches FAQ et associer les premières requêtes à leur fiche.</a:t>
            </a:r>
          </a:p>
        </p:txBody>
      </p:sp>
      <p:sp>
        <p:nvSpPr>
          <p:cNvPr id="162" name="body-2">
            <a:extLst xmlns:a="http://schemas.openxmlformats.org/drawingml/2006/main">
              <a:ext uri="{FF2B5EF4-FFF2-40B4-BE49-F238E27FC236}">
                <a16:creationId xmlns:a16="http://schemas.microsoft.com/office/drawing/2014/main" id="{F9CDE40F-5A40-4EDB-B3F6-37BF83DB64C5}"/>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8 requêtes de validation et 6 requêtes finales.</a:t>
            </a:r>
          </a:p>
        </p:txBody>
      </p:sp>
      <p:sp>
        <p:nvSpPr>
          <p:cNvPr id="163" name="body-3">
            <a:extLst xmlns:a="http://schemas.openxmlformats.org/drawingml/2006/main">
              <a:ext uri="{FF2B5EF4-FFF2-40B4-BE49-F238E27FC236}">
                <a16:creationId xmlns:a16="http://schemas.microsoft.com/office/drawing/2014/main" id="{698980BA-5118-4F17-9FFB-EC3ED4C2A4E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Observer négation, apostrophe, nombres et segmentation par espaces.</a:t>
            </a:r>
          </a:p>
        </p:txBody>
      </p:sp>
      <p:sp>
        <p:nvSpPr>
          <p:cNvPr id="164" name="body-4">
            <a:extLst xmlns:a="http://schemas.openxmlformats.org/drawingml/2006/main">
              <a:ext uri="{FF2B5EF4-FFF2-40B4-BE49-F238E27FC236}">
                <a16:creationId xmlns:a16="http://schemas.microsoft.com/office/drawing/2014/main" id="{34E8FA00-4164-4AE5-BE92-7AB56E723278}"/>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hypothèse de recherche et limites de référence.</a:t>
            </a:r>
          </a:p>
        </p:txBody>
      </p:sp>
    </p:spTree>
    <p:extLst>
      <p:ext uri="{BB962C8B-B14F-4D97-AF65-F5344CB8AC3E}">
        <p14:creationId xmlns:p14="http://schemas.microsoft.com/office/powerpoint/2010/main" val="67030486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b8e4a97b1fce48e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69dab1a0c2f4d7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868293D-926E-471F-845D-799E41F9737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23</a:t>
            </a:r>
          </a:p>
        </p:txBody>
      </p:sp>
      <p:sp>
        <p:nvSpPr>
          <p:cNvPr id="159" name="course-title">
            <a:extLst xmlns:a="http://schemas.openxmlformats.org/drawingml/2006/main">
              <a:ext uri="{FF2B5EF4-FFF2-40B4-BE49-F238E27FC236}">
                <a16:creationId xmlns:a16="http://schemas.microsoft.com/office/drawing/2014/main" id="{4A21A94C-38FC-4558-93FE-F0BB60E5FC9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1B · Construire la recherche lexicale</a:t>
            </a:r>
          </a:p>
        </p:txBody>
      </p:sp>
      <p:sp>
        <p:nvSpPr>
          <p:cNvPr id="160" name="concrete-example">
            <a:extLst xmlns:a="http://schemas.openxmlformats.org/drawingml/2006/main">
              <a:ext uri="{FF2B5EF4-FFF2-40B4-BE49-F238E27FC236}">
                <a16:creationId xmlns:a16="http://schemas.microsoft.com/office/drawing/2014/main" id="{1129DE84-472C-4E5E-8655-1D686A3CA72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50 min</a:t>
            </a:r>
          </a:p>
        </p:txBody>
      </p:sp>
      <p:sp>
        <p:nvSpPr>
          <p:cNvPr id="161" name="body-1">
            <a:extLst xmlns:a="http://schemas.openxmlformats.org/drawingml/2006/main">
              <a:ext uri="{FF2B5EF4-FFF2-40B4-BE49-F238E27FC236}">
                <a16:creationId xmlns:a16="http://schemas.microsoft.com/office/drawing/2014/main" id="{8489BABA-4FDE-4688-ADBD-7364C05A0FF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Ajuster TF-IDF sur les fiches FAQ puis classer les cosinus.</a:t>
            </a:r>
          </a:p>
        </p:txBody>
      </p:sp>
      <p:sp>
        <p:nvSpPr>
          <p:cNvPr id="162" name="body-2">
            <a:extLst xmlns:a="http://schemas.openxmlformats.org/drawingml/2006/main">
              <a:ext uri="{FF2B5EF4-FFF2-40B4-BE49-F238E27FC236}">
                <a16:creationId xmlns:a16="http://schemas.microsoft.com/office/drawing/2014/main" id="{59347EF1-54A5-455C-9BA1-AB71CAC791D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Calculer Recall@1, Recall@3 et MRR sur validation.</a:t>
            </a:r>
          </a:p>
        </p:txBody>
      </p:sp>
      <p:sp>
        <p:nvSpPr>
          <p:cNvPr id="163" name="body-3">
            <a:extLst xmlns:a="http://schemas.openxmlformats.org/drawingml/2006/main">
              <a:ext uri="{FF2B5EF4-FFF2-40B4-BE49-F238E27FC236}">
                <a16:creationId xmlns:a16="http://schemas.microsoft.com/office/drawing/2014/main" id="{941D8646-8108-4914-ABE1-3FD93BD8F97E}"/>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unigrammes et bigrammes à requêtes constantes.</a:t>
            </a:r>
          </a:p>
        </p:txBody>
      </p:sp>
      <p:sp>
        <p:nvSpPr>
          <p:cNvPr id="164" name="body-4">
            <a:extLst xmlns:a="http://schemas.openxmlformats.org/drawingml/2006/main">
              <a:ext uri="{FF2B5EF4-FFF2-40B4-BE49-F238E27FC236}">
                <a16:creationId xmlns:a16="http://schemas.microsoft.com/office/drawing/2014/main" id="{90E9088B-CF39-412B-8EFB-6C47C789ADF5}"/>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classement expliqué et tableau des configurations.</a:t>
            </a:r>
          </a:p>
        </p:txBody>
      </p:sp>
    </p:spTree>
    <p:extLst>
      <p:ext uri="{BB962C8B-B14F-4D97-AF65-F5344CB8AC3E}">
        <p14:creationId xmlns:p14="http://schemas.microsoft.com/office/powerpoint/2010/main" val="67030486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b59eb97c54fb4b8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0794a0c513ff40d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596175F-F93A-4F6E-B70A-F67790C5CAC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24</a:t>
            </a:r>
          </a:p>
        </p:txBody>
      </p:sp>
      <p:sp>
        <p:nvSpPr>
          <p:cNvPr id="159" name="course-title">
            <a:extLst xmlns:a="http://schemas.openxmlformats.org/drawingml/2006/main">
              <a:ext uri="{FF2B5EF4-FFF2-40B4-BE49-F238E27FC236}">
                <a16:creationId xmlns:a16="http://schemas.microsoft.com/office/drawing/2014/main" id="{236B13E2-A991-4EF7-B629-FE2D5B82DD1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1C · Inspecter et entraîner un tokenizer</a:t>
            </a:r>
          </a:p>
        </p:txBody>
      </p:sp>
      <p:sp>
        <p:nvSpPr>
          <p:cNvPr id="160" name="concrete-example">
            <a:extLst xmlns:a="http://schemas.openxmlformats.org/drawingml/2006/main">
              <a:ext uri="{FF2B5EF4-FFF2-40B4-BE49-F238E27FC236}">
                <a16:creationId xmlns:a16="http://schemas.microsoft.com/office/drawing/2014/main" id="{1A395B5F-E2EA-48E6-9654-B0AC28CB751E}"/>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40 min</a:t>
            </a:r>
          </a:p>
        </p:txBody>
      </p:sp>
      <p:sp>
        <p:nvSpPr>
          <p:cNvPr id="161" name="body-1">
            <a:extLst xmlns:a="http://schemas.openxmlformats.org/drawingml/2006/main">
              <a:ext uri="{FF2B5EF4-FFF2-40B4-BE49-F238E27FC236}">
                <a16:creationId xmlns:a16="http://schemas.microsoft.com/office/drawing/2014/main" id="{7AF36CB6-2184-472C-BAEC-54D7B154A548}"/>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Afficher les unités de phrases françaises et repérer les cas limites.</a:t>
            </a:r>
          </a:p>
        </p:txBody>
      </p:sp>
      <p:sp>
        <p:nvSpPr>
          <p:cNvPr id="162" name="body-2">
            <a:extLst xmlns:a="http://schemas.openxmlformats.org/drawingml/2006/main">
              <a:ext uri="{FF2B5EF4-FFF2-40B4-BE49-F238E27FC236}">
                <a16:creationId xmlns:a16="http://schemas.microsoft.com/office/drawing/2014/main" id="{9EA6AD91-7953-421E-8501-44B6F6E22EAC}"/>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Entraîner deux petits BPE sur les textes des fiches.</a:t>
            </a:r>
          </a:p>
        </p:txBody>
      </p:sp>
      <p:sp>
        <p:nvSpPr>
          <p:cNvPr id="163" name="body-3">
            <a:extLst xmlns:a="http://schemas.openxmlformats.org/drawingml/2006/main">
              <a:ext uri="{FF2B5EF4-FFF2-40B4-BE49-F238E27FC236}">
                <a16:creationId xmlns:a16="http://schemas.microsoft.com/office/drawing/2014/main" id="{0E97EB7B-A393-4AFF-8428-4710B1876169}"/>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vocabulaires cibles de 120 et 240 unités.</a:t>
            </a:r>
          </a:p>
        </p:txBody>
      </p:sp>
      <p:sp>
        <p:nvSpPr>
          <p:cNvPr id="164" name="body-4">
            <a:extLst xmlns:a="http://schemas.openxmlformats.org/drawingml/2006/main">
              <a:ext uri="{FF2B5EF4-FFF2-40B4-BE49-F238E27FC236}">
                <a16:creationId xmlns:a16="http://schemas.microsoft.com/office/drawing/2014/main" id="{A15B0D87-1407-4363-9333-2CBADDADEA80}"/>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découpages, longueurs et unités inconnues expliqués.</a:t>
            </a:r>
          </a:p>
        </p:txBody>
      </p:sp>
    </p:spTree>
    <p:extLst>
      <p:ext uri="{BB962C8B-B14F-4D97-AF65-F5344CB8AC3E}">
        <p14:creationId xmlns:p14="http://schemas.microsoft.com/office/powerpoint/2010/main" val="67030486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ac0586c46e34ba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f36a4f87e584469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J1 · Fondations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4628E35-EAA6-4557-A03B-BBCEED72FDD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25</a:t>
            </a:r>
          </a:p>
        </p:txBody>
      </p:sp>
      <p:sp>
        <p:nvSpPr>
          <p:cNvPr id="159" name="course-title">
            <a:extLst xmlns:a="http://schemas.openxmlformats.org/drawingml/2006/main">
              <a:ext uri="{FF2B5EF4-FFF2-40B4-BE49-F238E27FC236}">
                <a16:creationId xmlns:a16="http://schemas.microsoft.com/office/drawing/2014/main" id="{F9DF5D53-796E-41D6-9304-B906FB3E98B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1D · Comparer, tester et expliquer la recherche</a:t>
            </a:r>
          </a:p>
        </p:txBody>
      </p:sp>
      <p:sp>
        <p:nvSpPr>
          <p:cNvPr id="160" name="concrete-example">
            <a:extLst xmlns:a="http://schemas.openxmlformats.org/drawingml/2006/main">
              <a:ext uri="{FF2B5EF4-FFF2-40B4-BE49-F238E27FC236}">
                <a16:creationId xmlns:a16="http://schemas.microsoft.com/office/drawing/2014/main" id="{637F47D4-7120-419D-9375-338402CF34F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01_j1_textes_recherche.ipynb · 115 min</a:t>
            </a:r>
          </a:p>
        </p:txBody>
      </p:sp>
      <p:sp>
        <p:nvSpPr>
          <p:cNvPr id="161" name="body-1">
            <a:extLst xmlns:a="http://schemas.openxmlformats.org/drawingml/2006/main">
              <a:ext uri="{FF2B5EF4-FFF2-40B4-BE49-F238E27FC236}">
                <a16:creationId xmlns:a16="http://schemas.microsoft.com/office/drawing/2014/main" id="{B377A30C-CD61-4CB9-8C74-39424FDF10A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55 min : encoder les fiches et comparer les recherches sur validation.</a:t>
            </a:r>
          </a:p>
        </p:txBody>
      </p:sp>
      <p:sp>
        <p:nvSpPr>
          <p:cNvPr id="162" name="body-2">
            <a:extLst xmlns:a="http://schemas.openxmlformats.org/drawingml/2006/main">
              <a:ext uri="{FF2B5EF4-FFF2-40B4-BE49-F238E27FC236}">
                <a16:creationId xmlns:a16="http://schemas.microsoft.com/office/drawing/2014/main" id="{C9529FA5-A67A-4264-BC48-9D6B6B45010D}"/>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60 min : analyser, choisir, ouvrir le test final et restituer.</a:t>
            </a:r>
          </a:p>
        </p:txBody>
      </p:sp>
      <p:sp>
        <p:nvSpPr>
          <p:cNvPr id="163" name="body-3">
            <a:extLst xmlns:a="http://schemas.openxmlformats.org/drawingml/2006/main">
              <a:ext uri="{FF2B5EF4-FFF2-40B4-BE49-F238E27FC236}">
                <a16:creationId xmlns:a16="http://schemas.microsoft.com/office/drawing/2014/main" id="{F843A434-ECAB-47A3-ABDA-CB479D283C50}"/>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Examiner paraphrase, référence exacte et négation.</a:t>
            </a:r>
          </a:p>
        </p:txBody>
      </p:sp>
      <p:sp>
        <p:nvSpPr>
          <p:cNvPr id="164" name="body-4">
            <a:extLst xmlns:a="http://schemas.openxmlformats.org/drawingml/2006/main">
              <a:ext uri="{FF2B5EF4-FFF2-40B4-BE49-F238E27FC236}">
                <a16:creationId xmlns:a16="http://schemas.microsoft.com/office/drawing/2014/main" id="{B921501F-5A13-46E9-AA17-C8EA6B05A6D3}"/>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métriques validation/test et deux erreurs expliquées.</a:t>
            </a:r>
          </a:p>
        </p:txBody>
      </p:sp>
    </p:spTree>
    <p:extLst>
      <p:ext uri="{BB962C8B-B14F-4D97-AF65-F5344CB8AC3E}">
        <p14:creationId xmlns:p14="http://schemas.microsoft.com/office/powerpoint/2010/main" val="670304868"/>
      </p:ext>
    </p:extLst>
  </p:cSld>
</p:sld>
</file>

<file path=ppt/slides/slide2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FD5C2D8C-21D6-4707-8FAA-B0542EC77135}"/>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7DB5612A-C039-498B-85B8-09EE800E7FC7}"/>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02</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240693C7-BE4D-4D75-94EB-D563F296B8DF}"/>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439467A-E017-41DC-A833-770DEE2765AB}"/>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5B0196A7-6A0B-4B3E-BA07-17DBBEC67AB7}"/>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155b74810f5b419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5e115af4ef614bfa">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FDFDD261-2375-43FA-968D-AFD80CC8CDE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8D3D6140-90B1-4865-B259-F260B95C63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CFDCC365-23F6-4AA7-A217-682FA7F05FE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26</a:t>
            </a:r>
          </a:p>
        </p:txBody>
      </p:sp>
      <p:sp>
        <p:nvSpPr>
          <p:cNvPr id="144" name="section-title">
            <a:extLst xmlns:a="http://schemas.openxmlformats.org/drawingml/2006/main">
              <a:ext uri="{FF2B5EF4-FFF2-40B4-BE49-F238E27FC236}">
                <a16:creationId xmlns:a16="http://schemas.microsoft.com/office/drawing/2014/main" id="{BCF95454-3544-4874-978F-A77E28357DA3}"/>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Comprendre les Transformers</a:t>
            </a:r>
          </a:p>
        </p:txBody>
      </p:sp>
      <p:sp>
        <p:nvSpPr>
          <p:cNvPr id="145" name="day-goal">
            <a:extLst xmlns:a="http://schemas.openxmlformats.org/drawingml/2006/main">
              <a:ext uri="{FF2B5EF4-FFF2-40B4-BE49-F238E27FC236}">
                <a16:creationId xmlns:a16="http://schemas.microsoft.com/office/drawing/2014/main" id="{5D071A72-9B2B-4AA6-89E1-3811AE31FA47}"/>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Calculer une attention, puis observer un modèle préentraîné.</a:t>
            </a:r>
          </a:p>
        </p:txBody>
      </p:sp>
      <p:sp>
        <p:nvSpPr>
          <p:cNvPr id="146" name="day-agenda">
            <a:extLst xmlns:a="http://schemas.openxmlformats.org/drawingml/2006/main">
              <a:ext uri="{FF2B5EF4-FFF2-40B4-BE49-F238E27FC236}">
                <a16:creationId xmlns:a16="http://schemas.microsoft.com/office/drawing/2014/main" id="{CF96D32D-B1D0-4F24-9EBF-FBCC2E734086}"/>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Q, K, V ; masques ; architectures ; génération.</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attention numérique, modèle masqué et petit LLM.</a:t>
            </a:r>
          </a:p>
        </p:txBody>
      </p:sp>
    </p:spTree>
    <p:extLst>
      <p:ext uri="{BB962C8B-B14F-4D97-AF65-F5344CB8AC3E}">
        <p14:creationId xmlns:p14="http://schemas.microsoft.com/office/powerpoint/2010/main" val="61408824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df28a3bde1ec414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315e15b9d494b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3D3B43F-40CF-49CD-9E34-DD5AEFB9F15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27</a:t>
            </a:r>
          </a:p>
        </p:txBody>
      </p:sp>
      <p:sp>
        <p:nvSpPr>
          <p:cNvPr id="159" name="course-title">
            <a:extLst xmlns:a="http://schemas.openxmlformats.org/drawingml/2006/main">
              <a:ext uri="{FF2B5EF4-FFF2-40B4-BE49-F238E27FC236}">
                <a16:creationId xmlns:a16="http://schemas.microsoft.com/office/drawing/2014/main" id="{1A4BF87D-89D9-4474-917B-6517B470E37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Prédire la suite : une cible obtenue sans annotation manuelle</a:t>
            </a:r>
          </a:p>
        </p:txBody>
      </p:sp>
      <p:graphicFrame>
        <p:nvGraphicFramePr>
          <p:cNvPr id="174"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Position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Entrée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Cible suivante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colis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colis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arrive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3</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arrive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demain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demain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&lt;fin&gt;</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B4807194-A9AB-454F-9675-A3FE88D6CAAF}"/>
              </a:ext>
            </a:extLst>
          </p:cNvPr>
          <p:cNvSpPr>
            <a:spLocks xmlns:a="http://schemas.openxmlformats.org/drawingml/2006/main" noGrp="1"/>
          </p:cNvSpPr>
          <p:nvPr/>
        </p:nvSpPr>
        <p:spPr>
          <a:xfrm xmlns:a="http://schemas.openxmlformats.org/drawingml/2006/main">
            <a:off x="781050" y="452437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 modèle apprend P(token suivant | tokens précédents).</a:t>
            </a:r>
          </a:p>
        </p:txBody>
      </p:sp>
    </p:spTree>
    <p:extLst>
      <p:ext uri="{BB962C8B-B14F-4D97-AF65-F5344CB8AC3E}">
        <p14:creationId xmlns:p14="http://schemas.microsoft.com/office/powerpoint/2010/main" val="67030486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6a1408cb20a1436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efc1bef9d334fb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B1B265C-AD23-484F-A50B-781E20DBB2F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28</a:t>
            </a:r>
          </a:p>
        </p:txBody>
      </p:sp>
      <p:sp>
        <p:nvSpPr>
          <p:cNvPr id="159" name="course-title">
            <a:extLst xmlns:a="http://schemas.openxmlformats.org/drawingml/2006/main">
              <a:ext uri="{FF2B5EF4-FFF2-40B4-BE49-F238E27FC236}">
                <a16:creationId xmlns:a16="http://schemas.microsoft.com/office/drawing/2014/main" id="{79E300F3-AB2D-4822-9BD6-E0FF6AE5730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Pourquoi permettre aux tokens de se consulter ?</a:t>
            </a:r>
          </a:p>
        </p:txBody>
      </p:sp>
      <p:sp>
        <p:nvSpPr>
          <p:cNvPr id="160" name="concrete-example">
            <a:extLst xmlns:a="http://schemas.openxmlformats.org/drawingml/2006/main">
              <a:ext uri="{FF2B5EF4-FFF2-40B4-BE49-F238E27FC236}">
                <a16:creationId xmlns:a16="http://schemas.microsoft.com/office/drawing/2014/main" id="{078F88C7-AD3C-475F-A5C7-A2C52CFC0B97}"/>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Pour interpréter « il », il faut parfois retrouver un mot éloigné.</a:t>
            </a:r>
          </a:p>
        </p:txBody>
      </p:sp>
      <p:sp>
        <p:nvSpPr>
          <p:cNvPr id="161" name="body-1">
            <a:extLst xmlns:a="http://schemas.openxmlformats.org/drawingml/2006/main">
              <a:ext uri="{FF2B5EF4-FFF2-40B4-BE49-F238E27FC236}">
                <a16:creationId xmlns:a16="http://schemas.microsoft.com/office/drawing/2014/main" id="{A7165380-E386-4ECF-8614-257A50AF3043}"/>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RNN propage un état étape par étape.</a:t>
            </a:r>
          </a:p>
        </p:txBody>
      </p:sp>
      <p:sp>
        <p:nvSpPr>
          <p:cNvPr id="162" name="body-2">
            <a:extLst xmlns:a="http://schemas.openxmlformats.org/drawingml/2006/main">
              <a:ext uri="{FF2B5EF4-FFF2-40B4-BE49-F238E27FC236}">
                <a16:creationId xmlns:a16="http://schemas.microsoft.com/office/drawing/2014/main" id="{F5B9802A-9849-440C-B33C-606DB209C79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L'attention construit des liens entre positions d'une séquence.</a:t>
            </a:r>
          </a:p>
        </p:txBody>
      </p:sp>
      <p:sp>
        <p:nvSpPr>
          <p:cNvPr id="163" name="body-3">
            <a:extLst xmlns:a="http://schemas.openxmlformats.org/drawingml/2006/main">
              <a:ext uri="{FF2B5EF4-FFF2-40B4-BE49-F238E27FC236}">
                <a16:creationId xmlns:a16="http://schemas.microsoft.com/office/drawing/2014/main" id="{8448BFFD-D7EE-47C0-91A0-4A1FF447A750}"/>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contexte utile varie selon le token et la couche.</a:t>
            </a:r>
          </a:p>
        </p:txBody>
      </p:sp>
      <p:sp>
        <p:nvSpPr>
          <p:cNvPr id="164" name="body-4">
            <a:extLst xmlns:a="http://schemas.openxmlformats.org/drawingml/2006/main">
              <a:ext uri="{FF2B5EF4-FFF2-40B4-BE49-F238E27FC236}">
                <a16:creationId xmlns:a16="http://schemas.microsoft.com/office/drawing/2014/main" id="{60AD3302-4121-42F9-BCBF-3962BBF2193E}"/>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coût de l'attention dense augmente avec la longueur.</a:t>
            </a:r>
          </a:p>
        </p:txBody>
      </p:sp>
    </p:spTree>
    <p:extLst>
      <p:ext uri="{BB962C8B-B14F-4D97-AF65-F5344CB8AC3E}">
        <p14:creationId xmlns:p14="http://schemas.microsoft.com/office/powerpoint/2010/main" val="67030486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920eaf059664b9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f155d18eeda4f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877DC43-72A9-4DB6-9CE7-7E0886ADACD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29</a:t>
            </a:r>
          </a:p>
        </p:txBody>
      </p:sp>
      <p:sp>
        <p:nvSpPr>
          <p:cNvPr id="159" name="course-title">
            <a:extLst xmlns:a="http://schemas.openxmlformats.org/drawingml/2006/main">
              <a:ext uri="{FF2B5EF4-FFF2-40B4-BE49-F238E27FC236}">
                <a16:creationId xmlns:a16="http://schemas.microsoft.com/office/drawing/2014/main" id="{ADF5FE30-7011-42EC-8B1C-15C020C28F6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Q, K, V : demander, comparer, récupérer</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adf5b44f7de4d77"/>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94EE907B-2B78-471F-A4E1-E590B6B55DFB}"/>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En self-attention, Q, K et V proviennent de trois projections apprises du même X.</a:t>
            </a:r>
          </a:p>
        </p:txBody>
      </p:sp>
    </p:spTree>
    <p:extLst>
      <p:ext uri="{BB962C8B-B14F-4D97-AF65-F5344CB8AC3E}">
        <p14:creationId xmlns:p14="http://schemas.microsoft.com/office/powerpoint/2010/main" val="67030486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545eceedadf439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357de7edebbb42e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13FBA87-5549-43AB-8DAF-EB470512475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30</a:t>
            </a:r>
          </a:p>
        </p:txBody>
      </p:sp>
      <p:sp>
        <p:nvSpPr>
          <p:cNvPr id="159" name="course-title">
            <a:extLst xmlns:a="http://schemas.openxmlformats.org/drawingml/2006/main">
              <a:ext uri="{FF2B5EF4-FFF2-40B4-BE49-F238E27FC236}">
                <a16:creationId xmlns:a16="http://schemas.microsoft.com/office/drawing/2014/main" id="{6D51AEB1-D6C1-42DD-B8DD-59D0D36572A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Les dimensions racontent le calcul</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Objet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Forme jouet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Interprétation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X</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tokens, 4 caractéristiques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Q, K</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Une tête de dimension d_k = 2</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V</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Deux valeurs par token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QKᵀ</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 3</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Chaque requête face à chaque clé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 V</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 × 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Une sortie par requête</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67030486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a58bf59a75f485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0e9c3df011bf446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73A4EC9-ADC0-4350-AECB-5A7701539A6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31</a:t>
            </a:r>
          </a:p>
        </p:txBody>
      </p:sp>
      <p:sp>
        <p:nvSpPr>
          <p:cNvPr id="159" name="course-title">
            <a:extLst xmlns:a="http://schemas.openxmlformats.org/drawingml/2006/main">
              <a:ext uri="{FF2B5EF4-FFF2-40B4-BE49-F238E27FC236}">
                <a16:creationId xmlns:a16="http://schemas.microsoft.com/office/drawing/2014/main" id="{EB3FAB79-BB10-4FB8-A1B8-1025C7DF8E8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1 · Calculer les scores de correspondance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Requête q = (1, 0)</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Clé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 · k</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Position A</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(1, 0)</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Position B</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(0, 1)</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0</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Position C</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(1, 1)</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1</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38F16D44-D936-46E1-9EA4-6898DA5FA7CD}"/>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Les scores bruts comparent une requête aux trois clés.</a:t>
            </a:r>
          </a:p>
        </p:txBody>
      </p:sp>
    </p:spTree>
    <p:extLst>
      <p:ext uri="{BB962C8B-B14F-4D97-AF65-F5344CB8AC3E}">
        <p14:creationId xmlns:p14="http://schemas.microsoft.com/office/powerpoint/2010/main" val="67030486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8dcd9de73fdb4a1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d7af02c8cb1c4f3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29F2EFD-FB10-4A4E-9442-6DB2991C4CB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32</a:t>
            </a:r>
          </a:p>
        </p:txBody>
      </p:sp>
      <p:sp>
        <p:nvSpPr>
          <p:cNvPr id="159" name="course-title">
            <a:extLst xmlns:a="http://schemas.openxmlformats.org/drawingml/2006/main">
              <a:ext uri="{FF2B5EF4-FFF2-40B4-BE49-F238E27FC236}">
                <a16:creationId xmlns:a16="http://schemas.microsoft.com/office/drawing/2014/main" id="{4EDB0F3B-30BE-4E5A-A87F-87231425984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2 · Mise à l'échelle et softmax</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1fc44d5d25244da0"/>
          <a:stretch xmlns:a="http://schemas.openxmlformats.org/drawingml/2006/main"/>
        </p:blipFill>
        <p:spPr>
          <a:xfrm xmlns:a="http://schemas.openxmlformats.org/drawingml/2006/main">
            <a:off x="4371975" y="1895475"/>
            <a:ext cx="3438525"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C8F93B8E-15D3-4845-A855-0C270E996F69}"/>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Transformer les scores d’une requête en poids dont la somme vaut un.</a:t>
            </a:r>
          </a:p>
        </p:txBody>
      </p:sp>
      <p:sp>
        <p:nvSpPr>
          <p:cNvPr id="162" name="formula-symbol-0">
            <a:extLst xmlns:a="http://schemas.openxmlformats.org/drawingml/2006/main">
              <a:ext uri="{FF2B5EF4-FFF2-40B4-BE49-F238E27FC236}">
                <a16:creationId xmlns:a16="http://schemas.microsoft.com/office/drawing/2014/main" id="{6071EBDA-A9F9-4A6F-83E1-0ABD9180707E}"/>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sᵢ = qᵀkᵢ : score face à la clé i</a:t>
            </a:r>
          </a:p>
        </p:txBody>
      </p:sp>
      <p:sp>
        <p:nvSpPr>
          <p:cNvPr id="163" name="formula-symbol-1">
            <a:extLst xmlns:a="http://schemas.openxmlformats.org/drawingml/2006/main">
              <a:ext uri="{FF2B5EF4-FFF2-40B4-BE49-F238E27FC236}">
                <a16:creationId xmlns:a16="http://schemas.microsoft.com/office/drawing/2014/main" id="{381BD334-8FCD-4F13-A257-6FEB46C6CDDB}"/>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dₖ : nombre de coordonnées par clé</a:t>
            </a:r>
          </a:p>
        </p:txBody>
      </p:sp>
      <p:sp>
        <p:nvSpPr>
          <p:cNvPr id="164" name="formula-symbol-2">
            <a:extLst xmlns:a="http://schemas.openxmlformats.org/drawingml/2006/main">
              <a:ext uri="{FF2B5EF4-FFF2-40B4-BE49-F238E27FC236}">
                <a16:creationId xmlns:a16="http://schemas.microsoft.com/office/drawing/2014/main" id="{904C582B-D13A-4B8D-8DDF-D5C70F823AB7}"/>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 : nombre de clés ; i, j : indices</a:t>
            </a:r>
          </a:p>
        </p:txBody>
      </p:sp>
      <p:sp>
        <p:nvSpPr>
          <p:cNvPr id="165" name="formula-symbol-3">
            <a:extLst xmlns:a="http://schemas.openxmlformats.org/drawingml/2006/main">
              <a:ext uri="{FF2B5EF4-FFF2-40B4-BE49-F238E27FC236}">
                <a16:creationId xmlns:a16="http://schemas.microsoft.com/office/drawing/2014/main" id="{75C85B2B-EEF7-42F1-9890-DCE20D83C559}"/>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exp : exponentielle ; Σ : somme sur les clés</a:t>
            </a:r>
          </a:p>
        </p:txBody>
      </p:sp>
      <p:sp>
        <p:nvSpPr>
          <p:cNvPr id="166" name="formula-symbol-4">
            <a:extLst xmlns:a="http://schemas.openxmlformats.org/drawingml/2006/main">
              <a:ext uri="{FF2B5EF4-FFF2-40B4-BE49-F238E27FC236}">
                <a16:creationId xmlns:a16="http://schemas.microsoft.com/office/drawing/2014/main" id="{79AFAC13-3E67-41D4-8869-DA8B66713589}"/>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aᵢ : poids attribué à la valeur i</a:t>
            </a:r>
          </a:p>
        </p:txBody>
      </p:sp>
      <p:sp>
        <p:nvSpPr>
          <p:cNvPr id="167" name="formula-example">
            <a:extLst xmlns:a="http://schemas.openxmlformats.org/drawingml/2006/main">
              <a:ext uri="{FF2B5EF4-FFF2-40B4-BE49-F238E27FC236}">
                <a16:creationId xmlns:a16="http://schemas.microsoft.com/office/drawing/2014/main" id="{C1613177-C216-47D3-97B5-6780670F519E}"/>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Scores [1 ; 0 ; 1], dₖ = 2 → poids ≈ [0,401 ; 0,198 ; 0,401] ; somme = 1.</a:t>
            </a:r>
          </a:p>
        </p:txBody>
      </p:sp>
    </p:spTree>
    <p:extLst>
      <p:ext uri="{BB962C8B-B14F-4D97-AF65-F5344CB8AC3E}">
        <p14:creationId xmlns:p14="http://schemas.microsoft.com/office/powerpoint/2010/main" val="67030486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364637ec9f5c4a4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1898a09fbdbd4c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748BAE9-FA48-4A0A-933F-9BD626118AC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33</a:t>
            </a:r>
          </a:p>
        </p:txBody>
      </p:sp>
      <p:sp>
        <p:nvSpPr>
          <p:cNvPr id="159" name="course-title">
            <a:extLst xmlns:a="http://schemas.openxmlformats.org/drawingml/2006/main">
              <a:ext uri="{FF2B5EF4-FFF2-40B4-BE49-F238E27FC236}">
                <a16:creationId xmlns:a16="http://schemas.microsoft.com/office/drawing/2014/main" id="{3F0C4449-12A5-4B6F-BB1D-D15E91DCE2A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Étape 3 · Mélanger les valeurs</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50270fa72f53415d"/>
          <a:stretch xmlns:a="http://schemas.openxmlformats.org/drawingml/2006/main"/>
        </p:blipFill>
        <p:spPr>
          <a:xfrm xmlns:a="http://schemas.openxmlformats.org/drawingml/2006/main">
            <a:off x="4443413" y="1895475"/>
            <a:ext cx="32956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422623B6-F23F-41E6-9117-9258503A27E2}"/>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Chaque poids dose la contribution d’une valeur à la nouvelle représentation.</a:t>
            </a:r>
          </a:p>
        </p:txBody>
      </p:sp>
      <p:graphicFrame>
        <p:nvGraphicFramePr>
          <p:cNvPr id="181" name=""/>
          <p:cNvGraphicFramePr/>
          <p:nvPr/>
        </p:nvGraphicFramePr>
        <p:xfrm>
          <a:off xmlns:a="http://schemas.openxmlformats.org/drawingml/2006/main" x="781050" y="3571875"/>
          <a:ext xmlns:a="http://schemas.openxmlformats.org/drawingml/2006/main" cx="6191250" cy="1762125"/>
        </p:xfrm>
        <a:graphic xmlns:a="http://schemas.openxmlformats.org/drawingml/2006/main">
          <a:graphicData uri="http://schemas.openxmlformats.org/drawingml/2006/table">
            <a:tbl>
              <a:tblPr/>
              <a:tblGrid>
                <a:gridCol w="2063750"/>
                <a:gridCol w="2063750"/>
                <a:gridCol w="2063750"/>
              </a:tblGrid>
              <a:tr h="440531">
                <a:tc>
                  <a:txBody>
                    <a:bodyPr>
                      <a:noAutofit/>
                    </a:bodyPr>
                    <a:lstStyle/>
                    <a:p>
                      <a:r>
                        <a:rPr sz="1500" b="1">
                          <a:solidFill>
                            <a:srgbClr val="FFFFFF"/>
                          </a:solidFill>
                          <a:latin typeface="DM Sans"/>
                          <a:ea typeface="DM Sans"/>
                          <a:cs typeface="DM Sans"/>
                        </a:rPr>
                        <a:t>Position</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Poids</a:t>
                      </a:r>
                    </a:p>
                  </a:txBody>
                  <a:tcPr marL="95250" marR="95250" marT="76200" marB="76200" anchor="ctr">
                    <a:solidFill>
                      <a:srgbClr val="282A59"/>
                    </a:solidFill>
                  </a:tcPr>
                </a:tc>
                <a:tc>
                  <a:txBody>
                    <a:bodyPr>
                      <a:noAutofit/>
                    </a:bodyPr>
                    <a:lstStyle/>
                    <a:p>
                      <a:r>
                        <a:rPr sz="1500" b="1">
                          <a:solidFill>
                            <a:srgbClr val="FFFFFF"/>
                          </a:solidFill>
                          <a:latin typeface="DM Sans"/>
                          <a:ea typeface="DM Sans"/>
                          <a:cs typeface="DM Sans"/>
                        </a:rPr>
                        <a:t>Valeur V</a:t>
                      </a:r>
                    </a:p>
                  </a:txBody>
                  <a:tcPr marL="95250" marR="95250" marT="76200" marB="76200" anchor="ctr">
                    <a:solidFill>
                      <a:srgbClr val="282A59"/>
                    </a:solidFill>
                  </a:tcPr>
                </a:tc>
              </a:tr>
              <a:tr h="440531">
                <a:tc>
                  <a:txBody>
                    <a:bodyPr>
                      <a:noAutofit/>
                    </a:bodyPr>
                    <a:lstStyle/>
                    <a:p>
                      <a:r>
                        <a:rPr sz="1500" b="0">
                          <a:solidFill>
                            <a:srgbClr val="111111"/>
                          </a:solidFill>
                          <a:latin typeface="DM Sans"/>
                          <a:ea typeface="DM Sans"/>
                          <a:cs typeface="DM Sans"/>
                        </a:rPr>
                        <a:t>A</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0,401</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(2, 0)</a:t>
                      </a:r>
                    </a:p>
                  </a:txBody>
                  <a:tcPr marL="95250" marR="95250" marT="76200" marB="76200" anchor="ctr">
                    <a:solidFill>
                      <a:srgbClr val="F4F3F2"/>
                    </a:solidFill>
                  </a:tcPr>
                </a:tc>
              </a:tr>
              <a:tr h="440531">
                <a:tc>
                  <a:txBody>
                    <a:bodyPr>
                      <a:noAutofit/>
                    </a:bodyPr>
                    <a:lstStyle/>
                    <a:p>
                      <a:r>
                        <a:rPr sz="1500" b="0">
                          <a:solidFill>
                            <a:srgbClr val="111111"/>
                          </a:solidFill>
                          <a:latin typeface="DM Sans"/>
                          <a:ea typeface="DM Sans"/>
                          <a:cs typeface="DM Sans"/>
                        </a:rPr>
                        <a:t>B</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0,198</a:t>
                      </a:r>
                    </a:p>
                  </a:txBody>
                  <a:tcPr marL="95250" marR="95250" marT="76200" marB="76200" anchor="ctr">
                    <a:solidFill>
                      <a:srgbClr val="FFFFFF"/>
                    </a:solidFill>
                  </a:tcPr>
                </a:tc>
                <a:tc>
                  <a:txBody>
                    <a:bodyPr>
                      <a:noAutofit/>
                    </a:bodyPr>
                    <a:lstStyle/>
                    <a:p>
                      <a:r>
                        <a:rPr sz="1500" b="0">
                          <a:solidFill>
                            <a:srgbClr val="111111"/>
                          </a:solidFill>
                          <a:latin typeface="DM Sans"/>
                          <a:ea typeface="DM Sans"/>
                          <a:cs typeface="DM Sans"/>
                        </a:rPr>
                        <a:t>(0, 2)</a:t>
                      </a:r>
                    </a:p>
                  </a:txBody>
                  <a:tcPr marL="95250" marR="95250" marT="76200" marB="76200" anchor="ctr">
                    <a:solidFill>
                      <a:srgbClr val="FFFFFF"/>
                    </a:solidFill>
                  </a:tcPr>
                </a:tc>
              </a:tr>
              <a:tr h="440531">
                <a:tc>
                  <a:txBody>
                    <a:bodyPr>
                      <a:noAutofit/>
                    </a:bodyPr>
                    <a:lstStyle/>
                    <a:p>
                      <a:r>
                        <a:rPr sz="1500" b="0">
                          <a:solidFill>
                            <a:srgbClr val="111111"/>
                          </a:solidFill>
                          <a:latin typeface="DM Sans"/>
                          <a:ea typeface="DM Sans"/>
                          <a:cs typeface="DM Sans"/>
                        </a:rPr>
                        <a:t>C</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0,401</a:t>
                      </a:r>
                    </a:p>
                  </a:txBody>
                  <a:tcPr marL="95250" marR="95250" marT="76200" marB="76200" anchor="ctr">
                    <a:solidFill>
                      <a:srgbClr val="F4F3F2"/>
                    </a:solidFill>
                  </a:tcPr>
                </a:tc>
                <a:tc>
                  <a:txBody>
                    <a:bodyPr>
                      <a:noAutofit/>
                    </a:bodyPr>
                    <a:lstStyle/>
                    <a:p>
                      <a:r>
                        <a:rPr sz="1500" b="0">
                          <a:solidFill>
                            <a:srgbClr val="111111"/>
                          </a:solidFill>
                          <a:latin typeface="DM Sans"/>
                          <a:ea typeface="DM Sans"/>
                          <a:cs typeface="DM Sans"/>
                        </a:rPr>
                        <a:t>(2, 2)</a:t>
                      </a:r>
                    </a:p>
                  </a:txBody>
                  <a:tcPr marL="95250" marR="95250" marT="76200" marB="76200" anchor="ctr">
                    <a:solidFill>
                      <a:srgbClr val="F4F3F2"/>
                    </a:solidFill>
                  </a:tcPr>
                </a:tc>
              </a:tr>
            </a:tbl>
          </a:graphicData>
        </a:graphic>
      </p:graphicFrame>
      <p:sp>
        <p:nvSpPr>
          <p:cNvPr id="163" name="formula-symbol-0">
            <a:extLst xmlns:a="http://schemas.openxmlformats.org/drawingml/2006/main">
              <a:ext uri="{FF2B5EF4-FFF2-40B4-BE49-F238E27FC236}">
                <a16:creationId xmlns:a16="http://schemas.microsoft.com/office/drawing/2014/main" id="{D4BFFCBE-139F-4D2A-9A4F-91CC02ED37C2}"/>
              </a:ext>
            </a:extLst>
          </p:cNvPr>
          <p:cNvSpPr>
            <a:spLocks xmlns:a="http://schemas.openxmlformats.org/drawingml/2006/main" noGrp="1"/>
          </p:cNvSpPr>
          <p:nvPr/>
        </p:nvSpPr>
        <p:spPr>
          <a:xfrm xmlns:a="http://schemas.openxmlformats.org/drawingml/2006/main">
            <a:off x="7191375" y="358140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aᵢ : poids de la position i</a:t>
            </a:r>
          </a:p>
        </p:txBody>
      </p:sp>
      <p:sp>
        <p:nvSpPr>
          <p:cNvPr id="164" name="formula-symbol-1">
            <a:extLst xmlns:a="http://schemas.openxmlformats.org/drawingml/2006/main">
              <a:ext uri="{FF2B5EF4-FFF2-40B4-BE49-F238E27FC236}">
                <a16:creationId xmlns:a16="http://schemas.microsoft.com/office/drawing/2014/main" id="{FACB1696-BDDA-43F9-9D4B-75A137C5B75A}"/>
              </a:ext>
            </a:extLst>
          </p:cNvPr>
          <p:cNvSpPr>
            <a:spLocks xmlns:a="http://schemas.openxmlformats.org/drawingml/2006/main" noGrp="1"/>
          </p:cNvSpPr>
          <p:nvPr/>
        </p:nvSpPr>
        <p:spPr>
          <a:xfrm xmlns:a="http://schemas.openxmlformats.org/drawingml/2006/main">
            <a:off x="7191375" y="399097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vᵢ : vecteur de valeur à 2 coordonnées</a:t>
            </a:r>
          </a:p>
        </p:txBody>
      </p:sp>
      <p:sp>
        <p:nvSpPr>
          <p:cNvPr id="165" name="formula-symbol-2">
            <a:extLst xmlns:a="http://schemas.openxmlformats.org/drawingml/2006/main">
              <a:ext uri="{FF2B5EF4-FFF2-40B4-BE49-F238E27FC236}">
                <a16:creationId xmlns:a16="http://schemas.microsoft.com/office/drawing/2014/main" id="{D59CD9D1-3B57-430B-90A6-8F64533F12E7}"/>
              </a:ext>
            </a:extLst>
          </p:cNvPr>
          <p:cNvSpPr>
            <a:spLocks xmlns:a="http://schemas.openxmlformats.org/drawingml/2006/main" noGrp="1"/>
          </p:cNvSpPr>
          <p:nvPr/>
        </p:nvSpPr>
        <p:spPr>
          <a:xfrm xmlns:a="http://schemas.openxmlformats.org/drawingml/2006/main">
            <a:off x="7191375" y="440055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Σ : addition des 3 contributions pondérées</a:t>
            </a:r>
          </a:p>
        </p:txBody>
      </p:sp>
      <p:sp>
        <p:nvSpPr>
          <p:cNvPr id="166" name="formula-symbol-3">
            <a:extLst xmlns:a="http://schemas.openxmlformats.org/drawingml/2006/main">
              <a:ext uri="{FF2B5EF4-FFF2-40B4-BE49-F238E27FC236}">
                <a16:creationId xmlns:a16="http://schemas.microsoft.com/office/drawing/2014/main" id="{AB88A410-B54B-499B-9E0D-5348999E3471}"/>
              </a:ext>
            </a:extLst>
          </p:cNvPr>
          <p:cNvSpPr>
            <a:spLocks xmlns:a="http://schemas.openxmlformats.org/drawingml/2006/main" noGrp="1"/>
          </p:cNvSpPr>
          <p:nvPr/>
        </p:nvSpPr>
        <p:spPr>
          <a:xfrm xmlns:a="http://schemas.openxmlformats.org/drawingml/2006/main">
            <a:off x="7191375" y="4810125"/>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111111"/>
                </a:solidFill>
                <a:latin typeface="DM Sans"/>
                <a:ea typeface="DM Sans"/>
                <a:cs typeface="DM Sans"/>
              </a:defRPr>
            </a:pPr>
            <a:r>
              <a:rPr sz="1575">
                <a:solidFill>
                  <a:srgbClr val="111111"/>
                </a:solidFill>
                <a:latin typeface="DM Sans"/>
                <a:ea typeface="DM Sans"/>
                <a:cs typeface="DM Sans"/>
              </a:rPr>
              <a:t>o : vecteur de sortie, dimension 2</a:t>
            </a:r>
          </a:p>
        </p:txBody>
      </p:sp>
    </p:spTree>
    <p:extLst>
      <p:ext uri="{BB962C8B-B14F-4D97-AF65-F5344CB8AC3E}">
        <p14:creationId xmlns:p14="http://schemas.microsoft.com/office/powerpoint/2010/main" val="67030486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9e14391d5ce4c6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89679b1b11e4fa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3DCFFD4-86D4-4CF7-869B-D9982A07AB2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34</a:t>
            </a:r>
          </a:p>
        </p:txBody>
      </p:sp>
      <p:sp>
        <p:nvSpPr>
          <p:cNvPr id="159" name="course-title">
            <a:extLst xmlns:a="http://schemas.openxmlformats.org/drawingml/2006/main">
              <a:ext uri="{FF2B5EF4-FFF2-40B4-BE49-F238E27FC236}">
                <a16:creationId xmlns:a16="http://schemas.microsoft.com/office/drawing/2014/main" id="{568F7A2D-2FD8-4602-B972-A858ABB86D7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masque causal empêche de lire la réponse future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facf852848244c3"/>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9AFFFF43-528F-4747-B6ED-4062CF918AC1}"/>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 masque s’ajoute aux scores avant softmax : le futur reçoit une probabilité nulle.</a:t>
            </a:r>
          </a:p>
        </p:txBody>
      </p:sp>
    </p:spTree>
    <p:extLst>
      <p:ext uri="{BB962C8B-B14F-4D97-AF65-F5344CB8AC3E}">
        <p14:creationId xmlns:p14="http://schemas.microsoft.com/office/powerpoint/2010/main" val="670304868"/>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33b988bc2770439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e919b8cff764d2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6FCC1A8-A9DF-4B41-BEDC-05F9D6C0309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35</a:t>
            </a:r>
          </a:p>
        </p:txBody>
      </p:sp>
      <p:sp>
        <p:nvSpPr>
          <p:cNvPr id="159" name="course-title">
            <a:extLst xmlns:a="http://schemas.openxmlformats.org/drawingml/2006/main">
              <a:ext uri="{FF2B5EF4-FFF2-40B4-BE49-F238E27FC236}">
                <a16:creationId xmlns:a16="http://schemas.microsoft.com/office/drawing/2014/main" id="{A99B8C59-AC68-453D-8B81-D15EAC929F6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Plusieurs têtes : plusieurs comparaisons apprises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f522fa4d540649d9"/>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5447D714-BC99-4A80-BC3B-1A8F671A1155}"/>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tête apprend ses projections ; leurs sorties sont concaténées puis reprojetées.</a:t>
            </a:r>
          </a:p>
        </p:txBody>
      </p:sp>
    </p:spTree>
    <p:extLst>
      <p:ext uri="{BB962C8B-B14F-4D97-AF65-F5344CB8AC3E}">
        <p14:creationId xmlns:p14="http://schemas.microsoft.com/office/powerpoint/2010/main" val="67030486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a18c3834a9fe41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ae4edcbbd5e420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D611567-499D-401F-BF0C-BEEAA924446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36</a:t>
            </a:r>
          </a:p>
        </p:txBody>
      </p:sp>
      <p:sp>
        <p:nvSpPr>
          <p:cNvPr id="159" name="course-title">
            <a:extLst xmlns:a="http://schemas.openxmlformats.org/drawingml/2006/main">
              <a:ext uri="{FF2B5EF4-FFF2-40B4-BE49-F238E27FC236}">
                <a16:creationId xmlns:a16="http://schemas.microsoft.com/office/drawing/2014/main" id="{B4EA7C89-889A-4CDE-9F5D-C67D567CD47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bloc ne se limite pas à l'attention</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6e1afc1c480f4334"/>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6F7D7BB5-FDA7-4B2E-A63F-08659CF1FE4E}"/>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Exemple Post-LN de type BERT ; d’autres Transformers placent la normalisation autrement.</a:t>
            </a:r>
          </a:p>
        </p:txBody>
      </p:sp>
    </p:spTree>
    <p:extLst>
      <p:ext uri="{BB962C8B-B14F-4D97-AF65-F5344CB8AC3E}">
        <p14:creationId xmlns:p14="http://schemas.microsoft.com/office/powerpoint/2010/main" val="670304868"/>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541539260dcd499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cce885bb521f452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9B25EE5-9798-4AE9-B673-7F95524D148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37</a:t>
            </a:r>
          </a:p>
        </p:txBody>
      </p:sp>
      <p:sp>
        <p:nvSpPr>
          <p:cNvPr id="159" name="course-title">
            <a:extLst xmlns:a="http://schemas.openxmlformats.org/drawingml/2006/main">
              <a:ext uri="{FF2B5EF4-FFF2-40B4-BE49-F238E27FC236}">
                <a16:creationId xmlns:a16="http://schemas.microsoft.com/office/drawing/2014/main" id="{A9E69618-8919-4E1E-8EDF-C7933CA6E23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Sans information de position, l'ordre manque</a:t>
            </a:r>
          </a:p>
        </p:txBody>
      </p:sp>
      <p:sp>
        <p:nvSpPr>
          <p:cNvPr id="160" name="concrete-example">
            <a:extLst xmlns:a="http://schemas.openxmlformats.org/drawingml/2006/main">
              <a:ext uri="{FF2B5EF4-FFF2-40B4-BE49-F238E27FC236}">
                <a16:creationId xmlns:a16="http://schemas.microsoft.com/office/drawing/2014/main" id="{844B4151-6157-4B68-9397-106D3CF0E15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 Le client rembourse le vendeur » ≠ « Le vendeur rembourse le client ».</a:t>
            </a:r>
          </a:p>
        </p:txBody>
      </p:sp>
      <p:sp>
        <p:nvSpPr>
          <p:cNvPr id="161" name="body-1">
            <a:extLst xmlns:a="http://schemas.openxmlformats.org/drawingml/2006/main">
              <a:ext uri="{FF2B5EF4-FFF2-40B4-BE49-F238E27FC236}">
                <a16:creationId xmlns:a16="http://schemas.microsoft.com/office/drawing/2014/main" id="{1AAC9789-D9DB-446A-9D8D-DA912A47BB5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Les embeddings de tokens décrivent les unités.</a:t>
            </a:r>
          </a:p>
        </p:txBody>
      </p:sp>
      <p:sp>
        <p:nvSpPr>
          <p:cNvPr id="162" name="body-2">
            <a:extLst xmlns:a="http://schemas.openxmlformats.org/drawingml/2006/main">
              <a:ext uri="{FF2B5EF4-FFF2-40B4-BE49-F238E27FC236}">
                <a16:creationId xmlns:a16="http://schemas.microsoft.com/office/drawing/2014/main" id="{ABDA9ACD-18E3-495D-A318-7FE0E9FC3E12}"/>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information de position distingue leur ordre.</a:t>
            </a:r>
          </a:p>
        </p:txBody>
      </p:sp>
      <p:sp>
        <p:nvSpPr>
          <p:cNvPr id="163" name="body-3">
            <a:extLst xmlns:a="http://schemas.openxmlformats.org/drawingml/2006/main">
              <a:ext uri="{FF2B5EF4-FFF2-40B4-BE49-F238E27FC236}">
                <a16:creationId xmlns:a16="http://schemas.microsoft.com/office/drawing/2014/main" id="{336AC879-DC56-4679-90C0-5352FA8019FE}"/>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Positions apprises, sinusoïdales ou relatives : plusieurs choix.</a:t>
            </a:r>
          </a:p>
        </p:txBody>
      </p:sp>
      <p:sp>
        <p:nvSpPr>
          <p:cNvPr id="164" name="body-4">
            <a:extLst xmlns:a="http://schemas.openxmlformats.org/drawingml/2006/main">
              <a:ext uri="{FF2B5EF4-FFF2-40B4-BE49-F238E27FC236}">
                <a16:creationId xmlns:a16="http://schemas.microsoft.com/office/drawing/2014/main" id="{B3E1D67E-521C-40AA-BC45-DC6FA568F5B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Longueur maximale annoncée ≠ qualité garantie sur un long document.</a:t>
            </a:r>
          </a:p>
        </p:txBody>
      </p:sp>
    </p:spTree>
    <p:extLst>
      <p:ext uri="{BB962C8B-B14F-4D97-AF65-F5344CB8AC3E}">
        <p14:creationId xmlns:p14="http://schemas.microsoft.com/office/powerpoint/2010/main" val="670304868"/>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4a8af188799a492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0bc8ab851c541c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123971E-1DF4-4E35-BF21-1342D757639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38</a:t>
            </a:r>
          </a:p>
        </p:txBody>
      </p:sp>
      <p:sp>
        <p:nvSpPr>
          <p:cNvPr id="159" name="course-title">
            <a:extLst xmlns:a="http://schemas.openxmlformats.org/drawingml/2006/main">
              <a:ext uri="{FF2B5EF4-FFF2-40B4-BE49-F238E27FC236}">
                <a16:creationId xmlns:a16="http://schemas.microsoft.com/office/drawing/2014/main" id="{7BE82FEB-EE55-4051-AE54-17B9221F71A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Encodeur, décodeur, encodeur-décodeur</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64dba1cc91ef45b7"/>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B92A90ED-7D5D-4D10-97AE-BA2ECEBF74C9}"/>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BERT encode ; GPT génère causalement ; T5 relie encodeur et décodeur par cross-attention.</a:t>
            </a:r>
          </a:p>
        </p:txBody>
      </p:sp>
    </p:spTree>
    <p:extLst>
      <p:ext uri="{BB962C8B-B14F-4D97-AF65-F5344CB8AC3E}">
        <p14:creationId xmlns:p14="http://schemas.microsoft.com/office/powerpoint/2010/main" val="670304868"/>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94f210a982a42e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4370ba67c6744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4022C5B-CFC6-452B-A4CD-CEE5EB3EE49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39</a:t>
            </a:r>
          </a:p>
        </p:txBody>
      </p:sp>
      <p:sp>
        <p:nvSpPr>
          <p:cNvPr id="159" name="course-title">
            <a:extLst xmlns:a="http://schemas.openxmlformats.org/drawingml/2006/main">
              <a:ext uri="{FF2B5EF4-FFF2-40B4-BE49-F238E27FC236}">
                <a16:creationId xmlns:a16="http://schemas.microsoft.com/office/drawing/2014/main" id="{54FFBB2C-46DB-41FD-90D6-F72281B0652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Préentraînement et adaptation ne répondent pas à la même question</a:t>
            </a:r>
          </a:p>
        </p:txBody>
      </p:sp>
      <p:sp>
        <p:nvSpPr>
          <p:cNvPr id="160" name="body-1">
            <a:extLst xmlns:a="http://schemas.openxmlformats.org/drawingml/2006/main">
              <a:ext uri="{FF2B5EF4-FFF2-40B4-BE49-F238E27FC236}">
                <a16:creationId xmlns:a16="http://schemas.microsoft.com/office/drawing/2014/main" id="{3D99C386-DF3A-41A0-B52D-447020A1F085}"/>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Langage masqué : retrouver un token caché grâce au contexte.</a:t>
            </a:r>
          </a:p>
        </p:txBody>
      </p:sp>
      <p:sp>
        <p:nvSpPr>
          <p:cNvPr id="161" name="body-2">
            <a:extLst xmlns:a="http://schemas.openxmlformats.org/drawingml/2006/main">
              <a:ext uri="{FF2B5EF4-FFF2-40B4-BE49-F238E27FC236}">
                <a16:creationId xmlns:a16="http://schemas.microsoft.com/office/drawing/2014/main" id="{DCC4311F-FC7D-4EED-AE21-9ABDE521CEC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Langage causal : prédire le token suivant à partir du préfixe.</a:t>
            </a:r>
          </a:p>
        </p:txBody>
      </p:sp>
      <p:sp>
        <p:nvSpPr>
          <p:cNvPr id="162" name="body-3">
            <a:extLst xmlns:a="http://schemas.openxmlformats.org/drawingml/2006/main">
              <a:ext uri="{FF2B5EF4-FFF2-40B4-BE49-F238E27FC236}">
                <a16:creationId xmlns:a16="http://schemas.microsoft.com/office/drawing/2014/main" id="{893DD536-31C4-44BF-BB5E-2DD33338E284}"/>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Fine-tuning : adapter des paramètres à une tâche ou à un format.</a:t>
            </a:r>
          </a:p>
        </p:txBody>
      </p:sp>
      <p:sp>
        <p:nvSpPr>
          <p:cNvPr id="163" name="body-4">
            <a:extLst xmlns:a="http://schemas.openxmlformats.org/drawingml/2006/main">
              <a:ext uri="{FF2B5EF4-FFF2-40B4-BE49-F238E27FC236}">
                <a16:creationId xmlns:a16="http://schemas.microsoft.com/office/drawing/2014/main" id="{47E118A5-71A1-4D7E-889D-A4EB4388F544}"/>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tête de classification neuve doit encore apprendre les labels.</a:t>
            </a:r>
          </a:p>
        </p:txBody>
      </p:sp>
    </p:spTree>
    <p:extLst>
      <p:ext uri="{BB962C8B-B14F-4D97-AF65-F5344CB8AC3E}">
        <p14:creationId xmlns:p14="http://schemas.microsoft.com/office/powerpoint/2010/main" val="670304868"/>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c00c7fd7b3d46b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67157f6aa42e415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B05CFB6-FE55-4720-A83A-F730EF06CCB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40</a:t>
            </a:r>
          </a:p>
        </p:txBody>
      </p:sp>
      <p:sp>
        <p:nvSpPr>
          <p:cNvPr id="159" name="course-title">
            <a:extLst xmlns:a="http://schemas.openxmlformats.org/drawingml/2006/main">
              <a:ext uri="{FF2B5EF4-FFF2-40B4-BE49-F238E27FC236}">
                <a16:creationId xmlns:a16="http://schemas.microsoft.com/office/drawing/2014/main" id="{13838920-309C-4493-920D-6D795AAC5A1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Décomposer pipeline() pour savoir ce qui se passe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14414ab233b3461b"/>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0CB110CA-F45D-4DE8-95C0-5DC1F5A6DF00}"/>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pipeline() assemble ces étapes ; inspecter chacune aide à localiser une erreur.</a:t>
            </a:r>
          </a:p>
        </p:txBody>
      </p:sp>
    </p:spTree>
    <p:extLst>
      <p:ext uri="{BB962C8B-B14F-4D97-AF65-F5344CB8AC3E}">
        <p14:creationId xmlns:p14="http://schemas.microsoft.com/office/powerpoint/2010/main" val="670304868"/>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86f20656cad44e6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5b72907715ad40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A390892-8D2B-40F6-9C1E-ECCAFF7D804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41</a:t>
            </a:r>
          </a:p>
        </p:txBody>
      </p:sp>
      <p:sp>
        <p:nvSpPr>
          <p:cNvPr id="159" name="course-title">
            <a:extLst xmlns:a="http://schemas.openxmlformats.org/drawingml/2006/main">
              <a:ext uri="{FF2B5EF4-FFF2-40B4-BE49-F238E27FC236}">
                <a16:creationId xmlns:a16="http://schemas.microsoft.com/office/drawing/2014/main" id="{AF45AE55-0140-4E47-AA02-EF3437B4120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Décoder : choisir parmi plusieurs suites possibles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Réglage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Décision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Effet attendu</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Greedy</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Prendre le token le plus probable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Sortie stable pour un calcul donné</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Température 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softmax(logits / 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 faible concentre la distribution</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Top-k</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Garder k candidats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Écarter la longue traîne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Top-p</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Garder une masse cumulée p</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Nombre variable de candidats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1cf162cd279410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8a5af0bf3f944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300869F-AE7F-4FE3-A7A2-193A955436F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42</a:t>
            </a:r>
          </a:p>
        </p:txBody>
      </p:sp>
      <p:sp>
        <p:nvSpPr>
          <p:cNvPr id="159" name="course-title">
            <a:extLst xmlns:a="http://schemas.openxmlformats.org/drawingml/2006/main">
              <a:ext uri="{FF2B5EF4-FFF2-40B4-BE49-F238E27FC236}">
                <a16:creationId xmlns:a16="http://schemas.microsoft.com/office/drawing/2014/main" id="{CB4A6F62-353D-4814-996D-7FF771E1911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Observer une génération avec un protocole</a:t>
            </a:r>
          </a:p>
        </p:txBody>
      </p:sp>
      <p:sp>
        <p:nvSpPr>
          <p:cNvPr id="160" name="body-1">
            <a:extLst xmlns:a="http://schemas.openxmlformats.org/drawingml/2006/main">
              <a:ext uri="{FF2B5EF4-FFF2-40B4-BE49-F238E27FC236}">
                <a16:creationId xmlns:a16="http://schemas.microsoft.com/office/drawing/2014/main" id="{8890C480-C036-4BBA-BF2F-FC54FBCE5AB2}"/>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le modèle, la révision, le prompt et le format de conversation.</a:t>
            </a:r>
          </a:p>
        </p:txBody>
      </p:sp>
      <p:sp>
        <p:nvSpPr>
          <p:cNvPr id="161" name="body-2">
            <a:extLst xmlns:a="http://schemas.openxmlformats.org/drawingml/2006/main">
              <a:ext uri="{FF2B5EF4-FFF2-40B4-BE49-F238E27FC236}">
                <a16:creationId xmlns:a16="http://schemas.microsoft.com/office/drawing/2014/main" id="{6FE02F4E-0F87-43EA-A81A-43684BD094B2}"/>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Limiter max_new_tokens et observer le motif d'arrêt.</a:t>
            </a:r>
          </a:p>
        </p:txBody>
      </p:sp>
      <p:sp>
        <p:nvSpPr>
          <p:cNvPr id="162" name="body-3">
            <a:extLst xmlns:a="http://schemas.openxmlformats.org/drawingml/2006/main">
              <a:ext uri="{FF2B5EF4-FFF2-40B4-BE49-F238E27FC236}">
                <a16:creationId xmlns:a16="http://schemas.microsoft.com/office/drawing/2014/main" id="{119D41DC-0470-48D7-B0C1-35E4D12C9AC0}"/>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greedy et échantillonnage sur les mêmes demandes.</a:t>
            </a:r>
          </a:p>
        </p:txBody>
      </p:sp>
      <p:sp>
        <p:nvSpPr>
          <p:cNvPr id="163" name="body-4">
            <a:extLst xmlns:a="http://schemas.openxmlformats.org/drawingml/2006/main">
              <a:ext uri="{FF2B5EF4-FFF2-40B4-BE49-F238E27FC236}">
                <a16:creationId xmlns:a16="http://schemas.microsoft.com/office/drawing/2014/main" id="{152E0A60-D5C0-4714-9E2B-11C0E9775500}"/>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qualité de rédaction, respect du format et exactitude.</a:t>
            </a:r>
          </a:p>
        </p:txBody>
      </p:sp>
    </p:spTree>
    <p:extLst>
      <p:ext uri="{BB962C8B-B14F-4D97-AF65-F5344CB8AC3E}">
        <p14:creationId xmlns:p14="http://schemas.microsoft.com/office/powerpoint/2010/main" val="670304868"/>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c9f1da563e341f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57c33ec1504459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7BC6F6A-9A4F-44D6-8CD5-BE1B52C6388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43</a:t>
            </a:r>
          </a:p>
        </p:txBody>
      </p:sp>
      <p:sp>
        <p:nvSpPr>
          <p:cNvPr id="159" name="course-title">
            <a:extLst xmlns:a="http://schemas.openxmlformats.org/drawingml/2006/main">
              <a:ext uri="{FF2B5EF4-FFF2-40B4-BE49-F238E27FC236}">
                <a16:creationId xmlns:a16="http://schemas.microsoft.com/office/drawing/2014/main" id="{113CD626-AA63-4162-9769-867F28F9F7C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Pouvez-vous expliquer l'attention sans le schéma ?</a:t>
            </a:r>
          </a:p>
        </p:txBody>
      </p:sp>
      <p:sp>
        <p:nvSpPr>
          <p:cNvPr id="160" name="body-1">
            <a:extLst xmlns:a="http://schemas.openxmlformats.org/drawingml/2006/main">
              <a:ext uri="{FF2B5EF4-FFF2-40B4-BE49-F238E27FC236}">
                <a16:creationId xmlns:a16="http://schemas.microsoft.com/office/drawing/2014/main" id="{C689CF06-E08F-4D4C-8CA0-330FDCAC44C0}"/>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V doit-il rester distinct de K ?</a:t>
            </a:r>
          </a:p>
        </p:txBody>
      </p:sp>
      <p:sp>
        <p:nvSpPr>
          <p:cNvPr id="161" name="body-2">
            <a:extLst xmlns:a="http://schemas.openxmlformats.org/drawingml/2006/main">
              <a:ext uri="{FF2B5EF4-FFF2-40B4-BE49-F238E27FC236}">
                <a16:creationId xmlns:a16="http://schemas.microsoft.com/office/drawing/2014/main" id="{7E24D213-12C4-44FA-9B13-62BC2E1B8B1F}"/>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dimension utiliser dans √d_k pour une tête de 32 dimensions ?</a:t>
            </a:r>
          </a:p>
        </p:txBody>
      </p:sp>
      <p:sp>
        <p:nvSpPr>
          <p:cNvPr id="162" name="body-3">
            <a:extLst xmlns:a="http://schemas.openxmlformats.org/drawingml/2006/main">
              <a:ext uri="{FF2B5EF4-FFF2-40B4-BE49-F238E27FC236}">
                <a16:creationId xmlns:a16="http://schemas.microsoft.com/office/drawing/2014/main" id="{BA0C8459-B6BB-4A06-A267-C50F9027C3EA}"/>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masquer avant le softmax ?</a:t>
            </a:r>
          </a:p>
        </p:txBody>
      </p:sp>
      <p:sp>
        <p:nvSpPr>
          <p:cNvPr id="163" name="body-4">
            <a:extLst xmlns:a="http://schemas.openxmlformats.org/drawingml/2006/main">
              <a:ext uri="{FF2B5EF4-FFF2-40B4-BE49-F238E27FC236}">
                <a16:creationId xmlns:a16="http://schemas.microsoft.com/office/drawing/2014/main" id="{E814CEDD-9522-4C49-A22D-E136F63D59C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Qu'est-ce qui change quand on augmente la température ?</a:t>
            </a:r>
          </a:p>
        </p:txBody>
      </p:sp>
    </p:spTree>
    <p:extLst>
      <p:ext uri="{BB962C8B-B14F-4D97-AF65-F5344CB8AC3E}">
        <p14:creationId xmlns:p14="http://schemas.microsoft.com/office/powerpoint/2010/main" val="670304868"/>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b127fbde755a431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7043b900cd74bf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7F3CC20-E26F-4E98-860D-2408A30CBD2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44</a:t>
            </a:r>
          </a:p>
        </p:txBody>
      </p:sp>
      <p:sp>
        <p:nvSpPr>
          <p:cNvPr id="159" name="course-title">
            <a:extLst xmlns:a="http://schemas.openxmlformats.org/drawingml/2006/main">
              <a:ext uri="{FF2B5EF4-FFF2-40B4-BE49-F238E27FC236}">
                <a16:creationId xmlns:a16="http://schemas.microsoft.com/office/drawing/2014/main" id="{ABFF2669-B8CD-4A1B-8BA1-7CF711126A2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2A · Refaire QKᵀ, softmax et AV</a:t>
            </a:r>
          </a:p>
        </p:txBody>
      </p:sp>
      <p:sp>
        <p:nvSpPr>
          <p:cNvPr id="160" name="concrete-example">
            <a:extLst xmlns:a="http://schemas.openxmlformats.org/drawingml/2006/main">
              <a:ext uri="{FF2B5EF4-FFF2-40B4-BE49-F238E27FC236}">
                <a16:creationId xmlns:a16="http://schemas.microsoft.com/office/drawing/2014/main" id="{1C377138-E6DF-4158-8FD1-E127722EC6AB}"/>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C30131BD-3B1C-4841-941A-896D5BB50B76}"/>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Reproduire le calcul numérique à trois clés.</a:t>
            </a:r>
          </a:p>
        </p:txBody>
      </p:sp>
      <p:sp>
        <p:nvSpPr>
          <p:cNvPr id="162" name="body-2">
            <a:extLst xmlns:a="http://schemas.openxmlformats.org/drawingml/2006/main">
              <a:ext uri="{FF2B5EF4-FFF2-40B4-BE49-F238E27FC236}">
                <a16:creationId xmlns:a16="http://schemas.microsoft.com/office/drawing/2014/main" id="{BB05CC30-CF51-4CBC-8B3E-B30BB0B98DC7}"/>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dimensions, poids positifs et somme par ligne.</a:t>
            </a:r>
          </a:p>
        </p:txBody>
      </p:sp>
      <p:sp>
        <p:nvSpPr>
          <p:cNvPr id="163" name="body-3">
            <a:extLst xmlns:a="http://schemas.openxmlformats.org/drawingml/2006/main">
              <a:ext uri="{FF2B5EF4-FFF2-40B4-BE49-F238E27FC236}">
                <a16:creationId xmlns:a16="http://schemas.microsoft.com/office/drawing/2014/main" id="{139A819D-362D-450A-BE83-F5DB011D0BA7}"/>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Changer Q, K puis V séparément et prédire l'effet.</a:t>
            </a:r>
          </a:p>
        </p:txBody>
      </p:sp>
      <p:sp>
        <p:nvSpPr>
          <p:cNvPr id="164" name="body-4">
            <a:extLst xmlns:a="http://schemas.openxmlformats.org/drawingml/2006/main">
              <a:ext uri="{FF2B5EF4-FFF2-40B4-BE49-F238E27FC236}">
                <a16:creationId xmlns:a16="http://schemas.microsoft.com/office/drawing/2014/main" id="{8FF21494-6216-4478-8699-C9D5966FB97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matrices annotées et explication de la sortie.</a:t>
            </a:r>
          </a:p>
        </p:txBody>
      </p:sp>
    </p:spTree>
    <p:extLst>
      <p:ext uri="{BB962C8B-B14F-4D97-AF65-F5344CB8AC3E}">
        <p14:creationId xmlns:p14="http://schemas.microsoft.com/office/powerpoint/2010/main" val="670304868"/>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8a5e4742827408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9996b196acec4e1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7980924-701E-4531-B6A9-34DFD3B2C98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45</a:t>
            </a:r>
          </a:p>
        </p:txBody>
      </p:sp>
      <p:sp>
        <p:nvSpPr>
          <p:cNvPr id="159" name="course-title">
            <a:extLst xmlns:a="http://schemas.openxmlformats.org/drawingml/2006/main">
              <a:ext uri="{FF2B5EF4-FFF2-40B4-BE49-F238E27FC236}">
                <a16:creationId xmlns:a16="http://schemas.microsoft.com/office/drawing/2014/main" id="{C0506E1C-53E4-4D5C-88AD-989F60FE052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2B · Rendre le futur inaccessible</a:t>
            </a:r>
          </a:p>
        </p:txBody>
      </p:sp>
      <p:sp>
        <p:nvSpPr>
          <p:cNvPr id="160" name="concrete-example">
            <a:extLst xmlns:a="http://schemas.openxmlformats.org/drawingml/2006/main">
              <a:ext uri="{FF2B5EF4-FFF2-40B4-BE49-F238E27FC236}">
                <a16:creationId xmlns:a16="http://schemas.microsoft.com/office/drawing/2014/main" id="{52C2365C-1107-4C34-BE74-E4AEC3C7EBC1}"/>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EC4957E8-FA8B-4205-8CD8-D7780F581792}"/>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un masque causal et visualiser les positions autorisées.</a:t>
            </a:r>
          </a:p>
        </p:txBody>
      </p:sp>
      <p:sp>
        <p:nvSpPr>
          <p:cNvPr id="162" name="body-2">
            <a:extLst xmlns:a="http://schemas.openxmlformats.org/drawingml/2006/main">
              <a:ext uri="{FF2B5EF4-FFF2-40B4-BE49-F238E27FC236}">
                <a16:creationId xmlns:a16="http://schemas.microsoft.com/office/drawing/2014/main" id="{3F70A1F0-4AC2-49C8-A979-AAEF0897A3D0}"/>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Ajouter un cas avec padding.</a:t>
            </a:r>
          </a:p>
        </p:txBody>
      </p:sp>
      <p:sp>
        <p:nvSpPr>
          <p:cNvPr id="163" name="body-3">
            <a:extLst xmlns:a="http://schemas.openxmlformats.org/drawingml/2006/main">
              <a:ext uri="{FF2B5EF4-FFF2-40B4-BE49-F238E27FC236}">
                <a16:creationId xmlns:a16="http://schemas.microsoft.com/office/drawing/2014/main" id="{A190A410-EA98-4670-8344-6AFDC56C4138}"/>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deux têtes sur la même séquence.</a:t>
            </a:r>
          </a:p>
        </p:txBody>
      </p:sp>
      <p:sp>
        <p:nvSpPr>
          <p:cNvPr id="164" name="body-4">
            <a:extLst xmlns:a="http://schemas.openxmlformats.org/drawingml/2006/main">
              <a:ext uri="{FF2B5EF4-FFF2-40B4-BE49-F238E27FC236}">
                <a16:creationId xmlns:a16="http://schemas.microsoft.com/office/drawing/2014/main" id="{17C2B7DA-F2FB-485D-AD1C-BC376F936794}"/>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expliquer une fuite et une erreur de dimensions.</a:t>
            </a:r>
          </a:p>
        </p:txBody>
      </p:sp>
    </p:spTree>
    <p:extLst>
      <p:ext uri="{BB962C8B-B14F-4D97-AF65-F5344CB8AC3E}">
        <p14:creationId xmlns:p14="http://schemas.microsoft.com/office/powerpoint/2010/main" val="670304868"/>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32747cec21224d4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66e85ccb140a412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A9C6185-70D2-47CD-B41D-F57F3BEFB49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46</a:t>
            </a:r>
          </a:p>
        </p:txBody>
      </p:sp>
      <p:sp>
        <p:nvSpPr>
          <p:cNvPr id="159" name="course-title">
            <a:extLst xmlns:a="http://schemas.openxmlformats.org/drawingml/2006/main">
              <a:ext uri="{FF2B5EF4-FFF2-40B4-BE49-F238E27FC236}">
                <a16:creationId xmlns:a16="http://schemas.microsoft.com/office/drawing/2014/main" id="{52C103B1-7BB2-4096-A939-153F123517A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2C · Observer un encodeur préentraîné</a:t>
            </a:r>
          </a:p>
        </p:txBody>
      </p:sp>
      <p:sp>
        <p:nvSpPr>
          <p:cNvPr id="160" name="concrete-example">
            <a:extLst xmlns:a="http://schemas.openxmlformats.org/drawingml/2006/main">
              <a:ext uri="{FF2B5EF4-FFF2-40B4-BE49-F238E27FC236}">
                <a16:creationId xmlns:a16="http://schemas.microsoft.com/office/drawing/2014/main" id="{788C868F-8BDA-4600-B92A-AF45DD2274DA}"/>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B534D724-F0BA-49E7-B204-1197C8490071}"/>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DistilBERT multilingue et son tokenizer.</a:t>
            </a:r>
          </a:p>
        </p:txBody>
      </p:sp>
      <p:sp>
        <p:nvSpPr>
          <p:cNvPr id="162" name="body-2">
            <a:extLst xmlns:a="http://schemas.openxmlformats.org/drawingml/2006/main">
              <a:ext uri="{FF2B5EF4-FFF2-40B4-BE49-F238E27FC236}">
                <a16:creationId xmlns:a16="http://schemas.microsoft.com/office/drawing/2014/main" id="{732C98AD-B5FD-4F48-B29C-2B7171CB8A8F}"/>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les dimensions des entrées et des sorties.</a:t>
            </a:r>
          </a:p>
        </p:txBody>
      </p:sp>
      <p:sp>
        <p:nvSpPr>
          <p:cNvPr id="163" name="body-3">
            <a:extLst xmlns:a="http://schemas.openxmlformats.org/drawingml/2006/main">
              <a:ext uri="{FF2B5EF4-FFF2-40B4-BE49-F238E27FC236}">
                <a16:creationId xmlns:a16="http://schemas.microsoft.com/office/drawing/2014/main" id="{F71E76F1-7394-48B8-8251-1D1DB9CA27F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suggestions pour plusieurs contextes français.</a:t>
            </a:r>
          </a:p>
        </p:txBody>
      </p:sp>
      <p:sp>
        <p:nvSpPr>
          <p:cNvPr id="164" name="body-4">
            <a:extLst xmlns:a="http://schemas.openxmlformats.org/drawingml/2006/main">
              <a:ext uri="{FF2B5EF4-FFF2-40B4-BE49-F238E27FC236}">
                <a16:creationId xmlns:a16="http://schemas.microsoft.com/office/drawing/2014/main" id="{E77FE741-112B-49F9-A24F-BDFB2E6C268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deux réussites, deux limites et leur explication.</a:t>
            </a:r>
          </a:p>
        </p:txBody>
      </p:sp>
    </p:spTree>
    <p:extLst>
      <p:ext uri="{BB962C8B-B14F-4D97-AF65-F5344CB8AC3E}">
        <p14:creationId xmlns:p14="http://schemas.microsoft.com/office/powerpoint/2010/main" val="670304868"/>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602bccdd39904cf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a5269cc37c7411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J2 · Transformers</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7CD8F08-FF0F-44E8-9D7C-F1ED64CD2EB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47</a:t>
            </a:r>
          </a:p>
        </p:txBody>
      </p:sp>
      <p:sp>
        <p:nvSpPr>
          <p:cNvPr id="159" name="course-title">
            <a:extLst xmlns:a="http://schemas.openxmlformats.org/drawingml/2006/main">
              <a:ext uri="{FF2B5EF4-FFF2-40B4-BE49-F238E27FC236}">
                <a16:creationId xmlns:a16="http://schemas.microsoft.com/office/drawing/2014/main" id="{743D246E-2C9B-4BCB-876F-7B3926AC1D1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2D · Comparer les stratégies de génération</a:t>
            </a:r>
          </a:p>
        </p:txBody>
      </p:sp>
      <p:sp>
        <p:nvSpPr>
          <p:cNvPr id="160" name="concrete-example">
            <a:extLst xmlns:a="http://schemas.openxmlformats.org/drawingml/2006/main">
              <a:ext uri="{FF2B5EF4-FFF2-40B4-BE49-F238E27FC236}">
                <a16:creationId xmlns:a16="http://schemas.microsoft.com/office/drawing/2014/main" id="{2E35A986-B772-4AFD-92C0-17894F0D195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02_j2_attention_transformers.ipynb · 60 min</a:t>
            </a:r>
          </a:p>
        </p:txBody>
      </p:sp>
      <p:sp>
        <p:nvSpPr>
          <p:cNvPr id="161" name="body-1">
            <a:extLst xmlns:a="http://schemas.openxmlformats.org/drawingml/2006/main">
              <a:ext uri="{FF2B5EF4-FFF2-40B4-BE49-F238E27FC236}">
                <a16:creationId xmlns:a16="http://schemas.microsoft.com/office/drawing/2014/main" id="{DC0050A6-E1A1-4F03-A225-B9A20BB5148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Qwen2.5-0.5B-Instruct et appliquer son chat template.</a:t>
            </a:r>
          </a:p>
        </p:txBody>
      </p:sp>
      <p:sp>
        <p:nvSpPr>
          <p:cNvPr id="162" name="body-2">
            <a:extLst xmlns:a="http://schemas.openxmlformats.org/drawingml/2006/main">
              <a:ext uri="{FF2B5EF4-FFF2-40B4-BE49-F238E27FC236}">
                <a16:creationId xmlns:a16="http://schemas.microsoft.com/office/drawing/2014/main" id="{3BE78B60-6E5F-4395-8E14-8B1A44ED6284}"/>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greedy et échantillonnage à prompt constant.</a:t>
            </a:r>
          </a:p>
        </p:txBody>
      </p:sp>
      <p:sp>
        <p:nvSpPr>
          <p:cNvPr id="163" name="body-3">
            <a:extLst xmlns:a="http://schemas.openxmlformats.org/drawingml/2006/main">
              <a:ext uri="{FF2B5EF4-FFF2-40B4-BE49-F238E27FC236}">
                <a16:creationId xmlns:a16="http://schemas.microsoft.com/office/drawing/2014/main" id="{BAA7394B-0FEF-4610-95B9-B3DAE88E1BC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Mesurer longueur, temps et respect d'une consigne simple.</a:t>
            </a:r>
          </a:p>
        </p:txBody>
      </p:sp>
      <p:sp>
        <p:nvSpPr>
          <p:cNvPr id="164" name="body-4">
            <a:extLst xmlns:a="http://schemas.openxmlformats.org/drawingml/2006/main">
              <a:ext uri="{FF2B5EF4-FFF2-40B4-BE49-F238E27FC236}">
                <a16:creationId xmlns:a16="http://schemas.microsoft.com/office/drawing/2014/main" id="{599AFD3C-DB7C-4DC8-8023-07E98755A44D}"/>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 de sorties et limites du petit modèle.</a:t>
            </a:r>
          </a:p>
        </p:txBody>
      </p:sp>
    </p:spTree>
    <p:extLst>
      <p:ext uri="{BB962C8B-B14F-4D97-AF65-F5344CB8AC3E}">
        <p14:creationId xmlns:p14="http://schemas.microsoft.com/office/powerpoint/2010/main" val="670304868"/>
      </p:ext>
    </p:extLst>
  </p:cSld>
</p:sld>
</file>

<file path=ppt/slides/slide48.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FD5C2D8C-21D6-4707-8FAA-B0542EC77135}"/>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7DB5612A-C039-498B-85B8-09EE800E7FC7}"/>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03</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240693C7-BE4D-4D75-94EB-D563F296B8DF}"/>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439467A-E017-41DC-A833-770DEE2765AB}"/>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5B0196A7-6A0B-4B3E-BA07-17DBBEC67AB7}"/>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398171ee461e489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f8eb341dab6f4b08">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FDFDD261-2375-43FA-968D-AFD80CC8CDE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8D3D6140-90B1-4865-B259-F260B95C63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0623DF5D-28F6-48F6-862E-7472AE79CF6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48</a:t>
            </a:r>
          </a:p>
        </p:txBody>
      </p:sp>
      <p:sp>
        <p:nvSpPr>
          <p:cNvPr id="144" name="section-title">
            <a:extLst xmlns:a="http://schemas.openxmlformats.org/drawingml/2006/main">
              <a:ext uri="{FF2B5EF4-FFF2-40B4-BE49-F238E27FC236}">
                <a16:creationId xmlns:a16="http://schemas.microsoft.com/office/drawing/2014/main" id="{0B96C05D-5B15-42D1-BE4C-84EBE97B5B73}"/>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Adapter un modèle à une tâche</a:t>
            </a:r>
          </a:p>
        </p:txBody>
      </p:sp>
      <p:sp>
        <p:nvSpPr>
          <p:cNvPr id="145" name="day-goal">
            <a:extLst xmlns:a="http://schemas.openxmlformats.org/drawingml/2006/main">
              <a:ext uri="{FF2B5EF4-FFF2-40B4-BE49-F238E27FC236}">
                <a16:creationId xmlns:a16="http://schemas.microsoft.com/office/drawing/2014/main" id="{4B9ECA04-0AD0-4557-ABA0-B5AB29EC2156}"/>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Classification de messages et reconnaissance d'entités nommées.</a:t>
            </a:r>
          </a:p>
        </p:txBody>
      </p:sp>
      <p:sp>
        <p:nvSpPr>
          <p:cNvPr id="146" name="day-agenda">
            <a:extLst xmlns:a="http://schemas.openxmlformats.org/drawingml/2006/main">
              <a:ext uri="{FF2B5EF4-FFF2-40B4-BE49-F238E27FC236}">
                <a16:creationId xmlns:a16="http://schemas.microsoft.com/office/drawing/2014/main" id="{1AF3FC21-5945-4DB5-9682-AB4DDF192416}"/>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loss, batchs, Trainer, labels et métriques.</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140 min de classification et 100 min de NER.</a:t>
            </a:r>
          </a:p>
        </p:txBody>
      </p:sp>
    </p:spTree>
    <p:extLst>
      <p:ext uri="{BB962C8B-B14F-4D97-AF65-F5344CB8AC3E}">
        <p14:creationId xmlns:p14="http://schemas.microsoft.com/office/powerpoint/2010/main" val="614088245"/>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20999cc98413405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df406752d1504c5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3C4A5D0-8BF4-489E-AEFB-EE1979020BE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49</a:t>
            </a:r>
          </a:p>
        </p:txBody>
      </p:sp>
      <p:sp>
        <p:nvSpPr>
          <p:cNvPr id="159" name="course-title">
            <a:extLst xmlns:a="http://schemas.openxmlformats.org/drawingml/2006/main">
              <a:ext uri="{FF2B5EF4-FFF2-40B4-BE49-F238E27FC236}">
                <a16:creationId xmlns:a16="http://schemas.microsoft.com/office/drawing/2014/main" id="{DB090AEC-6773-4757-8B46-0E8C69894F8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encodeur et une tête répondent à notre question</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c17574df8284846"/>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42C4C896-5716-48AE-8B20-B931CB9FBDF5}"/>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Une tête globale prédit une classe ; une tête NER prédit des labels par token.</a:t>
            </a:r>
          </a:p>
        </p:txBody>
      </p:sp>
    </p:spTree>
    <p:extLst>
      <p:ext uri="{BB962C8B-B14F-4D97-AF65-F5344CB8AC3E}">
        <p14:creationId xmlns:p14="http://schemas.microsoft.com/office/powerpoint/2010/main" val="670304868"/>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402d9037816b49c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76a4e4ce82b14a3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02B7061-A817-4BC8-83D9-8536C695EEF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50</a:t>
            </a:r>
          </a:p>
        </p:txBody>
      </p:sp>
      <p:sp>
        <p:nvSpPr>
          <p:cNvPr id="159" name="course-title">
            <a:extLst xmlns:a="http://schemas.openxmlformats.org/drawingml/2006/main">
              <a:ext uri="{FF2B5EF4-FFF2-40B4-BE49-F238E27FC236}">
                <a16:creationId xmlns:a16="http://schemas.microsoft.com/office/drawing/2014/main" id="{AF5BD37D-4A7F-40A6-8852-5AFDD3C8223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La loss pénalise la probabilité donnée à la bonne réponse</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22df74a78bb04b7f"/>
          <a:stretch xmlns:a="http://schemas.openxmlformats.org/drawingml/2006/main"/>
        </p:blipFill>
        <p:spPr>
          <a:xfrm xmlns:a="http://schemas.openxmlformats.org/drawingml/2006/main">
            <a:off x="4857750" y="2124075"/>
            <a:ext cx="2466975" cy="5905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C898E4EC-08C6-4407-A11E-8FD70625BD81}"/>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Plus la bonne classe reçoit de probabilité, plus sa pénalité diminue.</a:t>
            </a:r>
          </a:p>
        </p:txBody>
      </p:sp>
      <p:sp>
        <p:nvSpPr>
          <p:cNvPr id="162" name="formula-symbol-0">
            <a:extLst xmlns:a="http://schemas.openxmlformats.org/drawingml/2006/main">
              <a:ext uri="{FF2B5EF4-FFF2-40B4-BE49-F238E27FC236}">
                <a16:creationId xmlns:a16="http://schemas.microsoft.com/office/drawing/2014/main" id="{23B76571-720E-4BD5-BD91-0143F88CB7DE}"/>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y : indice de la vraie classe</a:t>
            </a:r>
          </a:p>
        </p:txBody>
      </p:sp>
      <p:sp>
        <p:nvSpPr>
          <p:cNvPr id="163" name="formula-symbol-1">
            <a:extLst xmlns:a="http://schemas.openxmlformats.org/drawingml/2006/main">
              <a:ext uri="{FF2B5EF4-FFF2-40B4-BE49-F238E27FC236}">
                <a16:creationId xmlns:a16="http://schemas.microsoft.com/office/drawing/2014/main" id="{D69B052E-407A-4342-AD4A-01E227017383}"/>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pᵧ : probabilité donnée à cette classe</a:t>
            </a:r>
          </a:p>
        </p:txBody>
      </p:sp>
      <p:sp>
        <p:nvSpPr>
          <p:cNvPr id="164" name="formula-symbol-2">
            <a:extLst xmlns:a="http://schemas.openxmlformats.org/drawingml/2006/main">
              <a:ext uri="{FF2B5EF4-FFF2-40B4-BE49-F238E27FC236}">
                <a16:creationId xmlns:a16="http://schemas.microsoft.com/office/drawing/2014/main" id="{B487397B-6FE7-4C68-A94C-B91B2CDB4C38}"/>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ln : logarithme naturel, base e</a:t>
            </a:r>
          </a:p>
        </p:txBody>
      </p:sp>
      <p:sp>
        <p:nvSpPr>
          <p:cNvPr id="165" name="formula-symbol-3">
            <a:extLst xmlns:a="http://schemas.openxmlformats.org/drawingml/2006/main">
              <a:ext uri="{FF2B5EF4-FFF2-40B4-BE49-F238E27FC236}">
                <a16:creationId xmlns:a16="http://schemas.microsoft.com/office/drawing/2014/main" id="{FF3B2279-6DC0-445D-AF41-458E8D40F0A0}"/>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L : loss scalaire, exprimée en nats</a:t>
            </a:r>
          </a:p>
        </p:txBody>
      </p:sp>
      <p:sp>
        <p:nvSpPr>
          <p:cNvPr id="166" name="formula-example">
            <a:extLst xmlns:a="http://schemas.openxmlformats.org/drawingml/2006/main">
              <a:ext uri="{FF2B5EF4-FFF2-40B4-BE49-F238E27FC236}">
                <a16:creationId xmlns:a16="http://schemas.microsoft.com/office/drawing/2014/main" id="{1D89A098-5FCA-479A-880F-7C34DA585D12}"/>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pᵧ = 0,8 → L ≈ 0,223 ; pᵧ = 0,2 → L ≈ 1,609 : moins croire la vraie classe coûte davantage.</a:t>
            </a:r>
          </a:p>
        </p:txBody>
      </p:sp>
    </p:spTree>
    <p:extLst>
      <p:ext uri="{BB962C8B-B14F-4D97-AF65-F5344CB8AC3E}">
        <p14:creationId xmlns:p14="http://schemas.microsoft.com/office/powerpoint/2010/main" val="670304868"/>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6fd03ad76814fd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102a07704024b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F2CAA97-2D2D-4B65-B16E-E6355B12799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51</a:t>
            </a:r>
          </a:p>
        </p:txBody>
      </p:sp>
      <p:sp>
        <p:nvSpPr>
          <p:cNvPr id="159" name="course-title">
            <a:extLst xmlns:a="http://schemas.openxmlformats.org/drawingml/2006/main">
              <a:ext uri="{FF2B5EF4-FFF2-40B4-BE49-F238E27FC236}">
                <a16:creationId xmlns:a16="http://schemas.microsoft.com/office/drawing/2014/main" id="{5EC9001D-87EC-46D9-BA0E-C1228F40DF0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étape d'apprentissage en cinq actions</a:t>
            </a:r>
          </a:p>
        </p:txBody>
      </p:sp>
      <p:sp>
        <p:nvSpPr>
          <p:cNvPr id="160" name="body-1">
            <a:extLst xmlns:a="http://schemas.openxmlformats.org/drawingml/2006/main">
              <a:ext uri="{FF2B5EF4-FFF2-40B4-BE49-F238E27FC236}">
                <a16:creationId xmlns:a16="http://schemas.microsoft.com/office/drawing/2014/main" id="{E7CE1A56-209C-4B02-B067-1DC2DC2F262E}"/>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Préparer un batch et calculer les prédictions.</a:t>
            </a:r>
          </a:p>
        </p:txBody>
      </p:sp>
      <p:sp>
        <p:nvSpPr>
          <p:cNvPr id="161" name="body-2">
            <a:extLst xmlns:a="http://schemas.openxmlformats.org/drawingml/2006/main">
              <a:ext uri="{FF2B5EF4-FFF2-40B4-BE49-F238E27FC236}">
                <a16:creationId xmlns:a16="http://schemas.microsoft.com/office/drawing/2014/main" id="{40F6136C-3D71-462D-8C7B-789ED4841EE9}"/>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2. Comparer aux cibles pour obtenir la loss.</a:t>
            </a:r>
          </a:p>
        </p:txBody>
      </p:sp>
      <p:sp>
        <p:nvSpPr>
          <p:cNvPr id="162" name="body-3">
            <a:extLst xmlns:a="http://schemas.openxmlformats.org/drawingml/2006/main">
              <a:ext uri="{FF2B5EF4-FFF2-40B4-BE49-F238E27FC236}">
                <a16:creationId xmlns:a16="http://schemas.microsoft.com/office/drawing/2014/main" id="{47A365DA-5F46-43B7-8985-5ED4D3677E47}"/>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3. Propager les gradients ; mettre à jour les paramètres.</a:t>
            </a:r>
          </a:p>
        </p:txBody>
      </p:sp>
      <p:sp>
        <p:nvSpPr>
          <p:cNvPr id="163" name="body-4">
            <a:extLst xmlns:a="http://schemas.openxmlformats.org/drawingml/2006/main">
              <a:ext uri="{FF2B5EF4-FFF2-40B4-BE49-F238E27FC236}">
                <a16:creationId xmlns:a16="http://schemas.microsoft.com/office/drawing/2014/main" id="{DA2859C3-5004-4522-84C1-8B54E7D6F291}"/>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4. Remettre les gradients à zéro ; 5. évaluer selon le protocole.</a:t>
            </a:r>
          </a:p>
        </p:txBody>
      </p:sp>
    </p:spTree>
    <p:extLst>
      <p:ext uri="{BB962C8B-B14F-4D97-AF65-F5344CB8AC3E}">
        <p14:creationId xmlns:p14="http://schemas.microsoft.com/office/powerpoint/2010/main" val="67030486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5ff0c5a900a472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dd1a4315737c460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95C69EF-D966-43BB-8BE9-2700817EF1F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52</a:t>
            </a:r>
          </a:p>
        </p:txBody>
      </p:sp>
      <p:sp>
        <p:nvSpPr>
          <p:cNvPr id="159" name="course-title">
            <a:extLst xmlns:a="http://schemas.openxmlformats.org/drawingml/2006/main">
              <a:ext uri="{FF2B5EF4-FFF2-40B4-BE49-F238E27FC236}">
                <a16:creationId xmlns:a16="http://schemas.microsoft.com/office/drawing/2014/main" id="{A74925D6-07DF-44E4-9841-2B4293AB667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Padding dynamique : payer pour le batch réel</a:t>
            </a:r>
          </a:p>
        </p:txBody>
      </p:sp>
      <p:graphicFrame>
        <p:nvGraphicFramePr>
          <p:cNvPr id="174" name=""/>
          <p:cNvGraphicFramePr/>
          <p:nvPr/>
        </p:nvGraphicFramePr>
        <p:xfrm>
          <a:off xmlns:a="http://schemas.openxmlformats.org/drawingml/2006/main" x="781050" y="1952625"/>
          <a:ext xmlns:a="http://schemas.openxmlformats.org/drawingml/2006/main" cx="10620375" cy="145732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Longueurs</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Padding fixe à 128</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Padding au max du batch</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12, 20, 25</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384 positions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75 positions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12, 20, 120</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384 positions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360 positions</a:t>
                      </a:r>
                    </a:p>
                  </a:txBody>
                  <a:tcPr marL="114300" marR="114300" marT="85725" marB="85725" anchor="ctr">
                    <a:solidFill>
                      <a:srgbClr val="FFFFFF"/>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DC0EC17C-DC31-4409-BA94-F6C45DB1E8A8}"/>
              </a:ext>
            </a:extLst>
          </p:cNvPr>
          <p:cNvSpPr>
            <a:spLocks xmlns:a="http://schemas.openxmlformats.org/drawingml/2006/main" noGrp="1"/>
          </p:cNvSpPr>
          <p:nvPr/>
        </p:nvSpPr>
        <p:spPr>
          <a:xfrm xmlns:a="http://schemas.openxmlformats.org/drawingml/2006/main">
            <a:off x="781050" y="3552825"/>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Le collator construit le batch rectangulaire.</a:t>
            </a:r>
          </a:p>
        </p:txBody>
      </p:sp>
    </p:spTree>
    <p:extLst>
      <p:ext uri="{BB962C8B-B14F-4D97-AF65-F5344CB8AC3E}">
        <p14:creationId xmlns:p14="http://schemas.microsoft.com/office/powerpoint/2010/main" val="670304868"/>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f7e717fe58c040a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601a8c22bf364f5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03EF0BF-17C5-4FDD-A172-932A8EDC714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53</a:t>
            </a:r>
          </a:p>
        </p:txBody>
      </p:sp>
      <p:sp>
        <p:nvSpPr>
          <p:cNvPr id="159" name="course-title">
            <a:extLst xmlns:a="http://schemas.openxmlformats.org/drawingml/2006/main">
              <a:ext uri="{FF2B5EF4-FFF2-40B4-BE49-F238E27FC236}">
                <a16:creationId xmlns:a16="http://schemas.microsoft.com/office/drawing/2014/main" id="{8571F114-B7AA-46F3-81E9-237A89DB4F0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Batch, pas et époque : ne pas mélanger les compteurs</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f71fadaab39b4f7e"/>
          <a:stretch xmlns:a="http://schemas.openxmlformats.org/drawingml/2006/main"/>
        </p:blipFill>
        <p:spPr>
          <a:xfrm xmlns:a="http://schemas.openxmlformats.org/drawingml/2006/main">
            <a:off x="4052888" y="2157413"/>
            <a:ext cx="4076700" cy="523875"/>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8F2826E6-EB41-4C88-8BE3-5CC5F38B9D8A}"/>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Accumuler plusieurs petits lots augmente le lot d’une mise à jour.</a:t>
            </a:r>
          </a:p>
        </p:txBody>
      </p:sp>
      <p:sp>
        <p:nvSpPr>
          <p:cNvPr id="162" name="formula-symbol-0">
            <a:extLst xmlns:a="http://schemas.openxmlformats.org/drawingml/2006/main">
              <a:ext uri="{FF2B5EF4-FFF2-40B4-BE49-F238E27FC236}">
                <a16:creationId xmlns:a16="http://schemas.microsoft.com/office/drawing/2014/main" id="{D463C117-AD0C-4ABB-A0C4-AC0F85387465}"/>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B_GPU : exemples par micro-batch et par GPU</a:t>
            </a:r>
          </a:p>
        </p:txBody>
      </p:sp>
      <p:sp>
        <p:nvSpPr>
          <p:cNvPr id="163" name="formula-symbol-1">
            <a:extLst xmlns:a="http://schemas.openxmlformats.org/drawingml/2006/main">
              <a:ext uri="{FF2B5EF4-FFF2-40B4-BE49-F238E27FC236}">
                <a16:creationId xmlns:a16="http://schemas.microsoft.com/office/drawing/2014/main" id="{C7CBC881-5B3B-43F7-A873-E412AE27E051}"/>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 : nombre de micro-batchs accumulés</a:t>
            </a:r>
          </a:p>
        </p:txBody>
      </p:sp>
      <p:sp>
        <p:nvSpPr>
          <p:cNvPr id="164" name="formula-symbol-2">
            <a:extLst xmlns:a="http://schemas.openxmlformats.org/drawingml/2006/main">
              <a:ext uri="{FF2B5EF4-FFF2-40B4-BE49-F238E27FC236}">
                <a16:creationId xmlns:a16="http://schemas.microsoft.com/office/drawing/2014/main" id="{57F1DE84-7016-4E39-8DAD-5A12B511A760}"/>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G : nombre de GPU en parallèle de données</a:t>
            </a:r>
          </a:p>
        </p:txBody>
      </p:sp>
      <p:sp>
        <p:nvSpPr>
          <p:cNvPr id="165" name="formula-symbol-3">
            <a:extLst xmlns:a="http://schemas.openxmlformats.org/drawingml/2006/main">
              <a:ext uri="{FF2B5EF4-FFF2-40B4-BE49-F238E27FC236}">
                <a16:creationId xmlns:a16="http://schemas.microsoft.com/office/drawing/2014/main" id="{D23EA4F9-058E-4680-A320-E10EAA7B3D68}"/>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B_eff : exemples par mise à jour complète</a:t>
            </a:r>
          </a:p>
        </p:txBody>
      </p:sp>
      <p:sp>
        <p:nvSpPr>
          <p:cNvPr id="166" name="formula-example">
            <a:extLst xmlns:a="http://schemas.openxmlformats.org/drawingml/2006/main">
              <a:ext uri="{FF2B5EF4-FFF2-40B4-BE49-F238E27FC236}">
                <a16:creationId xmlns:a16="http://schemas.microsoft.com/office/drawing/2014/main" id="{B81E4ED5-F5DC-4626-8B86-B30539294249}"/>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8 exemples/GPU × 4 micro-batchs accumulés × 1 GPU = 32 exemples par mise à jour complète.</a:t>
            </a:r>
          </a:p>
        </p:txBody>
      </p:sp>
    </p:spTree>
    <p:extLst>
      <p:ext uri="{BB962C8B-B14F-4D97-AF65-F5344CB8AC3E}">
        <p14:creationId xmlns:p14="http://schemas.microsoft.com/office/powerpoint/2010/main" val="670304868"/>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23e2e42bcad484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11a67daa778494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E92CD82-6322-451B-83FC-F0F1A4F95F3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54</a:t>
            </a:r>
          </a:p>
        </p:txBody>
      </p:sp>
      <p:sp>
        <p:nvSpPr>
          <p:cNvPr id="159" name="course-title">
            <a:extLst xmlns:a="http://schemas.openxmlformats.org/drawingml/2006/main">
              <a:ext uri="{FF2B5EF4-FFF2-40B4-BE49-F238E27FC236}">
                <a16:creationId xmlns:a16="http://schemas.microsoft.com/office/drawing/2014/main" id="{5ED478DF-C44E-4922-926F-AE3A498C0C4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Choisir le modèle sur validation, conclure sur test</a:t>
            </a:r>
          </a:p>
        </p:txBody>
      </p:sp>
      <p:sp>
        <p:nvSpPr>
          <p:cNvPr id="160" name="body-1">
            <a:extLst xmlns:a="http://schemas.openxmlformats.org/drawingml/2006/main">
              <a:ext uri="{FF2B5EF4-FFF2-40B4-BE49-F238E27FC236}">
                <a16:creationId xmlns:a16="http://schemas.microsoft.com/office/drawing/2014/main" id="{F7A7D02D-D762-4AF6-8661-E46299012BE5}"/>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à l'avance la métrique de sélection.</a:t>
            </a:r>
          </a:p>
        </p:txBody>
      </p:sp>
      <p:sp>
        <p:nvSpPr>
          <p:cNvPr id="161" name="body-2">
            <a:extLst xmlns:a="http://schemas.openxmlformats.org/drawingml/2006/main">
              <a:ext uri="{FF2B5EF4-FFF2-40B4-BE49-F238E27FC236}">
                <a16:creationId xmlns:a16="http://schemas.microsoft.com/office/drawing/2014/main" id="{2A92455F-6546-4325-B51A-C86592F31F28}"/>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checkpoints sur le même jeu de validation.</a:t>
            </a:r>
          </a:p>
        </p:txBody>
      </p:sp>
      <p:sp>
        <p:nvSpPr>
          <p:cNvPr id="162" name="body-3">
            <a:extLst xmlns:a="http://schemas.openxmlformats.org/drawingml/2006/main">
              <a:ext uri="{FF2B5EF4-FFF2-40B4-BE49-F238E27FC236}">
                <a16:creationId xmlns:a16="http://schemas.microsoft.com/office/drawing/2014/main" id="{3FECC5F7-9A38-4A70-B1F7-5E63BB82C07B}"/>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 test hors des choix de réglages.</a:t>
            </a:r>
          </a:p>
        </p:txBody>
      </p:sp>
      <p:sp>
        <p:nvSpPr>
          <p:cNvPr id="163" name="body-4">
            <a:extLst xmlns:a="http://schemas.openxmlformats.org/drawingml/2006/main">
              <a:ext uri="{FF2B5EF4-FFF2-40B4-BE49-F238E27FC236}">
                <a16:creationId xmlns:a16="http://schemas.microsoft.com/office/drawing/2014/main" id="{6578BA08-AD36-4E72-8332-F1674459066B}"/>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Documenter taille des jeux, graine et règle de sélection.</a:t>
            </a:r>
          </a:p>
        </p:txBody>
      </p:sp>
    </p:spTree>
    <p:extLst>
      <p:ext uri="{BB962C8B-B14F-4D97-AF65-F5344CB8AC3E}">
        <p14:creationId xmlns:p14="http://schemas.microsoft.com/office/powerpoint/2010/main" val="670304868"/>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16d0f06e8b9d43e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6fbed232524848a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68D12A6-ADB7-4954-8B5A-415A8A16A16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55</a:t>
            </a:r>
          </a:p>
        </p:txBody>
      </p:sp>
      <p:sp>
        <p:nvSpPr>
          <p:cNvPr id="159" name="course-title">
            <a:extLst xmlns:a="http://schemas.openxmlformats.org/drawingml/2006/main">
              <a:ext uri="{FF2B5EF4-FFF2-40B4-BE49-F238E27FC236}">
                <a16:creationId xmlns:a16="http://schemas.microsoft.com/office/drawing/2014/main" id="{B8FDF65D-7391-4B36-B160-D8B48AB2F09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Macro-F1 : donner une voix à chaque classe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42576420db1d4cb4"/>
          <a:stretch xmlns:a="http://schemas.openxmlformats.org/drawingml/2006/main"/>
        </p:blipFill>
        <p:spPr>
          <a:xfrm xmlns:a="http://schemas.openxmlformats.org/drawingml/2006/main">
            <a:off x="3457575" y="1895475"/>
            <a:ext cx="5267325"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C601F27F-9CAF-4EC0-9433-09C0689F8344}"/>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Calculer un F1 par classe, puis leur donner le même poids.</a:t>
            </a:r>
          </a:p>
        </p:txBody>
      </p:sp>
      <p:sp>
        <p:nvSpPr>
          <p:cNvPr id="162" name="formula-symbol-0">
            <a:extLst xmlns:a="http://schemas.openxmlformats.org/drawingml/2006/main">
              <a:ext uri="{FF2B5EF4-FFF2-40B4-BE49-F238E27FC236}">
                <a16:creationId xmlns:a16="http://schemas.microsoft.com/office/drawing/2014/main" id="{F73FEF73-D512-41C0-B684-C17B3E118EAA}"/>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P : précision ; R : rappel d’une classe</a:t>
            </a:r>
          </a:p>
        </p:txBody>
      </p:sp>
      <p:sp>
        <p:nvSpPr>
          <p:cNvPr id="163" name="formula-symbol-1">
            <a:extLst xmlns:a="http://schemas.openxmlformats.org/drawingml/2006/main">
              <a:ext uri="{FF2B5EF4-FFF2-40B4-BE49-F238E27FC236}">
                <a16:creationId xmlns:a16="http://schemas.microsoft.com/office/drawing/2014/main" id="{FD6F78E7-00F7-4BB4-AD43-415ADA425114}"/>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 : moyenne harmonique de P et R</a:t>
            </a:r>
          </a:p>
        </p:txBody>
      </p:sp>
      <p:sp>
        <p:nvSpPr>
          <p:cNvPr id="164" name="formula-symbol-2">
            <a:extLst xmlns:a="http://schemas.openxmlformats.org/drawingml/2006/main">
              <a:ext uri="{FF2B5EF4-FFF2-40B4-BE49-F238E27FC236}">
                <a16:creationId xmlns:a16="http://schemas.microsoft.com/office/drawing/2014/main" id="{BCD35656-2B50-48CD-BC7E-EA86284A4CF5}"/>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C : nombre de classes ; c : indice</a:t>
            </a:r>
          </a:p>
        </p:txBody>
      </p:sp>
      <p:sp>
        <p:nvSpPr>
          <p:cNvPr id="165" name="formula-symbol-3">
            <a:extLst xmlns:a="http://schemas.openxmlformats.org/drawingml/2006/main">
              <a:ext uri="{FF2B5EF4-FFF2-40B4-BE49-F238E27FC236}">
                <a16:creationId xmlns:a16="http://schemas.microsoft.com/office/drawing/2014/main" id="{9440444F-847C-46D7-A1BE-4F59EE47E1B6}"/>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F₁,c : F1 calculé pour la classe c</a:t>
            </a:r>
          </a:p>
        </p:txBody>
      </p:sp>
      <p:sp>
        <p:nvSpPr>
          <p:cNvPr id="166" name="formula-symbol-4">
            <a:extLst xmlns:a="http://schemas.openxmlformats.org/drawingml/2006/main">
              <a:ext uri="{FF2B5EF4-FFF2-40B4-BE49-F238E27FC236}">
                <a16:creationId xmlns:a16="http://schemas.microsoft.com/office/drawing/2014/main" id="{92D3E9F5-2329-45DE-A171-42487D124A84}"/>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F₁,macro : moyenne des C scores par classe</a:t>
            </a:r>
          </a:p>
        </p:txBody>
      </p:sp>
      <p:sp>
        <p:nvSpPr>
          <p:cNvPr id="167" name="formula-example">
            <a:extLst xmlns:a="http://schemas.openxmlformats.org/drawingml/2006/main">
              <a:ext uri="{FF2B5EF4-FFF2-40B4-BE49-F238E27FC236}">
                <a16:creationId xmlns:a16="http://schemas.microsoft.com/office/drawing/2014/main" id="{CDA20F32-3F31-4B0C-B28D-3A93AF22EB0D}"/>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TP = 4, FP = 1, FN = 4 → P = 0,8 ; R = 0,5 ; F₁ ≈ 0,615. Deux F₁ de 0,9 et 0,3 donnent macro = 0,6.</a:t>
            </a:r>
          </a:p>
        </p:txBody>
      </p:sp>
    </p:spTree>
    <p:extLst>
      <p:ext uri="{BB962C8B-B14F-4D97-AF65-F5344CB8AC3E}">
        <p14:creationId xmlns:p14="http://schemas.microsoft.com/office/powerpoint/2010/main" val="670304868"/>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bc068cb29cf48a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0babdded2c645e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71ABC0B-5C5F-44C0-AC4F-95ABF7FA390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56</a:t>
            </a:r>
          </a:p>
        </p:txBody>
      </p:sp>
      <p:sp>
        <p:nvSpPr>
          <p:cNvPr id="159" name="course-title">
            <a:extLst xmlns:a="http://schemas.openxmlformats.org/drawingml/2006/main">
              <a:ext uri="{FF2B5EF4-FFF2-40B4-BE49-F238E27FC236}">
                <a16:creationId xmlns:a16="http://schemas.microsoft.com/office/drawing/2014/main" id="{2342E1F0-99E4-406D-BC39-E39011B8374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Diagnostiquer avant de multiplier les époques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Observation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Hypothèse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Vérification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Train progresse, val régresse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Surapprentissage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Courbes + erreurs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Tout prédit une classe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Labels ou déséquilibre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Distribution + mapping</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Loss non finie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Instabilité numérique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Entrées + dtype + réglages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Score presque parfait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Jeu facile ou fuite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Groupes + doublons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1f496dfa5a56491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846e02c8f5bc4b2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95F8280-E438-47F5-B5F8-7E83E7DE988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57</a:t>
            </a:r>
          </a:p>
        </p:txBody>
      </p:sp>
      <p:sp>
        <p:nvSpPr>
          <p:cNvPr id="159" name="course-title">
            <a:extLst xmlns:a="http://schemas.openxmlformats.org/drawingml/2006/main">
              <a:ext uri="{FF2B5EF4-FFF2-40B4-BE49-F238E27FC236}">
                <a16:creationId xmlns:a16="http://schemas.microsoft.com/office/drawing/2014/main" id="{6245DF27-F1A4-45EA-8B93-6D9386D03AF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NER : retrouver des segments et leur type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Mot</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Étiquette BIO</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Signification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Marie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Début d'une personne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Dupont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I-PER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Suite de la personne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habite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O</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Hors entité</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à</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Hors entité</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Lyon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B-LOC</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Début d'un lieu</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670304868"/>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77492e00c2c482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bb6554070b34d4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1E88982-87EC-41A6-957C-14EEE1BCAF6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58</a:t>
            </a:r>
          </a:p>
        </p:txBody>
      </p:sp>
      <p:sp>
        <p:nvSpPr>
          <p:cNvPr id="159" name="course-title">
            <a:extLst xmlns:a="http://schemas.openxmlformats.org/drawingml/2006/main">
              <a:ext uri="{FF2B5EF4-FFF2-40B4-BE49-F238E27FC236}">
                <a16:creationId xmlns:a16="http://schemas.microsoft.com/office/drawing/2014/main" id="{2D89E28F-1190-4A0A-A99F-46FE81C6867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mot annoté peut devenir plusieurs sous-tokens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531aaecfd1734d6b"/>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386A7132-C094-416D-9F96-BB57A6AE9BF7}"/>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Convention du TP : superviser le premier sous-token ; −100 ignore les autres dans la loss.</a:t>
            </a:r>
          </a:p>
        </p:txBody>
      </p:sp>
    </p:spTree>
    <p:extLst>
      <p:ext uri="{BB962C8B-B14F-4D97-AF65-F5344CB8AC3E}">
        <p14:creationId xmlns:p14="http://schemas.microsoft.com/office/powerpoint/2010/main" val="670304868"/>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36dc58cd6af477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5b4c9496585464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F88DF40-3697-479F-9137-DBD42B1A31C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59</a:t>
            </a:r>
          </a:p>
        </p:txBody>
      </p:sp>
      <p:sp>
        <p:nvSpPr>
          <p:cNvPr id="159" name="course-title">
            <a:extLst xmlns:a="http://schemas.openxmlformats.org/drawingml/2006/main">
              <a:ext uri="{FF2B5EF4-FFF2-40B4-BE49-F238E27FC236}">
                <a16:creationId xmlns:a16="http://schemas.microsoft.com/office/drawing/2014/main" id="{D92B1E4D-7E03-4BEE-8BF3-14C4C527BE1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Deux masques, deux questions différentes</a:t>
            </a:r>
          </a:p>
        </p:txBody>
      </p:sp>
      <p:sp>
        <p:nvSpPr>
          <p:cNvPr id="160" name="body-1">
            <a:extLst xmlns:a="http://schemas.openxmlformats.org/drawingml/2006/main">
              <a:ext uri="{FF2B5EF4-FFF2-40B4-BE49-F238E27FC236}">
                <a16:creationId xmlns:a16="http://schemas.microsoft.com/office/drawing/2014/main" id="{EC3847B5-3442-409D-BC31-135131965702}"/>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attention_mask = 0 : cette place correspond au padding de l'entrée.</a:t>
            </a:r>
          </a:p>
        </p:txBody>
      </p:sp>
      <p:sp>
        <p:nvSpPr>
          <p:cNvPr id="161" name="body-2">
            <a:extLst xmlns:a="http://schemas.openxmlformats.org/drawingml/2006/main">
              <a:ext uri="{FF2B5EF4-FFF2-40B4-BE49-F238E27FC236}">
                <a16:creationId xmlns:a16="http://schemas.microsoft.com/office/drawing/2014/main" id="{9E54E7F7-D2F1-4541-85F7-0FBDC465A53C}"/>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labels = −100 : cette position ne contribue pas à la loss.</a:t>
            </a:r>
          </a:p>
        </p:txBody>
      </p:sp>
      <p:sp>
        <p:nvSpPr>
          <p:cNvPr id="162" name="body-3">
            <a:extLst xmlns:a="http://schemas.openxmlformats.org/drawingml/2006/main">
              <a:ext uri="{FF2B5EF4-FFF2-40B4-BE49-F238E27FC236}">
                <a16:creationId xmlns:a16="http://schemas.microsoft.com/office/drawing/2014/main" id="{DD5BA0F8-827B-4F76-A6AC-0D7C90408429}"/>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sous-token ignoré dans la loss peut rester visible dans le contexte.</a:t>
            </a:r>
          </a:p>
        </p:txBody>
      </p:sp>
      <p:sp>
        <p:nvSpPr>
          <p:cNvPr id="163" name="body-4">
            <a:extLst xmlns:a="http://schemas.openxmlformats.org/drawingml/2006/main">
              <a:ext uri="{FF2B5EF4-FFF2-40B4-BE49-F238E27FC236}">
                <a16:creationId xmlns:a16="http://schemas.microsoft.com/office/drawing/2014/main" id="{D1B88955-8E85-4B5F-95D6-1183EFCB450C}"/>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collator doit aussi compléter les labels avec la valeur ignorée.</a:t>
            </a:r>
          </a:p>
        </p:txBody>
      </p:sp>
    </p:spTree>
    <p:extLst>
      <p:ext uri="{BB962C8B-B14F-4D97-AF65-F5344CB8AC3E}">
        <p14:creationId xmlns:p14="http://schemas.microsoft.com/office/powerpoint/2010/main" val="670304868"/>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20f0e044db09463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550b87431d74ee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32FD5D5-37B7-413E-A35C-457E1C4EC98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60</a:t>
            </a:r>
          </a:p>
        </p:txBody>
      </p:sp>
      <p:sp>
        <p:nvSpPr>
          <p:cNvPr id="159" name="course-title">
            <a:extLst xmlns:a="http://schemas.openxmlformats.org/drawingml/2006/main">
              <a:ext uri="{FF2B5EF4-FFF2-40B4-BE49-F238E27FC236}">
                <a16:creationId xmlns:a16="http://schemas.microsoft.com/office/drawing/2014/main" id="{153F954D-8164-422B-96D9-F349F366BB8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Des logits aux entités : ne pas perdre l'alignement</a:t>
            </a:r>
          </a:p>
        </p:txBody>
      </p:sp>
      <p:sp>
        <p:nvSpPr>
          <p:cNvPr id="160" name="concrete-example">
            <a:extLst xmlns:a="http://schemas.openxmlformats.org/drawingml/2006/main">
              <a:ext uri="{FF2B5EF4-FFF2-40B4-BE49-F238E27FC236}">
                <a16:creationId xmlns:a16="http://schemas.microsoft.com/office/drawing/2014/main" id="{2E242C8D-CD05-457E-B216-49FCA2603A3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Batch × longueur × nombre de labels → labels → segments.</a:t>
            </a:r>
          </a:p>
        </p:txBody>
      </p:sp>
      <p:sp>
        <p:nvSpPr>
          <p:cNvPr id="161" name="body-1">
            <a:extLst xmlns:a="http://schemas.openxmlformats.org/drawingml/2006/main">
              <a:ext uri="{FF2B5EF4-FFF2-40B4-BE49-F238E27FC236}">
                <a16:creationId xmlns:a16="http://schemas.microsoft.com/office/drawing/2014/main" id="{010DBA17-9CD2-49E5-8053-F8F6A2673964}"/>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Prendre une classe par position selon le décodage retenu.</a:t>
            </a:r>
          </a:p>
        </p:txBody>
      </p:sp>
      <p:sp>
        <p:nvSpPr>
          <p:cNvPr id="162" name="body-2">
            <a:extLst xmlns:a="http://schemas.openxmlformats.org/drawingml/2006/main">
              <a:ext uri="{FF2B5EF4-FFF2-40B4-BE49-F238E27FC236}">
                <a16:creationId xmlns:a16="http://schemas.microsoft.com/office/drawing/2014/main" id="{294BB7AB-1EF5-4A7D-AF36-0350541A75AF}"/>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Retirer les positions ignorées avec le même masque que les cibles.</a:t>
            </a:r>
          </a:p>
        </p:txBody>
      </p:sp>
      <p:sp>
        <p:nvSpPr>
          <p:cNvPr id="163" name="body-3">
            <a:extLst xmlns:a="http://schemas.openxmlformats.org/drawingml/2006/main">
              <a:ext uri="{FF2B5EF4-FFF2-40B4-BE49-F238E27FC236}">
                <a16:creationId xmlns:a16="http://schemas.microsoft.com/office/drawing/2014/main" id="{F2DB4DD3-D700-4C13-B0DC-1B19250941B3}"/>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Reconstruire les séquences de labels dans l'ordre des mots.</a:t>
            </a:r>
          </a:p>
        </p:txBody>
      </p:sp>
      <p:sp>
        <p:nvSpPr>
          <p:cNvPr id="164" name="body-4">
            <a:extLst xmlns:a="http://schemas.openxmlformats.org/drawingml/2006/main">
              <a:ext uri="{FF2B5EF4-FFF2-40B4-BE49-F238E27FC236}">
                <a16:creationId xmlns:a16="http://schemas.microsoft.com/office/drawing/2014/main" id="{AEE093EC-DC37-46C4-B118-DCC4013333A2}"/>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un exemple complet avant de calculer le score global.</a:t>
            </a:r>
          </a:p>
        </p:txBody>
      </p:sp>
    </p:spTree>
    <p:extLst>
      <p:ext uri="{BB962C8B-B14F-4D97-AF65-F5344CB8AC3E}">
        <p14:creationId xmlns:p14="http://schemas.microsoft.com/office/powerpoint/2010/main" val="670304868"/>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efa7ffb245f4f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611c0be76f04f7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163D193-9F23-4746-9DC3-826E30F680E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61</a:t>
            </a:r>
          </a:p>
        </p:txBody>
      </p:sp>
      <p:sp>
        <p:nvSpPr>
          <p:cNvPr id="159" name="course-title">
            <a:extLst xmlns:a="http://schemas.openxmlformats.org/drawingml/2006/main">
              <a:ext uri="{FF2B5EF4-FFF2-40B4-BE49-F238E27FC236}">
                <a16:creationId xmlns:a16="http://schemas.microsoft.com/office/drawing/2014/main" id="{01497898-697B-4E5A-A397-F22AFAF5574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En NER, la frontière fait partie de la réponse</a:t>
            </a:r>
          </a:p>
        </p:txBody>
      </p:sp>
      <p:graphicFrame>
        <p:nvGraphicFramePr>
          <p:cNvPr id="174" name=""/>
          <p:cNvGraphicFramePr/>
          <p:nvPr/>
        </p:nvGraphicFramePr>
        <p:xfrm>
          <a:off xmlns:a="http://schemas.openxmlformats.org/drawingml/2006/main" x="781050" y="1952625"/>
          <a:ext xmlns:a="http://schemas.openxmlformats.org/drawingml/2006/main" cx="10620375" cy="194310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Référence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Prédiction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Résultat strict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Marie Dupont : 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Marie : PER</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Frontière incorrecte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Lyon : LOC</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Lyon : ORG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Type incorrect</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AB123 : REF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AB123 : REF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Entité correcte</a:t>
                      </a:r>
                    </a:p>
                  </a:txBody>
                  <a:tcPr marL="114300" marR="114300" marT="85725" marB="85725" anchor="ctr">
                    <a:solidFill>
                      <a:srgbClr val="F4F3F2"/>
                    </a:solidFill>
                  </a:tcPr>
                </a:tc>
              </a:tr>
            </a:tbl>
          </a:graphicData>
        </a:graphic>
      </p:graphicFrame>
      <p:sp>
        <p:nvSpPr>
          <p:cNvPr id="161" name="table-takeaway">
            <a:extLst xmlns:a="http://schemas.openxmlformats.org/drawingml/2006/main">
              <a:ext uri="{FF2B5EF4-FFF2-40B4-BE49-F238E27FC236}">
                <a16:creationId xmlns:a16="http://schemas.microsoft.com/office/drawing/2014/main" id="{1A98FF7D-8562-4E03-B29A-8C099E32E1D1}"/>
              </a:ext>
            </a:extLst>
          </p:cNvPr>
          <p:cNvSpPr>
            <a:spLocks xmlns:a="http://schemas.openxmlformats.org/drawingml/2006/main" noGrp="1"/>
          </p:cNvSpPr>
          <p:nvPr/>
        </p:nvSpPr>
        <p:spPr>
          <a:xfrm xmlns:a="http://schemas.openxmlformats.org/drawingml/2006/main">
            <a:off x="781050" y="40386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0505C"/>
                </a:solidFill>
                <a:latin typeface="DM Sans"/>
                <a:ea typeface="DM Sans"/>
                <a:cs typeface="DM Sans"/>
              </a:defRPr>
            </a:pPr>
            <a:r>
              <a:rPr sz="1650">
                <a:solidFill>
                  <a:srgbClr val="50505C"/>
                </a:solidFill>
                <a:latin typeface="DM Sans"/>
                <a:ea typeface="DM Sans"/>
                <a:cs typeface="DM Sans"/>
              </a:rPr>
              <a:t>Évaluer les entités complètes : début, fin et type.</a:t>
            </a:r>
          </a:p>
        </p:txBody>
      </p:sp>
    </p:spTree>
    <p:extLst>
      <p:ext uri="{BB962C8B-B14F-4D97-AF65-F5344CB8AC3E}">
        <p14:creationId xmlns:p14="http://schemas.microsoft.com/office/powerpoint/2010/main" val="670304868"/>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acf34546576479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6c76483915348b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454C92F-5BE1-41EB-BB23-4103690F0B5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62</a:t>
            </a:r>
          </a:p>
        </p:txBody>
      </p:sp>
      <p:sp>
        <p:nvSpPr>
          <p:cNvPr id="159" name="course-title">
            <a:extLst xmlns:a="http://schemas.openxmlformats.org/drawingml/2006/main">
              <a:ext uri="{FF2B5EF4-FFF2-40B4-BE49-F238E27FC236}">
                <a16:creationId xmlns:a16="http://schemas.microsoft.com/office/drawing/2014/main" id="{5FF318CD-F687-4B35-A6F5-63C60603CDD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convention d'annotation vaut mieux qu'un débat sans règle</a:t>
            </a:r>
          </a:p>
        </p:txBody>
      </p:sp>
      <p:sp>
        <p:nvSpPr>
          <p:cNvPr id="160" name="body-1">
            <a:extLst xmlns:a="http://schemas.openxmlformats.org/drawingml/2006/main">
              <a:ext uri="{FF2B5EF4-FFF2-40B4-BE49-F238E27FC236}">
                <a16:creationId xmlns:a16="http://schemas.microsoft.com/office/drawing/2014/main" id="{6E5F7B6C-17B5-41D7-BD8D-3DE7C9F2748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Décider si « Mme Dupont » inclut le titre.</a:t>
            </a:r>
          </a:p>
        </p:txBody>
      </p:sp>
      <p:sp>
        <p:nvSpPr>
          <p:cNvPr id="161" name="body-2">
            <a:extLst xmlns:a="http://schemas.openxmlformats.org/drawingml/2006/main">
              <a:ext uri="{FF2B5EF4-FFF2-40B4-BE49-F238E27FC236}">
                <a16:creationId xmlns:a16="http://schemas.microsoft.com/office/drawing/2014/main" id="{6525B976-53BE-480D-B380-751291D49090}"/>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une ville d'une organisation portant le même nom.</a:t>
            </a:r>
          </a:p>
        </p:txBody>
      </p:sp>
      <p:sp>
        <p:nvSpPr>
          <p:cNvPr id="162" name="body-3">
            <a:extLst xmlns:a="http://schemas.openxmlformats.org/drawingml/2006/main">
              <a:ext uri="{FF2B5EF4-FFF2-40B4-BE49-F238E27FC236}">
                <a16:creationId xmlns:a16="http://schemas.microsoft.com/office/drawing/2014/main" id="{B36D854B-3BDF-4D68-9669-8B1B3D8C5518}"/>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les désaccords et leurs décisions de résolution.</a:t>
            </a:r>
          </a:p>
        </p:txBody>
      </p:sp>
      <p:sp>
        <p:nvSpPr>
          <p:cNvPr id="163" name="body-4">
            <a:extLst xmlns:a="http://schemas.openxmlformats.org/drawingml/2006/main">
              <a:ext uri="{FF2B5EF4-FFF2-40B4-BE49-F238E27FC236}">
                <a16:creationId xmlns:a16="http://schemas.microsoft.com/office/drawing/2014/main" id="{EC5C6D0C-E356-46FB-AA78-444427D2E71B}"/>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les frontières avant de chercher un meilleur modèle.</a:t>
            </a:r>
          </a:p>
        </p:txBody>
      </p:sp>
    </p:spTree>
    <p:extLst>
      <p:ext uri="{BB962C8B-B14F-4D97-AF65-F5344CB8AC3E}">
        <p14:creationId xmlns:p14="http://schemas.microsoft.com/office/powerpoint/2010/main" val="670304868"/>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d82829fae613475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c002f79ed76a442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CF1E6EA-DE63-4B21-9ABF-3DC7DC28063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63</a:t>
            </a:r>
          </a:p>
        </p:txBody>
      </p:sp>
      <p:sp>
        <p:nvSpPr>
          <p:cNvPr id="159" name="course-title">
            <a:extLst xmlns:a="http://schemas.openxmlformats.org/drawingml/2006/main">
              <a:ext uri="{FF2B5EF4-FFF2-40B4-BE49-F238E27FC236}">
                <a16:creationId xmlns:a16="http://schemas.microsoft.com/office/drawing/2014/main" id="{6CAA3819-0E67-4C79-9BFF-BBAF3F7CC56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Comparer un Transformer à la baseline équitablement</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À conserver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Pourquoi</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À rapporter</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Mêmes partitions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Même nouveauté évaluée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Tailles et groupes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Mêmes labels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Même tâche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Mapping des classes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Même métrique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Même règle de score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 classes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Mêmes cas examinés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Comparaison des erreurs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Gains et régressions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a7d7b43a54b497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0e2452707cb480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526518C-F6B1-4280-A39B-735E35E56E6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64</a:t>
            </a:r>
          </a:p>
        </p:txBody>
      </p:sp>
      <p:sp>
        <p:nvSpPr>
          <p:cNvPr id="159" name="course-title">
            <a:extLst xmlns:a="http://schemas.openxmlformats.org/drawingml/2006/main">
              <a:ext uri="{FF2B5EF4-FFF2-40B4-BE49-F238E27FC236}">
                <a16:creationId xmlns:a16="http://schemas.microsoft.com/office/drawing/2014/main" id="{C811CFC4-5412-4782-8EFA-0C0CA38DE155}"/>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Sauvegarder pour recharger, pas seulement pour archiver</a:t>
            </a:r>
          </a:p>
        </p:txBody>
      </p:sp>
      <p:sp>
        <p:nvSpPr>
          <p:cNvPr id="160" name="body-1">
            <a:extLst xmlns:a="http://schemas.openxmlformats.org/drawingml/2006/main">
              <a:ext uri="{FF2B5EF4-FFF2-40B4-BE49-F238E27FC236}">
                <a16:creationId xmlns:a16="http://schemas.microsoft.com/office/drawing/2014/main" id="{2558FF1A-3790-40B0-A77B-4A16BB468DD2}"/>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Modèle, tokenizer et correspondance des labels vont ensemble.</a:t>
            </a:r>
          </a:p>
        </p:txBody>
      </p:sp>
      <p:sp>
        <p:nvSpPr>
          <p:cNvPr id="161" name="body-2">
            <a:extLst xmlns:a="http://schemas.openxmlformats.org/drawingml/2006/main">
              <a:ext uri="{FF2B5EF4-FFF2-40B4-BE49-F238E27FC236}">
                <a16:creationId xmlns:a16="http://schemas.microsoft.com/office/drawing/2014/main" id="{425DE4E3-5363-43E1-9BEE-AC659477802D}"/>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configuration, versions, partitions et métriques.</a:t>
            </a:r>
          </a:p>
        </p:txBody>
      </p:sp>
      <p:sp>
        <p:nvSpPr>
          <p:cNvPr id="162" name="body-3">
            <a:extLst xmlns:a="http://schemas.openxmlformats.org/drawingml/2006/main">
              <a:ext uri="{FF2B5EF4-FFF2-40B4-BE49-F238E27FC236}">
                <a16:creationId xmlns:a16="http://schemas.microsoft.com/office/drawing/2014/main" id="{04639A0F-4DBB-452D-99DF-F10AFCE58BFF}"/>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une prédiction après rechargement dans un objet neuf.</a:t>
            </a:r>
          </a:p>
        </p:txBody>
      </p:sp>
      <p:sp>
        <p:nvSpPr>
          <p:cNvPr id="163" name="body-4">
            <a:extLst xmlns:a="http://schemas.openxmlformats.org/drawingml/2006/main">
              <a:ext uri="{FF2B5EF4-FFF2-40B4-BE49-F238E27FC236}">
                <a16:creationId xmlns:a16="http://schemas.microsoft.com/office/drawing/2014/main" id="{0B6D0D7B-55C5-4332-924B-505F0C9026A0}"/>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Exporter les artefacts hors de la session Colab éphémère.</a:t>
            </a:r>
          </a:p>
        </p:txBody>
      </p:sp>
    </p:spTree>
    <p:extLst>
      <p:ext uri="{BB962C8B-B14F-4D97-AF65-F5344CB8AC3E}">
        <p14:creationId xmlns:p14="http://schemas.microsoft.com/office/powerpoint/2010/main" val="670304868"/>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758d516731f45a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24b7999595e49a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447C5D0-6792-4150-B1AD-81ABC5E566F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65</a:t>
            </a:r>
          </a:p>
        </p:txBody>
      </p:sp>
      <p:sp>
        <p:nvSpPr>
          <p:cNvPr id="159" name="course-title">
            <a:extLst xmlns:a="http://schemas.openxmlformats.org/drawingml/2006/main">
              <a:ext uri="{FF2B5EF4-FFF2-40B4-BE49-F238E27FC236}">
                <a16:creationId xmlns:a16="http://schemas.microsoft.com/office/drawing/2014/main" id="{9C7FDD86-5BCF-4A9F-9825-0AAB2A24188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Du batch à la métrique : retrouver les responsabilités</a:t>
            </a:r>
          </a:p>
        </p:txBody>
      </p:sp>
      <p:sp>
        <p:nvSpPr>
          <p:cNvPr id="160" name="body-1">
            <a:extLst xmlns:a="http://schemas.openxmlformats.org/drawingml/2006/main">
              <a:ext uri="{FF2B5EF4-FFF2-40B4-BE49-F238E27FC236}">
                <a16:creationId xmlns:a16="http://schemas.microsoft.com/office/drawing/2014/main" id="{5A5BBC56-16A2-4620-B55A-A1CD24C9C008}"/>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loss train faible garantit-elle une bonne validation ?</a:t>
            </a:r>
          </a:p>
        </p:txBody>
      </p:sp>
      <p:sp>
        <p:nvSpPr>
          <p:cNvPr id="161" name="body-2">
            <a:extLst xmlns:a="http://schemas.openxmlformats.org/drawingml/2006/main">
              <a:ext uri="{FF2B5EF4-FFF2-40B4-BE49-F238E27FC236}">
                <a16:creationId xmlns:a16="http://schemas.microsoft.com/office/drawing/2014/main" id="{2B737C2D-1A23-4AF6-BDD5-14FB8E7063E8}"/>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un token peut-il avoir attention_mask = 1 et label = −100 ?</a:t>
            </a:r>
          </a:p>
        </p:txBody>
      </p:sp>
      <p:sp>
        <p:nvSpPr>
          <p:cNvPr id="162" name="body-3">
            <a:extLst xmlns:a="http://schemas.openxmlformats.org/drawingml/2006/main">
              <a:ext uri="{FF2B5EF4-FFF2-40B4-BE49-F238E27FC236}">
                <a16:creationId xmlns:a16="http://schemas.microsoft.com/office/drawing/2014/main" id="{36FEA591-7536-48B6-A33F-2686D11BC057}"/>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Marie au lieu de Marie Dupont : entité exacte ou erreur de frontière ?</a:t>
            </a:r>
          </a:p>
        </p:txBody>
      </p:sp>
      <p:sp>
        <p:nvSpPr>
          <p:cNvPr id="163" name="body-4">
            <a:extLst xmlns:a="http://schemas.openxmlformats.org/drawingml/2006/main">
              <a:ext uri="{FF2B5EF4-FFF2-40B4-BE49-F238E27FC236}">
                <a16:creationId xmlns:a16="http://schemas.microsoft.com/office/drawing/2014/main" id="{27B7492E-E2CA-490C-B7A8-CD64B5F234BB}"/>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 objet faut-il recharger avec les poids du classifieur ?</a:t>
            </a:r>
          </a:p>
        </p:txBody>
      </p:sp>
    </p:spTree>
    <p:extLst>
      <p:ext uri="{BB962C8B-B14F-4D97-AF65-F5344CB8AC3E}">
        <p14:creationId xmlns:p14="http://schemas.microsoft.com/office/powerpoint/2010/main" val="67030486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8af59f86e1a646d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cdf4a6fa4aa94c4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8C01125-559E-4380-A840-6A25E844ACC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66</a:t>
            </a:r>
          </a:p>
        </p:txBody>
      </p:sp>
      <p:sp>
        <p:nvSpPr>
          <p:cNvPr id="159" name="course-title">
            <a:extLst xmlns:a="http://schemas.openxmlformats.org/drawingml/2006/main">
              <a:ext uri="{FF2B5EF4-FFF2-40B4-BE49-F238E27FC236}">
                <a16:creationId xmlns:a16="http://schemas.microsoft.com/office/drawing/2014/main" id="{2070F856-87A3-40C1-BBF8-0EFEAA9454E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3A · Préparer et entraîner le classifieur</a:t>
            </a:r>
          </a:p>
        </p:txBody>
      </p:sp>
      <p:sp>
        <p:nvSpPr>
          <p:cNvPr id="160" name="concrete-example">
            <a:extLst xmlns:a="http://schemas.openxmlformats.org/drawingml/2006/main">
              <a:ext uri="{FF2B5EF4-FFF2-40B4-BE49-F238E27FC236}">
                <a16:creationId xmlns:a16="http://schemas.microsoft.com/office/drawing/2014/main" id="{3657E8A4-849E-4E6E-AE6A-F49CE54E29CA}"/>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03_j3_classification.ipynb · 70 min</a:t>
            </a:r>
          </a:p>
        </p:txBody>
      </p:sp>
      <p:sp>
        <p:nvSpPr>
          <p:cNvPr id="161" name="body-1">
            <a:extLst xmlns:a="http://schemas.openxmlformats.org/drawingml/2006/main">
              <a:ext uri="{FF2B5EF4-FFF2-40B4-BE49-F238E27FC236}">
                <a16:creationId xmlns:a16="http://schemas.microsoft.com/office/drawing/2014/main" id="{DD598D17-E21E-4C2B-AE30-652D3D1938EC}"/>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Réutiliser les cinq intentions et la séparation par groupes.</a:t>
            </a:r>
          </a:p>
        </p:txBody>
      </p:sp>
      <p:sp>
        <p:nvSpPr>
          <p:cNvPr id="162" name="body-2">
            <a:extLst xmlns:a="http://schemas.openxmlformats.org/drawingml/2006/main">
              <a:ext uri="{FF2B5EF4-FFF2-40B4-BE49-F238E27FC236}">
                <a16:creationId xmlns:a16="http://schemas.microsoft.com/office/drawing/2014/main" id="{39811E85-817E-4B26-A4DA-9BBCE77FD3D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tokenizer, collator, labels et logits.</a:t>
            </a:r>
          </a:p>
        </p:txBody>
      </p:sp>
      <p:sp>
        <p:nvSpPr>
          <p:cNvPr id="163" name="body-3">
            <a:extLst xmlns:a="http://schemas.openxmlformats.org/drawingml/2006/main">
              <a:ext uri="{FF2B5EF4-FFF2-40B4-BE49-F238E27FC236}">
                <a16:creationId xmlns:a16="http://schemas.microsoft.com/office/drawing/2014/main" id="{0DE05AD0-AE5B-4C2F-BE99-8B1B1DD7B71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une courte adaptation de DistilBERT multilingue.</a:t>
            </a:r>
          </a:p>
        </p:txBody>
      </p:sp>
      <p:sp>
        <p:nvSpPr>
          <p:cNvPr id="164" name="body-4">
            <a:extLst xmlns:a="http://schemas.openxmlformats.org/drawingml/2006/main">
              <a:ext uri="{FF2B5EF4-FFF2-40B4-BE49-F238E27FC236}">
                <a16:creationId xmlns:a16="http://schemas.microsoft.com/office/drawing/2014/main" id="{01510908-BBF1-4D04-8920-1FDA2C303C5E}"/>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configuration et courbes réellement observées.</a:t>
            </a:r>
          </a:p>
        </p:txBody>
      </p:sp>
    </p:spTree>
    <p:extLst>
      <p:ext uri="{BB962C8B-B14F-4D97-AF65-F5344CB8AC3E}">
        <p14:creationId xmlns:p14="http://schemas.microsoft.com/office/powerpoint/2010/main" val="670304868"/>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edfb6e428ab479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e877f0efe0e46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71AB036-C71F-4C5E-A30C-B2528F066AD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67</a:t>
            </a:r>
          </a:p>
        </p:txBody>
      </p:sp>
      <p:sp>
        <p:nvSpPr>
          <p:cNvPr id="159" name="course-title">
            <a:extLst xmlns:a="http://schemas.openxmlformats.org/drawingml/2006/main">
              <a:ext uri="{FF2B5EF4-FFF2-40B4-BE49-F238E27FC236}">
                <a16:creationId xmlns:a16="http://schemas.microsoft.com/office/drawing/2014/main" id="{C4B9EE2A-4A13-47AA-8E0B-25B02D43246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3B · Comparer puis transférer à des critiques réelles</a:t>
            </a:r>
          </a:p>
        </p:txBody>
      </p:sp>
      <p:sp>
        <p:nvSpPr>
          <p:cNvPr id="160" name="concrete-example">
            <a:extLst xmlns:a="http://schemas.openxmlformats.org/drawingml/2006/main">
              <a:ext uri="{FF2B5EF4-FFF2-40B4-BE49-F238E27FC236}">
                <a16:creationId xmlns:a16="http://schemas.microsoft.com/office/drawing/2014/main" id="{E1864DC8-DACC-47C1-80B9-05BED4019B49}"/>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03_j3_classification.ipynb · 70 min</a:t>
            </a:r>
          </a:p>
        </p:txBody>
      </p:sp>
      <p:sp>
        <p:nvSpPr>
          <p:cNvPr id="161" name="body-1">
            <a:extLst xmlns:a="http://schemas.openxmlformats.org/drawingml/2006/main">
              <a:ext uri="{FF2B5EF4-FFF2-40B4-BE49-F238E27FC236}">
                <a16:creationId xmlns:a16="http://schemas.microsoft.com/office/drawing/2014/main" id="{2979FD5E-0A9A-4EF7-8A26-FC927CA92B5E}"/>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30 min : comparer les modèles support, analyser et exporter pour J5.</a:t>
            </a:r>
          </a:p>
        </p:txBody>
      </p:sp>
      <p:sp>
        <p:nvSpPr>
          <p:cNvPr id="162" name="body-2">
            <a:extLst xmlns:a="http://schemas.openxmlformats.org/drawingml/2006/main">
              <a:ext uri="{FF2B5EF4-FFF2-40B4-BE49-F238E27FC236}">
                <a16:creationId xmlns:a16="http://schemas.microsoft.com/office/drawing/2014/main" id="{CC93F568-D164-433F-8962-07BA2EBED39B}"/>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40 min : adapter le classifieur au sentiment sur Allociné.</a:t>
            </a:r>
          </a:p>
        </p:txBody>
      </p:sp>
      <p:sp>
        <p:nvSpPr>
          <p:cNvPr id="163" name="body-3">
            <a:extLst xmlns:a="http://schemas.openxmlformats.org/drawingml/2006/main">
              <a:ext uri="{FF2B5EF4-FFF2-40B4-BE49-F238E27FC236}">
                <a16:creationId xmlns:a16="http://schemas.microsoft.com/office/drawing/2014/main" id="{D91B53E0-2499-4083-8FFC-E9F78AACED91}"/>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Sous-ensembles : 1 000 train, 200 validation et 200 test.</a:t>
            </a:r>
          </a:p>
        </p:txBody>
      </p:sp>
      <p:sp>
        <p:nvSpPr>
          <p:cNvPr id="164" name="body-4">
            <a:extLst xmlns:a="http://schemas.openxmlformats.org/drawingml/2006/main">
              <a:ext uri="{FF2B5EF4-FFF2-40B4-BE49-F238E27FC236}">
                <a16:creationId xmlns:a16="http://schemas.microsoft.com/office/drawing/2014/main" id="{4B769A0D-522F-404E-AFDA-A51585DE3D91}"/>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Livrables distincts : routeur support et modèle de sentiment.</a:t>
            </a:r>
          </a:p>
        </p:txBody>
      </p:sp>
    </p:spTree>
    <p:extLst>
      <p:ext uri="{BB962C8B-B14F-4D97-AF65-F5344CB8AC3E}">
        <p14:creationId xmlns:p14="http://schemas.microsoft.com/office/powerpoint/2010/main" val="670304868"/>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dafac2697b24dc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51d79af5e9a54a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37C9CBB-1A2E-4C6A-95BB-7CE8CA3BC6C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68</a:t>
            </a:r>
          </a:p>
        </p:txBody>
      </p:sp>
      <p:sp>
        <p:nvSpPr>
          <p:cNvPr id="159" name="course-title">
            <a:extLst xmlns:a="http://schemas.openxmlformats.org/drawingml/2006/main">
              <a:ext uri="{FF2B5EF4-FFF2-40B4-BE49-F238E27FC236}">
                <a16:creationId xmlns:a16="http://schemas.microsoft.com/office/drawing/2014/main" id="{1F8A7F8A-AB6C-4D95-82AA-6058EC5BCA32}"/>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3C · Aligner les mots, les sous-tokens et les labels</a:t>
            </a:r>
          </a:p>
        </p:txBody>
      </p:sp>
      <p:sp>
        <p:nvSpPr>
          <p:cNvPr id="160" name="concrete-example">
            <a:extLst xmlns:a="http://schemas.openxmlformats.org/drawingml/2006/main">
              <a:ext uri="{FF2B5EF4-FFF2-40B4-BE49-F238E27FC236}">
                <a16:creationId xmlns:a16="http://schemas.microsoft.com/office/drawing/2014/main" id="{D9CF7812-580B-4A57-96F9-84FBDDEC71D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04_j3_ner.ipynb · 50 min</a:t>
            </a:r>
          </a:p>
        </p:txBody>
      </p:sp>
      <p:sp>
        <p:nvSpPr>
          <p:cNvPr id="161" name="body-1">
            <a:extLst xmlns:a="http://schemas.openxmlformats.org/drawingml/2006/main">
              <a:ext uri="{FF2B5EF4-FFF2-40B4-BE49-F238E27FC236}">
                <a16:creationId xmlns:a16="http://schemas.microsoft.com/office/drawing/2014/main" id="{C03EE99C-5FDF-4B59-8D8F-5D8E00B64B4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Lire la convention d'entités du jeu fourni.</a:t>
            </a:r>
          </a:p>
        </p:txBody>
      </p:sp>
      <p:sp>
        <p:nvSpPr>
          <p:cNvPr id="162" name="body-2">
            <a:extLst xmlns:a="http://schemas.openxmlformats.org/drawingml/2006/main">
              <a:ext uri="{FF2B5EF4-FFF2-40B4-BE49-F238E27FC236}">
                <a16:creationId xmlns:a16="http://schemas.microsoft.com/office/drawing/2014/main" id="{C9D27A37-2A93-4D0B-8EBF-3F3286917EA8}"/>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l'alignement avec word_ids().</a:t>
            </a:r>
          </a:p>
        </p:txBody>
      </p:sp>
      <p:sp>
        <p:nvSpPr>
          <p:cNvPr id="163" name="body-3">
            <a:extLst xmlns:a="http://schemas.openxmlformats.org/drawingml/2006/main">
              <a:ext uri="{FF2B5EF4-FFF2-40B4-BE49-F238E27FC236}">
                <a16:creationId xmlns:a16="http://schemas.microsoft.com/office/drawing/2014/main" id="{D4ABFA66-DEE9-45BA-A5F5-ACF3860CA58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tokens spéciaux, continuations et padding à −100.</a:t>
            </a:r>
          </a:p>
        </p:txBody>
      </p:sp>
      <p:sp>
        <p:nvSpPr>
          <p:cNvPr id="164" name="body-4">
            <a:extLst xmlns:a="http://schemas.openxmlformats.org/drawingml/2006/main">
              <a:ext uri="{FF2B5EF4-FFF2-40B4-BE49-F238E27FC236}">
                <a16:creationId xmlns:a16="http://schemas.microsoft.com/office/drawing/2014/main" id="{0A3B6771-291E-40B3-A49B-F338FFAE9C6F}"/>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tableau d'alignement validé avant entraînement.</a:t>
            </a:r>
          </a:p>
        </p:txBody>
      </p:sp>
    </p:spTree>
    <p:extLst>
      <p:ext uri="{BB962C8B-B14F-4D97-AF65-F5344CB8AC3E}">
        <p14:creationId xmlns:p14="http://schemas.microsoft.com/office/powerpoint/2010/main" val="670304868"/>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9dad8fea81184b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82df673ac4b426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J3 · Fine-tuning</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0785DD6-739D-4F61-B4F3-FACACEEBFAD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69</a:t>
            </a:r>
          </a:p>
        </p:txBody>
      </p:sp>
      <p:sp>
        <p:nvSpPr>
          <p:cNvPr id="159" name="course-title">
            <a:extLst xmlns:a="http://schemas.openxmlformats.org/drawingml/2006/main">
              <a:ext uri="{FF2B5EF4-FFF2-40B4-BE49-F238E27FC236}">
                <a16:creationId xmlns:a16="http://schemas.microsoft.com/office/drawing/2014/main" id="{82734449-DEB2-48CD-ACAC-EFB2055E512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3D · Mesurer des entités complètes</a:t>
            </a:r>
          </a:p>
        </p:txBody>
      </p:sp>
      <p:sp>
        <p:nvSpPr>
          <p:cNvPr id="160" name="concrete-example">
            <a:extLst xmlns:a="http://schemas.openxmlformats.org/drawingml/2006/main">
              <a:ext uri="{FF2B5EF4-FFF2-40B4-BE49-F238E27FC236}">
                <a16:creationId xmlns:a16="http://schemas.microsoft.com/office/drawing/2014/main" id="{A9494877-149D-49FB-AB9E-871E38163709}"/>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04_j3_ner.ipynb · 50 min</a:t>
            </a:r>
          </a:p>
        </p:txBody>
      </p:sp>
      <p:sp>
        <p:nvSpPr>
          <p:cNvPr id="161" name="body-1">
            <a:extLst xmlns:a="http://schemas.openxmlformats.org/drawingml/2006/main">
              <a:ext uri="{FF2B5EF4-FFF2-40B4-BE49-F238E27FC236}">
                <a16:creationId xmlns:a16="http://schemas.microsoft.com/office/drawing/2014/main" id="{7947CC62-19BA-47F0-95AF-14C07EC52E2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l'entraînement réduit puis reconstruire les séquences.</a:t>
            </a:r>
          </a:p>
        </p:txBody>
      </p:sp>
      <p:sp>
        <p:nvSpPr>
          <p:cNvPr id="162" name="body-2">
            <a:extLst xmlns:a="http://schemas.openxmlformats.org/drawingml/2006/main">
              <a:ext uri="{FF2B5EF4-FFF2-40B4-BE49-F238E27FC236}">
                <a16:creationId xmlns:a16="http://schemas.microsoft.com/office/drawing/2014/main" id="{D88E546C-FBCF-4598-AC79-D75CE659BE9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un cas seqeval strict à la main.</a:t>
            </a:r>
          </a:p>
        </p:txBody>
      </p:sp>
      <p:sp>
        <p:nvSpPr>
          <p:cNvPr id="163" name="body-3">
            <a:extLst xmlns:a="http://schemas.openxmlformats.org/drawingml/2006/main">
              <a:ext uri="{FF2B5EF4-FFF2-40B4-BE49-F238E27FC236}">
                <a16:creationId xmlns:a16="http://schemas.microsoft.com/office/drawing/2014/main" id="{BACF124C-96A6-4437-816F-B410B190B246}"/>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erreurs de type et erreurs de frontière.</a:t>
            </a:r>
          </a:p>
        </p:txBody>
      </p:sp>
      <p:sp>
        <p:nvSpPr>
          <p:cNvPr id="164" name="body-4">
            <a:extLst xmlns:a="http://schemas.openxmlformats.org/drawingml/2006/main">
              <a:ext uri="{FF2B5EF4-FFF2-40B4-BE49-F238E27FC236}">
                <a16:creationId xmlns:a16="http://schemas.microsoft.com/office/drawing/2014/main" id="{B8B6CE18-74A8-4BD4-AAD6-BA768B70B125}"/>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métriques, exemples annotés et modèle sauvegardé.</a:t>
            </a:r>
          </a:p>
        </p:txBody>
      </p:sp>
    </p:spTree>
    <p:extLst>
      <p:ext uri="{BB962C8B-B14F-4D97-AF65-F5344CB8AC3E}">
        <p14:creationId xmlns:p14="http://schemas.microsoft.com/office/powerpoint/2010/main" val="670304868"/>
      </p:ext>
    </p:extLst>
  </p:cSld>
</p:sld>
</file>

<file path=ppt/slides/slide70.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FD5C2D8C-21D6-4707-8FAA-B0542EC77135}"/>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7DB5612A-C039-498B-85B8-09EE800E7FC7}"/>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04</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240693C7-BE4D-4D75-94EB-D563F296B8DF}"/>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439467A-E017-41DC-A833-770DEE2765AB}"/>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5B0196A7-6A0B-4B3E-BA07-17DBBEC67AB7}"/>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75027ba5fe8f403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106e35a1ba1c419f">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FDFDD261-2375-43FA-968D-AFD80CC8CDE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8D3D6140-90B1-4865-B259-F260B95C63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341A7157-5594-4C2F-A93F-1FBA1D42FE5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70</a:t>
            </a:r>
          </a:p>
        </p:txBody>
      </p:sp>
      <p:sp>
        <p:nvSpPr>
          <p:cNvPr id="144" name="section-title">
            <a:extLst xmlns:a="http://schemas.openxmlformats.org/drawingml/2006/main">
              <a:ext uri="{FF2B5EF4-FFF2-40B4-BE49-F238E27FC236}">
                <a16:creationId xmlns:a16="http://schemas.microsoft.com/office/drawing/2014/main" id="{F6A7073B-3E52-4541-ADA0-B76E1DF90D5B}"/>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Adapter un petit LLM efficacement</a:t>
            </a:r>
          </a:p>
        </p:txBody>
      </p:sp>
      <p:sp>
        <p:nvSpPr>
          <p:cNvPr id="145" name="day-goal">
            <a:extLst xmlns:a="http://schemas.openxmlformats.org/drawingml/2006/main">
              <a:ext uri="{FF2B5EF4-FFF2-40B4-BE49-F238E27FC236}">
                <a16:creationId xmlns:a16="http://schemas.microsoft.com/office/drawing/2014/main" id="{446E37DF-581B-4801-95BE-7CB93DB385B4}"/>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Données de qualité, supervision explicite et budget GPU maîtrisé.</a:t>
            </a:r>
          </a:p>
        </p:txBody>
      </p:sp>
      <p:sp>
        <p:nvSpPr>
          <p:cNvPr id="146" name="day-agenda">
            <a:extLst xmlns:a="http://schemas.openxmlformats.org/drawingml/2006/main">
              <a:ext uri="{FF2B5EF4-FFF2-40B4-BE49-F238E27FC236}">
                <a16:creationId xmlns:a16="http://schemas.microsoft.com/office/drawing/2014/main" id="{1C34D387-EC32-426D-9724-CCC2CB7728E3}"/>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SFT, LoRA, QLoRA, résumé et fidélité.</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160 min de SFT puis 80 min de résumé.</a:t>
            </a:r>
          </a:p>
        </p:txBody>
      </p:sp>
    </p:spTree>
    <p:extLst>
      <p:ext uri="{BB962C8B-B14F-4D97-AF65-F5344CB8AC3E}">
        <p14:creationId xmlns:p14="http://schemas.microsoft.com/office/powerpoint/2010/main" val="614088245"/>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18817cabb114d9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33f02718b7141d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ACDEED67-248C-4D4A-B8C7-B11AD82FAE5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71</a:t>
            </a:r>
          </a:p>
        </p:txBody>
      </p:sp>
      <p:sp>
        <p:nvSpPr>
          <p:cNvPr id="159" name="course-title">
            <a:extLst xmlns:a="http://schemas.openxmlformats.org/drawingml/2006/main">
              <a:ext uri="{FF2B5EF4-FFF2-40B4-BE49-F238E27FC236}">
                <a16:creationId xmlns:a16="http://schemas.microsoft.com/office/drawing/2014/main" id="{7D4BCB20-4C28-4874-8A7B-6876651EBB1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Prompt, RAG ou fine-tuning : quel problème résoudre ?</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Besoin</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Premier levier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Limite à vérifier</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Clarifier une consigne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Prompt + exemples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Sensibilité à la formulation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Consulter des faits évolutifs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Recherche + contexte (RAG)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Qualité des sources retrouvées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Stabiliser un style ou format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SFT</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Qualité et diversité des exemples</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Améliorer la tâche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Comparer les approches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Coût et généralisation</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0b4e1c435a124a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8a890c1f42f421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DA89CE5-2BD1-4BA1-AFAC-2DACC91CF88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72</a:t>
            </a:r>
          </a:p>
        </p:txBody>
      </p:sp>
      <p:sp>
        <p:nvSpPr>
          <p:cNvPr id="159" name="course-title">
            <a:extLst xmlns:a="http://schemas.openxmlformats.org/drawingml/2006/main">
              <a:ext uri="{FF2B5EF4-FFF2-40B4-BE49-F238E27FC236}">
                <a16:creationId xmlns:a16="http://schemas.microsoft.com/office/drawing/2014/main" id="{A4185B7D-6D87-4FA5-8E74-F86614DAFC9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SFT : montrer les réponses que l'on souhaite obtenir</a:t>
            </a:r>
          </a:p>
        </p:txBody>
      </p:sp>
      <p:sp>
        <p:nvSpPr>
          <p:cNvPr id="160" name="concrete-example">
            <a:extLst xmlns:a="http://schemas.openxmlformats.org/drawingml/2006/main">
              <a:ext uri="{FF2B5EF4-FFF2-40B4-BE49-F238E27FC236}">
                <a16:creationId xmlns:a16="http://schemas.microsoft.com/office/drawing/2014/main" id="{973F4D1F-7AB5-4CCD-A280-42429E216253}"/>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Une consigne, une entrée et une réponse cible cohérente.</a:t>
            </a:r>
          </a:p>
        </p:txBody>
      </p:sp>
      <p:sp>
        <p:nvSpPr>
          <p:cNvPr id="161" name="body-1">
            <a:extLst xmlns:a="http://schemas.openxmlformats.org/drawingml/2006/main">
              <a:ext uri="{FF2B5EF4-FFF2-40B4-BE49-F238E27FC236}">
                <a16:creationId xmlns:a16="http://schemas.microsoft.com/office/drawing/2014/main" id="{471F003C-8D91-4EFB-A280-86AA205BB0CA}"/>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modèle conserve l'objectif de prédiction du token suivant.</a:t>
            </a:r>
          </a:p>
        </p:txBody>
      </p:sp>
      <p:sp>
        <p:nvSpPr>
          <p:cNvPr id="162" name="body-2">
            <a:extLst xmlns:a="http://schemas.openxmlformats.org/drawingml/2006/main">
              <a:ext uri="{FF2B5EF4-FFF2-40B4-BE49-F238E27FC236}">
                <a16:creationId xmlns:a16="http://schemas.microsoft.com/office/drawing/2014/main" id="{4CE2C681-2507-4309-8179-B8199EFC1EA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Les exemples orientent le comportement vers une tâche.</a:t>
            </a:r>
          </a:p>
        </p:txBody>
      </p:sp>
      <p:sp>
        <p:nvSpPr>
          <p:cNvPr id="163" name="body-3">
            <a:extLst xmlns:a="http://schemas.openxmlformats.org/drawingml/2006/main">
              <a:ext uri="{FF2B5EF4-FFF2-40B4-BE49-F238E27FC236}">
                <a16:creationId xmlns:a16="http://schemas.microsoft.com/office/drawing/2014/main" id="{5D52EDF2-1872-4A9A-B403-756BF3B09ADF}"/>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Le format des messages doit correspondre au checkpoint.</a:t>
            </a:r>
          </a:p>
        </p:txBody>
      </p:sp>
      <p:sp>
        <p:nvSpPr>
          <p:cNvPr id="164" name="body-4">
            <a:extLst xmlns:a="http://schemas.openxmlformats.org/drawingml/2006/main">
              <a:ext uri="{FF2B5EF4-FFF2-40B4-BE49-F238E27FC236}">
                <a16:creationId xmlns:a16="http://schemas.microsoft.com/office/drawing/2014/main" id="{8CB16473-E53A-489C-B2B6-299B167C0A1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 réussite se mesure sur des demandes absentes de l'entraînement.</a:t>
            </a:r>
          </a:p>
        </p:txBody>
      </p:sp>
    </p:spTree>
    <p:extLst>
      <p:ext uri="{BB962C8B-B14F-4D97-AF65-F5344CB8AC3E}">
        <p14:creationId xmlns:p14="http://schemas.microsoft.com/office/powerpoint/2010/main" val="670304868"/>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941acb81b65446d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f056cce53eb7464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4BAB3BA-E28D-44D6-B94A-4A412AEB629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73</a:t>
            </a:r>
          </a:p>
        </p:txBody>
      </p:sp>
      <p:sp>
        <p:nvSpPr>
          <p:cNvPr id="159" name="course-title">
            <a:extLst xmlns:a="http://schemas.openxmlformats.org/drawingml/2006/main">
              <a:ext uri="{FF2B5EF4-FFF2-40B4-BE49-F238E27FC236}">
                <a16:creationId xmlns:a16="http://schemas.microsoft.com/office/drawing/2014/main" id="{0EEC735D-7692-4FAA-BB19-36E25334EA6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bonne démonstration enseigne aussi les limites</a:t>
            </a:r>
          </a:p>
        </p:txBody>
      </p:sp>
      <p:sp>
        <p:nvSpPr>
          <p:cNvPr id="160" name="concrete-example">
            <a:extLst xmlns:a="http://schemas.openxmlformats.org/drawingml/2006/main">
              <a:ext uri="{FF2B5EF4-FFF2-40B4-BE49-F238E27FC236}">
                <a16:creationId xmlns:a16="http://schemas.microsoft.com/office/drawing/2014/main" id="{C310F7FC-D853-4D99-9154-1CEB9E2233E7}"/>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Message : « Mon paiement apparaît deux fois. »</a:t>
            </a:r>
          </a:p>
        </p:txBody>
      </p:sp>
      <p:sp>
        <p:nvSpPr>
          <p:cNvPr id="161" name="body-1">
            <a:extLst xmlns:a="http://schemas.openxmlformats.org/drawingml/2006/main">
              <a:ext uri="{FF2B5EF4-FFF2-40B4-BE49-F238E27FC236}">
                <a16:creationId xmlns:a16="http://schemas.microsoft.com/office/drawing/2014/main" id="{CBBB9D18-166D-47A7-9D6D-31BB2CD4CE32}"/>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Réponse utile : reconnaître le doublon signalé et demander la vérification nécessaire.</a:t>
            </a:r>
          </a:p>
        </p:txBody>
      </p:sp>
      <p:sp>
        <p:nvSpPr>
          <p:cNvPr id="162" name="body-2">
            <a:extLst xmlns:a="http://schemas.openxmlformats.org/drawingml/2006/main">
              <a:ext uri="{FF2B5EF4-FFF2-40B4-BE49-F238E27FC236}">
                <a16:creationId xmlns:a16="http://schemas.microsoft.com/office/drawing/2014/main" id="{FF4C5B2D-18D1-454F-842F-B62A3A962175}"/>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Réponse risquée : annoncer un remboursement sans preuve.</a:t>
            </a:r>
          </a:p>
        </p:txBody>
      </p:sp>
      <p:sp>
        <p:nvSpPr>
          <p:cNvPr id="163" name="body-3">
            <a:extLst xmlns:a="http://schemas.openxmlformats.org/drawingml/2006/main">
              <a:ext uri="{FF2B5EF4-FFF2-40B4-BE49-F238E27FC236}">
                <a16:creationId xmlns:a16="http://schemas.microsoft.com/office/drawing/2014/main" id="{284B9EA8-541B-4D17-BC7C-F71E1198F443}"/>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le format cible sur toutes les démonstrations.</a:t>
            </a:r>
          </a:p>
        </p:txBody>
      </p:sp>
      <p:sp>
        <p:nvSpPr>
          <p:cNvPr id="164" name="body-4">
            <a:extLst xmlns:a="http://schemas.openxmlformats.org/drawingml/2006/main">
              <a:ext uri="{FF2B5EF4-FFF2-40B4-BE49-F238E27FC236}">
                <a16:creationId xmlns:a16="http://schemas.microsoft.com/office/drawing/2014/main" id="{E11BF918-CC55-495C-8832-9DDF1B85F87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Inclure des cas ambigus et des informations manquantes.</a:t>
            </a:r>
          </a:p>
        </p:txBody>
      </p:sp>
    </p:spTree>
    <p:extLst>
      <p:ext uri="{BB962C8B-B14F-4D97-AF65-F5344CB8AC3E}">
        <p14:creationId xmlns:p14="http://schemas.microsoft.com/office/powerpoint/2010/main" val="670304868"/>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e74f5b83922446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05914b77ffb47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A95FA1D-6217-4F71-AD8E-3789DFF1FE3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74</a:t>
            </a:r>
          </a:p>
        </p:txBody>
      </p:sp>
      <p:sp>
        <p:nvSpPr>
          <p:cNvPr id="159" name="course-title">
            <a:extLst xmlns:a="http://schemas.openxmlformats.org/drawingml/2006/main">
              <a:ext uri="{FF2B5EF4-FFF2-40B4-BE49-F238E27FC236}">
                <a16:creationId xmlns:a16="http://schemas.microsoft.com/office/drawing/2014/main" id="{DBE93366-00B6-4CFA-8765-26CA413ABFF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Curater : garder des exemples utiles et traçables</a:t>
            </a:r>
          </a:p>
        </p:txBody>
      </p:sp>
      <p:sp>
        <p:nvSpPr>
          <p:cNvPr id="160" name="body-1">
            <a:extLst xmlns:a="http://schemas.openxmlformats.org/drawingml/2006/main">
              <a:ext uri="{FF2B5EF4-FFF2-40B4-BE49-F238E27FC236}">
                <a16:creationId xmlns:a16="http://schemas.microsoft.com/office/drawing/2014/main" id="{EEFCEEC8-2CD6-4460-A192-519575931B3F}"/>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Dédupliquer avant la séparation, avec une politique explicite.</a:t>
            </a:r>
          </a:p>
        </p:txBody>
      </p:sp>
      <p:sp>
        <p:nvSpPr>
          <p:cNvPr id="161" name="body-2">
            <a:extLst xmlns:a="http://schemas.openxmlformats.org/drawingml/2006/main">
              <a:ext uri="{FF2B5EF4-FFF2-40B4-BE49-F238E27FC236}">
                <a16:creationId xmlns:a16="http://schemas.microsoft.com/office/drawing/2014/main" id="{96F779C7-2F87-4891-933F-31D344F2E9A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Contrôler contradictions, format, longueurs et données sensibles.</a:t>
            </a:r>
          </a:p>
        </p:txBody>
      </p:sp>
      <p:sp>
        <p:nvSpPr>
          <p:cNvPr id="162" name="body-3">
            <a:extLst xmlns:a="http://schemas.openxmlformats.org/drawingml/2006/main">
              <a:ext uri="{FF2B5EF4-FFF2-40B4-BE49-F238E27FC236}">
                <a16:creationId xmlns:a16="http://schemas.microsoft.com/office/drawing/2014/main" id="{0E896C8E-CBBB-4208-B0D6-A82D1042CADB}"/>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par scénario pour limiter les paraphrases partagées.</a:t>
            </a:r>
          </a:p>
        </p:txBody>
      </p:sp>
      <p:sp>
        <p:nvSpPr>
          <p:cNvPr id="163" name="body-4">
            <a:extLst xmlns:a="http://schemas.openxmlformats.org/drawingml/2006/main">
              <a:ext uri="{FF2B5EF4-FFF2-40B4-BE49-F238E27FC236}">
                <a16:creationId xmlns:a16="http://schemas.microsoft.com/office/drawing/2014/main" id="{5FE0194E-216F-4460-9ECC-02EACA3400BB}"/>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Conserver des cas de validation et de test sans les réécrire après coup.</a:t>
            </a:r>
          </a:p>
        </p:txBody>
      </p:sp>
    </p:spTree>
    <p:extLst>
      <p:ext uri="{BB962C8B-B14F-4D97-AF65-F5344CB8AC3E}">
        <p14:creationId xmlns:p14="http://schemas.microsoft.com/office/powerpoint/2010/main" val="670304868"/>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a9c54a4299974e0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5b49c8e96280443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34445893-F04A-4BD0-8EE4-CDCD71ACE359}"/>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75</a:t>
            </a:r>
          </a:p>
        </p:txBody>
      </p:sp>
      <p:sp>
        <p:nvSpPr>
          <p:cNvPr id="159" name="course-title">
            <a:extLst xmlns:a="http://schemas.openxmlformats.org/drawingml/2006/main">
              <a:ext uri="{FF2B5EF4-FFF2-40B4-BE49-F238E27FC236}">
                <a16:creationId xmlns:a16="http://schemas.microsoft.com/office/drawing/2014/main" id="{123B5268-E1BE-402C-BC8F-F4E2A25B249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chat template transforme les rôles en tokens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6cb6572d179428f"/>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2C6E1703-ABEA-4DE5-AF87-DE0EA0F92B59}"/>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Exemple de marqueurs Qwen ; utiliser le template associé au checkpoint.</a:t>
            </a:r>
          </a:p>
        </p:txBody>
      </p:sp>
    </p:spTree>
    <p:extLst>
      <p:ext uri="{BB962C8B-B14F-4D97-AF65-F5344CB8AC3E}">
        <p14:creationId xmlns:p14="http://schemas.microsoft.com/office/powerpoint/2010/main" val="670304868"/>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975c6b22a144c0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c1515396b164a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60968CD-A89C-4B59-9557-1F52030B6D1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76</a:t>
            </a:r>
          </a:p>
        </p:txBody>
      </p:sp>
      <p:sp>
        <p:nvSpPr>
          <p:cNvPr id="159" name="course-title">
            <a:extLst xmlns:a="http://schemas.openxmlformats.org/drawingml/2006/main">
              <a:ext uri="{FF2B5EF4-FFF2-40B4-BE49-F238E27FC236}">
                <a16:creationId xmlns:a16="http://schemas.microsoft.com/office/drawing/2014/main" id="{1BBFB0DD-D0AA-46D4-B3D8-215456BDD47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Superviser la réponse, garder la question dans le contexte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b7caab7c108b4af9"/>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0006BD4C-0EDD-4C80-9E61-CB73E433EA7E}"/>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Le prompt reste visible ; la loss porte ici sur la réponse et sa fin de séquence.</a:t>
            </a:r>
          </a:p>
        </p:txBody>
      </p:sp>
    </p:spTree>
    <p:extLst>
      <p:ext uri="{BB962C8B-B14F-4D97-AF65-F5344CB8AC3E}">
        <p14:creationId xmlns:p14="http://schemas.microsoft.com/office/powerpoint/2010/main" val="670304868"/>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8f736dccbf04c9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0855a3bda724fd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1EF87F5-031B-4F89-8C32-2A0DA9B3B56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77</a:t>
            </a:r>
          </a:p>
        </p:txBody>
      </p:sp>
      <p:sp>
        <p:nvSpPr>
          <p:cNvPr id="159" name="course-title">
            <a:extLst xmlns:a="http://schemas.openxmlformats.org/drawingml/2006/main">
              <a:ext uri="{FF2B5EF4-FFF2-40B4-BE49-F238E27FC236}">
                <a16:creationId xmlns:a16="http://schemas.microsoft.com/office/drawing/2014/main" id="{F7701235-A914-43D5-AC27-C2DB21A5814A}"/>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Le décalage causal ne doit se produire qu'une fois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96cf5c40a22a4590"/>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71D05A2E-27F0-4E2A-A786-6A80FC0FA505}"/>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logit à la position t vise le token t+1 ; appliquer ce décalage une seule fois.</a:t>
            </a:r>
          </a:p>
        </p:txBody>
      </p:sp>
    </p:spTree>
    <p:extLst>
      <p:ext uri="{BB962C8B-B14F-4D97-AF65-F5344CB8AC3E}">
        <p14:creationId xmlns:p14="http://schemas.microsoft.com/office/powerpoint/2010/main" val="670304868"/>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cbe5ed34cfbe4cf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53ca76e57e36454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93060DC-464F-418B-BA72-C3B36C55E9E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78</a:t>
            </a:r>
          </a:p>
        </p:txBody>
      </p:sp>
      <p:sp>
        <p:nvSpPr>
          <p:cNvPr id="159" name="course-title">
            <a:extLst xmlns:a="http://schemas.openxmlformats.org/drawingml/2006/main">
              <a:ext uri="{FF2B5EF4-FFF2-40B4-BE49-F238E27FC236}">
                <a16:creationId xmlns:a16="http://schemas.microsoft.com/office/drawing/2014/main" id="{5C8D6302-C14D-4978-A815-1717C2F1088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LoRA : apprendre une petite correction de matrice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3fcdb05cdf574f6e"/>
          <a:stretch xmlns:a="http://schemas.openxmlformats.org/drawingml/2006/main"/>
        </p:blipFill>
        <p:spPr>
          <a:xfrm xmlns:a="http://schemas.openxmlformats.org/drawingml/2006/main">
            <a:off x="4229100" y="1962150"/>
            <a:ext cx="3724275" cy="91440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0A187D01-E7B4-4113-9C75-28EA69F4F448}"/>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Ajouter une correction entraînable de faible rang à une matrice gelée.</a:t>
            </a:r>
          </a:p>
        </p:txBody>
      </p:sp>
      <p:sp>
        <p:nvSpPr>
          <p:cNvPr id="162" name="formula-symbol-0">
            <a:extLst xmlns:a="http://schemas.openxmlformats.org/drawingml/2006/main">
              <a:ext uri="{FF2B5EF4-FFF2-40B4-BE49-F238E27FC236}">
                <a16:creationId xmlns:a16="http://schemas.microsoft.com/office/drawing/2014/main" id="{000D1C2B-4789-4E0F-A1CF-DAA4441ED41F}"/>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x : entrée d_in ; y : sortie d_out</a:t>
            </a:r>
          </a:p>
        </p:txBody>
      </p:sp>
      <p:sp>
        <p:nvSpPr>
          <p:cNvPr id="163" name="formula-symbol-1">
            <a:extLst xmlns:a="http://schemas.openxmlformats.org/drawingml/2006/main">
              <a:ext uri="{FF2B5EF4-FFF2-40B4-BE49-F238E27FC236}">
                <a16:creationId xmlns:a16="http://schemas.microsoft.com/office/drawing/2014/main" id="{861629DF-F525-4E31-8EBA-521F2F88509C}"/>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W₀ : matrice gelée, d_out × d_in</a:t>
            </a:r>
          </a:p>
        </p:txBody>
      </p:sp>
      <p:sp>
        <p:nvSpPr>
          <p:cNvPr id="164" name="formula-symbol-2">
            <a:extLst xmlns:a="http://schemas.openxmlformats.org/drawingml/2006/main">
              <a:ext uri="{FF2B5EF4-FFF2-40B4-BE49-F238E27FC236}">
                <a16:creationId xmlns:a16="http://schemas.microsoft.com/office/drawing/2014/main" id="{442E2357-DD51-483C-95FD-40AFE1B6BC95}"/>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A : r × d_in ; B : d_out × r</a:t>
            </a:r>
          </a:p>
        </p:txBody>
      </p:sp>
      <p:sp>
        <p:nvSpPr>
          <p:cNvPr id="165" name="formula-symbol-3">
            <a:extLst xmlns:a="http://schemas.openxmlformats.org/drawingml/2006/main">
              <a:ext uri="{FF2B5EF4-FFF2-40B4-BE49-F238E27FC236}">
                <a16:creationId xmlns:a16="http://schemas.microsoft.com/office/drawing/2014/main" id="{690B05CE-ECEA-43EE-89A3-43613939722E}"/>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r : rang choisi pour la correction</a:t>
            </a:r>
          </a:p>
        </p:txBody>
      </p:sp>
      <p:sp>
        <p:nvSpPr>
          <p:cNvPr id="166" name="formula-symbol-4">
            <a:extLst xmlns:a="http://schemas.openxmlformats.org/drawingml/2006/main">
              <a:ext uri="{FF2B5EF4-FFF2-40B4-BE49-F238E27FC236}">
                <a16:creationId xmlns:a16="http://schemas.microsoft.com/office/drawing/2014/main" id="{CB59A027-6557-4A91-A42C-A7829820AA8C}"/>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α/r : facteur d’échelle de la correction</a:t>
            </a:r>
          </a:p>
        </p:txBody>
      </p:sp>
      <p:sp>
        <p:nvSpPr>
          <p:cNvPr id="167" name="formula-example">
            <a:extLst xmlns:a="http://schemas.openxmlformats.org/drawingml/2006/main">
              <a:ext uri="{FF2B5EF4-FFF2-40B4-BE49-F238E27FC236}">
                <a16:creationId xmlns:a16="http://schemas.microsoft.com/office/drawing/2014/main" id="{DDBFF917-29AC-4635-9CF4-1EC870618115}"/>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W₀ = I, x = (2 ; 1), A = [1, −1], B = (0,5 ; 1), α/r = 1 → y = (2,5 ; 2).</a:t>
            </a:r>
          </a:p>
        </p:txBody>
      </p:sp>
    </p:spTree>
    <p:extLst>
      <p:ext uri="{BB962C8B-B14F-4D97-AF65-F5344CB8AC3E}">
        <p14:creationId xmlns:p14="http://schemas.microsoft.com/office/powerpoint/2010/main" val="670304868"/>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1" name="Google Shape;150;p8"/>
          <p:cNvPicPr>
            <a:picLocks xmlns:a="http://schemas.openxmlformats.org/drawingml/2006/main" noChangeAspect="1"/>
          </p:cNvPicPr>
          <p:nvPr/>
        </p:nvPicPr>
        <p:blipFill>
          <a:blip xmlns:r="http://schemas.openxmlformats.org/officeDocument/2006/relationships" xmlns:a="http://schemas.openxmlformats.org/drawingml/2006/main" r:embed="R6dc83aabab834dd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2" name="Google Shape;151;p8"/>
          <p:cNvPicPr>
            <a:picLocks xmlns:a="http://schemas.openxmlformats.org/drawingml/2006/main" noChangeAspect="1"/>
          </p:cNvPicPr>
          <p:nvPr/>
        </p:nvPicPr>
        <p:blipFill>
          <a:blip xmlns:r="http://schemas.openxmlformats.org/officeDocument/2006/relationships" xmlns:a="http://schemas.openxmlformats.org/drawingml/2006/main" r:embed="Rd093a4af8ab0421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21104FF-CD28-4B84-AC0D-19761157228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79</a:t>
            </a:r>
          </a:p>
        </p:txBody>
      </p:sp>
      <p:sp>
        <p:nvSpPr>
          <p:cNvPr id="159" name="course-title">
            <a:extLst xmlns:a="http://schemas.openxmlformats.org/drawingml/2006/main">
              <a:ext uri="{FF2B5EF4-FFF2-40B4-BE49-F238E27FC236}">
                <a16:creationId xmlns:a16="http://schemas.microsoft.com/office/drawing/2014/main" id="{6BE36EE3-E93A-4CB2-8670-C620DC727B9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LoRA : combien de paramètres apprend-on ?</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ba67afc58f0a47d6"/>
          <a:stretch xmlns:a="http://schemas.openxmlformats.org/drawingml/2006/main"/>
        </p:blipFill>
        <p:spPr>
          <a:xfrm xmlns:a="http://schemas.openxmlformats.org/drawingml/2006/main">
            <a:off x="4081463" y="1895475"/>
            <a:ext cx="401955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6C4160F2-C734-4643-88D3-90F0295E6D3C}"/>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Compter les deux petites matrices, puis comparer à la matrice complète.</a:t>
            </a:r>
          </a:p>
        </p:txBody>
      </p:sp>
      <p:sp>
        <p:nvSpPr>
          <p:cNvPr id="162" name="formula-symbol-0">
            <a:extLst xmlns:a="http://schemas.openxmlformats.org/drawingml/2006/main">
              <a:ext uri="{FF2B5EF4-FFF2-40B4-BE49-F238E27FC236}">
                <a16:creationId xmlns:a16="http://schemas.microsoft.com/office/drawing/2014/main" id="{5BC623A0-A093-427F-AF0F-EA2705F7CD36}"/>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d_in, d_out : dimensions d’entrée et de sortie</a:t>
            </a:r>
          </a:p>
        </p:txBody>
      </p:sp>
      <p:sp>
        <p:nvSpPr>
          <p:cNvPr id="163" name="formula-symbol-1">
            <a:extLst xmlns:a="http://schemas.openxmlformats.org/drawingml/2006/main">
              <a:ext uri="{FF2B5EF4-FFF2-40B4-BE49-F238E27FC236}">
                <a16:creationId xmlns:a16="http://schemas.microsoft.com/office/drawing/2014/main" id="{CC63F63B-F518-4EF1-8FD2-A3DF58DF87DB}"/>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r : rang de l’adaptateur</a:t>
            </a:r>
          </a:p>
        </p:txBody>
      </p:sp>
      <p:sp>
        <p:nvSpPr>
          <p:cNvPr id="164" name="formula-symbol-2">
            <a:extLst xmlns:a="http://schemas.openxmlformats.org/drawingml/2006/main">
              <a:ext uri="{FF2B5EF4-FFF2-40B4-BE49-F238E27FC236}">
                <a16:creationId xmlns:a16="http://schemas.microsoft.com/office/drawing/2014/main" id="{8107E81C-2CEA-456F-B536-1280DC94C444}"/>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N_complet : paramètres de la matrice pleine</a:t>
            </a:r>
          </a:p>
        </p:txBody>
      </p:sp>
      <p:sp>
        <p:nvSpPr>
          <p:cNvPr id="165" name="formula-symbol-3">
            <a:extLst xmlns:a="http://schemas.openxmlformats.org/drawingml/2006/main">
              <a:ext uri="{FF2B5EF4-FFF2-40B4-BE49-F238E27FC236}">
                <a16:creationId xmlns:a16="http://schemas.microsoft.com/office/drawing/2014/main" id="{C9118C55-4C54-479C-A40E-063E29FD2426}"/>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N_LoRA : paramètres entraînables de A et B</a:t>
            </a:r>
          </a:p>
        </p:txBody>
      </p:sp>
      <p:sp>
        <p:nvSpPr>
          <p:cNvPr id="166" name="formula-example">
            <a:extLst xmlns:a="http://schemas.openxmlformats.org/drawingml/2006/main">
              <a:ext uri="{FF2B5EF4-FFF2-40B4-BE49-F238E27FC236}">
                <a16:creationId xmlns:a16="http://schemas.microsoft.com/office/drawing/2014/main" id="{FC9924A8-4CB1-4FEB-B5E8-8CCCFF30BB99}"/>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1 024² = 1 048 576 ; r = 8 → 16 384 paramètres LoRA, soit 1,5625 % pour cette matrice.</a:t>
            </a:r>
          </a:p>
        </p:txBody>
      </p:sp>
    </p:spTree>
    <p:extLst>
      <p:ext uri="{BB962C8B-B14F-4D97-AF65-F5344CB8AC3E}">
        <p14:creationId xmlns:p14="http://schemas.microsoft.com/office/powerpoint/2010/main" val="670304868"/>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327f0296792d4a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b895a4c00d841c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B44423F-05DB-4571-BF14-91169D37C65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80</a:t>
            </a:r>
          </a:p>
        </p:txBody>
      </p:sp>
      <p:sp>
        <p:nvSpPr>
          <p:cNvPr id="159" name="course-title">
            <a:extLst xmlns:a="http://schemas.openxmlformats.org/drawingml/2006/main">
              <a:ext uri="{FF2B5EF4-FFF2-40B4-BE49-F238E27FC236}">
                <a16:creationId xmlns:a16="http://schemas.microsoft.com/office/drawing/2014/main" id="{20CD94B5-F93A-4B9F-80F2-9FF54AEC3831}"/>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QLoRA : quantifier la base, entraîner les adaptateurs</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a79b3a38fedd4e29"/>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592869A4-EF4E-4078-88DC-6A42280668F6}"/>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Base stockée en NF4 ; calcul en FP16 ici ; seuls les adaptateurs sont entraînables.</a:t>
            </a:r>
          </a:p>
        </p:txBody>
      </p:sp>
    </p:spTree>
    <p:extLst>
      <p:ext uri="{BB962C8B-B14F-4D97-AF65-F5344CB8AC3E}">
        <p14:creationId xmlns:p14="http://schemas.microsoft.com/office/powerpoint/2010/main" val="670304868"/>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72" name="Google Shape;150;p8"/>
          <p:cNvPicPr>
            <a:picLocks xmlns:a="http://schemas.openxmlformats.org/drawingml/2006/main" noChangeAspect="1"/>
          </p:cNvPicPr>
          <p:nvPr/>
        </p:nvPicPr>
        <p:blipFill>
          <a:blip xmlns:r="http://schemas.openxmlformats.org/officeDocument/2006/relationships" xmlns:a="http://schemas.openxmlformats.org/drawingml/2006/main" r:embed="R109c31a652bf4c7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3" name="Google Shape;151;p8"/>
          <p:cNvPicPr>
            <a:picLocks xmlns:a="http://schemas.openxmlformats.org/drawingml/2006/main" noChangeAspect="1"/>
          </p:cNvPicPr>
          <p:nvPr/>
        </p:nvPicPr>
        <p:blipFill>
          <a:blip xmlns:r="http://schemas.openxmlformats.org/officeDocument/2006/relationships" xmlns:a="http://schemas.openxmlformats.org/drawingml/2006/main" r:embed="Rb782109528314f5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CA0B1F18-CDE1-4781-B923-8DEA66BA7F6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81</a:t>
            </a:r>
          </a:p>
        </p:txBody>
      </p:sp>
      <p:sp>
        <p:nvSpPr>
          <p:cNvPr id="159" name="course-title">
            <a:extLst xmlns:a="http://schemas.openxmlformats.org/drawingml/2006/main">
              <a:ext uri="{FF2B5EF4-FFF2-40B4-BE49-F238E27FC236}">
                <a16:creationId xmlns:a16="http://schemas.microsoft.com/office/drawing/2014/main" id="{1274FFB3-52F2-4DCC-913F-00EFA556E38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La mémoire des poids n'est pas la mémoire totale</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5eed4234c8764fa2"/>
          <a:stretch xmlns:a="http://schemas.openxmlformats.org/drawingml/2006/main"/>
        </p:blipFill>
        <p:spPr>
          <a:xfrm xmlns:a="http://schemas.openxmlformats.org/drawingml/2006/main">
            <a:off x="2738438" y="1895475"/>
            <a:ext cx="6705600" cy="1047750"/>
          </a:xfrm>
          <a:prstGeom xmlns:a="http://schemas.openxmlformats.org/drawingml/2006/main" prst="rect">
            <a:avLst/>
          </a:prstGeom>
        </p:spPr>
      </p:pic>
      <p:sp>
        <p:nvSpPr>
          <p:cNvPr id="161" name="formula-caption">
            <a:extLst xmlns:a="http://schemas.openxmlformats.org/drawingml/2006/main">
              <a:ext uri="{FF2B5EF4-FFF2-40B4-BE49-F238E27FC236}">
                <a16:creationId xmlns:a16="http://schemas.microsoft.com/office/drawing/2014/main" id="{B924D950-FBF4-4954-A9FE-E12773E59863}"/>
              </a:ext>
            </a:extLst>
          </p:cNvPr>
          <p:cNvSpPr>
            <a:spLocks xmlns:a="http://schemas.openxmlformats.org/drawingml/2006/main" noGrp="1"/>
          </p:cNvSpPr>
          <p:nvPr/>
        </p:nvSpPr>
        <p:spPr>
          <a:xfrm xmlns:a="http://schemas.openxmlformats.org/drawingml/2006/main">
            <a:off x="781050" y="3095625"/>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BF2E00"/>
                </a:solidFill>
                <a:latin typeface="DM Sans"/>
                <a:ea typeface="DM Sans"/>
                <a:cs typeface="DM Sans"/>
              </a:defRPr>
            </a:pPr>
            <a:r>
              <a:rPr sz="1800">
                <a:solidFill>
                  <a:srgbClr val="BF2E00"/>
                </a:solidFill>
                <a:latin typeface="DM Sans"/>
                <a:ea typeface="DM Sans"/>
                <a:cs typeface="DM Sans"/>
              </a:rPr>
              <a:t>Les poids ne représentent qu’une partie de la mémoire nécessaire.</a:t>
            </a:r>
          </a:p>
        </p:txBody>
      </p:sp>
      <p:sp>
        <p:nvSpPr>
          <p:cNvPr id="162" name="formula-symbol-0">
            <a:extLst xmlns:a="http://schemas.openxmlformats.org/drawingml/2006/main">
              <a:ext uri="{FF2B5EF4-FFF2-40B4-BE49-F238E27FC236}">
                <a16:creationId xmlns:a16="http://schemas.microsoft.com/office/drawing/2014/main" id="{0259598C-9914-4240-A8D8-68899283F0F8}"/>
              </a:ext>
            </a:extLst>
          </p:cNvPr>
          <p:cNvSpPr>
            <a:spLocks xmlns:a="http://schemas.openxmlformats.org/drawingml/2006/main" noGrp="1"/>
          </p:cNvSpPr>
          <p:nvPr/>
        </p:nvSpPr>
        <p:spPr>
          <a:xfrm xmlns:a="http://schemas.openxmlformats.org/drawingml/2006/main">
            <a:off x="7810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M_total : mémoire totale approximative</a:t>
            </a:r>
          </a:p>
        </p:txBody>
      </p:sp>
      <p:sp>
        <p:nvSpPr>
          <p:cNvPr id="163" name="formula-symbol-1">
            <a:extLst xmlns:a="http://schemas.openxmlformats.org/drawingml/2006/main">
              <a:ext uri="{FF2B5EF4-FFF2-40B4-BE49-F238E27FC236}">
                <a16:creationId xmlns:a16="http://schemas.microsoft.com/office/drawing/2014/main" id="{5E43F560-9316-4E09-87FE-D46B4D187EED}"/>
              </a:ext>
            </a:extLst>
          </p:cNvPr>
          <p:cNvSpPr>
            <a:spLocks xmlns:a="http://schemas.openxmlformats.org/drawingml/2006/main" noGrp="1"/>
          </p:cNvSpPr>
          <p:nvPr/>
        </p:nvSpPr>
        <p:spPr>
          <a:xfrm xmlns:a="http://schemas.openxmlformats.org/drawingml/2006/main">
            <a:off x="6229350" y="361950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M_poids : paramètres du modèle et adaptateurs</a:t>
            </a:r>
          </a:p>
        </p:txBody>
      </p:sp>
      <p:sp>
        <p:nvSpPr>
          <p:cNvPr id="164" name="formula-symbol-2">
            <a:extLst xmlns:a="http://schemas.openxmlformats.org/drawingml/2006/main">
              <a:ext uri="{FF2B5EF4-FFF2-40B4-BE49-F238E27FC236}">
                <a16:creationId xmlns:a16="http://schemas.microsoft.com/office/drawing/2014/main" id="{346FBC43-2FCF-4139-9F7C-05EE8985B1E4}"/>
              </a:ext>
            </a:extLst>
          </p:cNvPr>
          <p:cNvSpPr>
            <a:spLocks xmlns:a="http://schemas.openxmlformats.org/drawingml/2006/main" noGrp="1"/>
          </p:cNvSpPr>
          <p:nvPr/>
        </p:nvSpPr>
        <p:spPr>
          <a:xfrm xmlns:a="http://schemas.openxmlformats.org/drawingml/2006/main">
            <a:off x="7810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M_gradients, M_optimiseur : états d’apprentissage</a:t>
            </a:r>
          </a:p>
        </p:txBody>
      </p:sp>
      <p:sp>
        <p:nvSpPr>
          <p:cNvPr id="165" name="formula-symbol-3">
            <a:extLst xmlns:a="http://schemas.openxmlformats.org/drawingml/2006/main">
              <a:ext uri="{FF2B5EF4-FFF2-40B4-BE49-F238E27FC236}">
                <a16:creationId xmlns:a16="http://schemas.microsoft.com/office/drawing/2014/main" id="{190CF200-BBC9-4B7C-9E9E-5196C0F3C0AC}"/>
              </a:ext>
            </a:extLst>
          </p:cNvPr>
          <p:cNvSpPr>
            <a:spLocks xmlns:a="http://schemas.openxmlformats.org/drawingml/2006/main" noGrp="1"/>
          </p:cNvSpPr>
          <p:nvPr/>
        </p:nvSpPr>
        <p:spPr>
          <a:xfrm xmlns:a="http://schemas.openxmlformats.org/drawingml/2006/main">
            <a:off x="6229350" y="4086225"/>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M_activations : valeurs intermédiaires conservées</a:t>
            </a:r>
          </a:p>
        </p:txBody>
      </p:sp>
      <p:sp>
        <p:nvSpPr>
          <p:cNvPr id="166" name="formula-symbol-4">
            <a:extLst xmlns:a="http://schemas.openxmlformats.org/drawingml/2006/main">
              <a:ext uri="{FF2B5EF4-FFF2-40B4-BE49-F238E27FC236}">
                <a16:creationId xmlns:a16="http://schemas.microsoft.com/office/drawing/2014/main" id="{5C2ECFC0-3034-4948-9D3A-DB125CB84188}"/>
              </a:ext>
            </a:extLst>
          </p:cNvPr>
          <p:cNvSpPr>
            <a:spLocks xmlns:a="http://schemas.openxmlformats.org/drawingml/2006/main" noGrp="1"/>
          </p:cNvSpPr>
          <p:nvPr/>
        </p:nvSpPr>
        <p:spPr>
          <a:xfrm xmlns:a="http://schemas.openxmlformats.org/drawingml/2006/main">
            <a:off x="781050" y="4552950"/>
            <a:ext cx="5172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11111"/>
                </a:solidFill>
                <a:latin typeface="DM Sans"/>
                <a:ea typeface="DM Sans"/>
                <a:cs typeface="DM Sans"/>
              </a:defRPr>
            </a:pPr>
            <a:r>
              <a:rPr sz="1650">
                <a:solidFill>
                  <a:srgbClr val="111111"/>
                </a:solidFill>
                <a:latin typeface="DM Sans"/>
                <a:ea typeface="DM Sans"/>
                <a:cs typeface="DM Sans"/>
              </a:rPr>
              <a:t>M_buffers : mémoire de travail et autres tampons</a:t>
            </a:r>
          </a:p>
        </p:txBody>
      </p:sp>
      <p:sp>
        <p:nvSpPr>
          <p:cNvPr id="167" name="formula-example">
            <a:extLst xmlns:a="http://schemas.openxmlformats.org/drawingml/2006/main">
              <a:ext uri="{FF2B5EF4-FFF2-40B4-BE49-F238E27FC236}">
                <a16:creationId xmlns:a16="http://schemas.microsoft.com/office/drawing/2014/main" id="{55093125-BA52-4901-8C05-6A8FEE1F321B}"/>
              </a:ext>
            </a:extLst>
          </p:cNvPr>
          <p:cNvSpPr>
            <a:spLocks xmlns:a="http://schemas.openxmlformats.org/drawingml/2006/main" noGrp="1"/>
          </p:cNvSpPr>
          <p:nvPr/>
        </p:nvSpPr>
        <p:spPr>
          <a:xfrm xmlns:a="http://schemas.openxmlformats.org/drawingml/2006/main">
            <a:off x="781050" y="515302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82A59"/>
                </a:solidFill>
                <a:latin typeface="DM Sans"/>
                <a:ea typeface="DM Sans"/>
                <a:cs typeface="DM Sans"/>
              </a:defRPr>
            </a:pPr>
            <a:r>
              <a:rPr sz="1650" b="1">
                <a:solidFill>
                  <a:srgbClr val="282A59"/>
                </a:solidFill>
                <a:latin typeface="DM Sans"/>
                <a:ea typeface="DM Sans"/>
                <a:cs typeface="DM Sans"/>
              </a:rPr>
              <a:t>0,5 milliard × 2 octets = 1 Go de poids FP16 idéalisés, avant activations et autres états.</a:t>
            </a:r>
          </a:p>
        </p:txBody>
      </p:sp>
    </p:spTree>
    <p:extLst>
      <p:ext uri="{BB962C8B-B14F-4D97-AF65-F5344CB8AC3E}">
        <p14:creationId xmlns:p14="http://schemas.microsoft.com/office/powerpoint/2010/main" val="670304868"/>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43a9361794245d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0eb75e38d3274a1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4F6A01C-F96E-41DB-88D1-4B9A6A575FF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82</a:t>
            </a:r>
          </a:p>
        </p:txBody>
      </p:sp>
      <p:sp>
        <p:nvSpPr>
          <p:cNvPr id="159" name="course-title">
            <a:extLst xmlns:a="http://schemas.openxmlformats.org/drawingml/2006/main">
              <a:ext uri="{FF2B5EF4-FFF2-40B4-BE49-F238E27FC236}">
                <a16:creationId xmlns:a16="http://schemas.microsoft.com/office/drawing/2014/main" id="{8E9FB1D7-81EF-4CC6-96AC-0B9883BDE58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Quatre leviers à régler avec une raison</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Levier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Ce qu'il change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Contrepartie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Longueur max</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Tokens conservés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Risque de couper la réponse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Micro-batch</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Activations simultanées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Plus de passes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Accumulation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Batch effectif</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Temps et détails d'optimisation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Checkpointing</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Activations stockées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Recalcul supplémentaire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c97e6894f0542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76508ded6fc416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D384F46-542E-4C70-8D29-EB934343E8F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83</a:t>
            </a:r>
          </a:p>
        </p:txBody>
      </p:sp>
      <p:sp>
        <p:nvSpPr>
          <p:cNvPr id="159" name="course-title">
            <a:extLst xmlns:a="http://schemas.openxmlformats.org/drawingml/2006/main">
              <a:ext uri="{FF2B5EF4-FFF2-40B4-BE49-F238E27FC236}">
                <a16:creationId xmlns:a16="http://schemas.microsoft.com/office/drawing/2014/main" id="{5115DF41-A421-49C3-BAC1-EF7BF4D0E05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Après l'entraînement : base + adaptateur + tokenizer</a:t>
            </a:r>
          </a:p>
        </p:txBody>
      </p:sp>
      <p:sp>
        <p:nvSpPr>
          <p:cNvPr id="160" name="body-1">
            <a:extLst xmlns:a="http://schemas.openxmlformats.org/drawingml/2006/main">
              <a:ext uri="{FF2B5EF4-FFF2-40B4-BE49-F238E27FC236}">
                <a16:creationId xmlns:a16="http://schemas.microsoft.com/office/drawing/2014/main" id="{ACE86F17-0D25-432D-8DD3-5DE49D7F363F}"/>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Sauvegarder l'adaptateur et sa configuration.</a:t>
            </a:r>
          </a:p>
        </p:txBody>
      </p:sp>
      <p:sp>
        <p:nvSpPr>
          <p:cNvPr id="161" name="body-2">
            <a:extLst xmlns:a="http://schemas.openxmlformats.org/drawingml/2006/main">
              <a:ext uri="{FF2B5EF4-FFF2-40B4-BE49-F238E27FC236}">
                <a16:creationId xmlns:a16="http://schemas.microsoft.com/office/drawing/2014/main" id="{E7DBF951-9180-4426-85DE-EAA161389995}"/>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Retrouver le même checkpoint de base et la même révision.</a:t>
            </a:r>
          </a:p>
        </p:txBody>
      </p:sp>
      <p:sp>
        <p:nvSpPr>
          <p:cNvPr id="162" name="body-3">
            <a:extLst xmlns:a="http://schemas.openxmlformats.org/drawingml/2006/main">
              <a:ext uri="{FF2B5EF4-FFF2-40B4-BE49-F238E27FC236}">
                <a16:creationId xmlns:a16="http://schemas.microsoft.com/office/drawing/2014/main" id="{3698ED89-07C5-4C06-B3AC-930AEBA35972}"/>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Recharger l'ensemble dans un objet neuf pour tester l'inférence.</a:t>
            </a:r>
          </a:p>
        </p:txBody>
      </p:sp>
      <p:sp>
        <p:nvSpPr>
          <p:cNvPr id="163" name="body-4">
            <a:extLst xmlns:a="http://schemas.openxmlformats.org/drawingml/2006/main">
              <a:ext uri="{FF2B5EF4-FFF2-40B4-BE49-F238E27FC236}">
                <a16:creationId xmlns:a16="http://schemas.microsoft.com/office/drawing/2014/main" id="{38C0D14F-5DB9-4E36-86B2-72E86A8891F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base et adaptation avec les mêmes prompts et réglages.</a:t>
            </a:r>
          </a:p>
        </p:txBody>
      </p:sp>
    </p:spTree>
    <p:extLst>
      <p:ext uri="{BB962C8B-B14F-4D97-AF65-F5344CB8AC3E}">
        <p14:creationId xmlns:p14="http://schemas.microsoft.com/office/powerpoint/2010/main" val="670304868"/>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9cff96dd46da42f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48f54860e49495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5F72E615-4178-4288-9674-1DCE6873D187}"/>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84</a:t>
            </a:r>
          </a:p>
        </p:txBody>
      </p:sp>
      <p:sp>
        <p:nvSpPr>
          <p:cNvPr id="159" name="course-title">
            <a:extLst xmlns:a="http://schemas.openxmlformats.org/drawingml/2006/main">
              <a:ext uri="{FF2B5EF4-FFF2-40B4-BE49-F238E27FC236}">
                <a16:creationId xmlns:a16="http://schemas.microsoft.com/office/drawing/2014/main" id="{AE496980-1C69-4CBF-8253-2D33E2C66D3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Résumer : conserver les faits utiles sous une contrainte</a:t>
            </a:r>
          </a:p>
        </p:txBody>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d7d8046d93f24128"/>
          <a:stretch xmlns:a="http://schemas.openxmlformats.org/drawingml/2006/main"/>
        </p:blipFill>
        <p:spPr>
          <a:xfrm xmlns:a="http://schemas.openxmlformats.org/drawingml/2006/main">
            <a:off x="781050" y="1750516"/>
            <a:ext cx="10620375" cy="3318867"/>
          </a:xfrm>
          <a:prstGeom xmlns:a="http://schemas.openxmlformats.org/drawingml/2006/main" prst="rect">
            <a:avLst/>
          </a:prstGeom>
        </p:spPr>
      </p:pic>
      <p:sp>
        <p:nvSpPr>
          <p:cNvPr id="161" name="diagram-caption">
            <a:extLst xmlns:a="http://schemas.openxmlformats.org/drawingml/2006/main">
              <a:ext uri="{FF2B5EF4-FFF2-40B4-BE49-F238E27FC236}">
                <a16:creationId xmlns:a16="http://schemas.microsoft.com/office/drawing/2014/main" id="{C1450A01-3E32-449A-8B88-0635F0BC52C6}"/>
              </a:ext>
            </a:extLst>
          </p:cNvPr>
          <p:cNvSpPr>
            <a:spLocks xmlns:a="http://schemas.openxmlformats.org/drawingml/2006/main" noGrp="1"/>
          </p:cNvSpPr>
          <p:nvPr/>
        </p:nvSpPr>
        <p:spPr>
          <a:xfrm xmlns:a="http://schemas.openxmlformats.org/drawingml/2006/main">
            <a:off x="781050" y="52006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BF2E00"/>
                </a:solidFill>
                <a:latin typeface="DM Sans"/>
                <a:ea typeface="DM Sans"/>
                <a:cs typeface="DM Sans"/>
              </a:defRPr>
            </a:pPr>
            <a:r>
              <a:rPr sz="1725">
                <a:solidFill>
                  <a:srgbClr val="BF2E00"/>
                </a:solidFill>
                <a:latin typeface="DM Sans"/>
                <a:ea typeface="DM Sans"/>
                <a:cs typeface="DM Sans"/>
              </a:rPr>
              <a:t>Chaque affirmation du résumé doit être étayée par un fait de la source.</a:t>
            </a:r>
          </a:p>
        </p:txBody>
      </p:sp>
    </p:spTree>
    <p:extLst>
      <p:ext uri="{BB962C8B-B14F-4D97-AF65-F5344CB8AC3E}">
        <p14:creationId xmlns:p14="http://schemas.microsoft.com/office/powerpoint/2010/main" val="670304868"/>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1614f835367494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f6f57ae44354e4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55F3905-62A9-447B-8590-D97AB24D4D9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85</a:t>
            </a:r>
          </a:p>
        </p:txBody>
      </p:sp>
      <p:sp>
        <p:nvSpPr>
          <p:cNvPr id="159" name="course-title">
            <a:extLst xmlns:a="http://schemas.openxmlformats.org/drawingml/2006/main">
              <a:ext uri="{FF2B5EF4-FFF2-40B4-BE49-F238E27FC236}">
                <a16:creationId xmlns:a16="http://schemas.microsoft.com/office/drawing/2014/main" id="{9D1F07CF-D1B4-4456-A3FD-03C1B215237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ROUGE mesure un recouvrement, pas la vérité</a:t>
            </a:r>
          </a:p>
        </p:txBody>
      </p:sp>
      <p:sp>
        <p:nvSpPr>
          <p:cNvPr id="160" name="body-1">
            <a:extLst xmlns:a="http://schemas.openxmlformats.org/drawingml/2006/main">
              <a:ext uri="{FF2B5EF4-FFF2-40B4-BE49-F238E27FC236}">
                <a16:creationId xmlns:a16="http://schemas.microsoft.com/office/drawing/2014/main" id="{F4AB86CC-5307-4662-93E3-5F73EAF1FF63}"/>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ROUGE-1 : recouvrement d'unités lexicales selon la tokenisation.</a:t>
            </a:r>
          </a:p>
        </p:txBody>
      </p:sp>
      <p:sp>
        <p:nvSpPr>
          <p:cNvPr id="161" name="body-2">
            <a:extLst xmlns:a="http://schemas.openxmlformats.org/drawingml/2006/main">
              <a:ext uri="{FF2B5EF4-FFF2-40B4-BE49-F238E27FC236}">
                <a16:creationId xmlns:a16="http://schemas.microsoft.com/office/drawing/2014/main" id="{0403F2EF-743A-4F32-A192-A3F1223381C7}"/>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ROUGE-L : similarité fondée sur une sous-séquence commune.</a:t>
            </a:r>
          </a:p>
        </p:txBody>
      </p:sp>
      <p:sp>
        <p:nvSpPr>
          <p:cNvPr id="162" name="body-3">
            <a:extLst xmlns:a="http://schemas.openxmlformats.org/drawingml/2006/main">
              <a:ext uri="{FF2B5EF4-FFF2-40B4-BE49-F238E27FC236}">
                <a16:creationId xmlns:a16="http://schemas.microsoft.com/office/drawing/2014/main" id="{3214C941-E4AF-435E-9102-783B686BC0CC}"/>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bonne paraphrase peut partager peu de mots.</a:t>
            </a:r>
          </a:p>
        </p:txBody>
      </p:sp>
      <p:sp>
        <p:nvSpPr>
          <p:cNvPr id="163" name="body-4">
            <a:extLst xmlns:a="http://schemas.openxmlformats.org/drawingml/2006/main">
              <a:ext uri="{FF2B5EF4-FFF2-40B4-BE49-F238E27FC236}">
                <a16:creationId xmlns:a16="http://schemas.microsoft.com/office/drawing/2014/main" id="{4622CA58-CCE6-49D5-B994-7E4F7CA5E055}"/>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phrase presque identique peut inverser un fait crucial.</a:t>
            </a:r>
          </a:p>
        </p:txBody>
      </p:sp>
    </p:spTree>
    <p:extLst>
      <p:ext uri="{BB962C8B-B14F-4D97-AF65-F5344CB8AC3E}">
        <p14:creationId xmlns:p14="http://schemas.microsoft.com/office/powerpoint/2010/main" val="670304868"/>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2958fe853174ca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1add518a95944e9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EA91E9C-AEB1-4594-9DCE-EB38809CDE25}"/>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86</a:t>
            </a:r>
          </a:p>
        </p:txBody>
      </p:sp>
      <p:sp>
        <p:nvSpPr>
          <p:cNvPr id="159" name="course-title">
            <a:extLst xmlns:a="http://schemas.openxmlformats.org/drawingml/2006/main">
              <a:ext uri="{FF2B5EF4-FFF2-40B4-BE49-F238E27FC236}">
                <a16:creationId xmlns:a16="http://schemas.microsoft.com/office/drawing/2014/main" id="{73186A51-A227-4FD6-B46D-DD949143A06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Relier chaque affirmation à une preuve dans la source</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Affirmation du résumé</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Présente dans la source ?</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Verdict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Colis AB123 reçu mardi</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Oui</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Conservée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Un article manque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Oui</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Conservée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Remboursement effectué</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Non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Invention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Client demande une vérification</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Oui, mais omise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Information perdue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623bcb4604642e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8b362a6da17488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FA0EBE1-7C02-40DD-8DF0-869A296F05F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87</a:t>
            </a:r>
          </a:p>
        </p:txBody>
      </p:sp>
      <p:sp>
        <p:nvSpPr>
          <p:cNvPr id="159" name="course-title">
            <a:extLst xmlns:a="http://schemas.openxmlformats.org/drawingml/2006/main">
              <a:ext uri="{FF2B5EF4-FFF2-40B4-BE49-F238E27FC236}">
                <a16:creationId xmlns:a16="http://schemas.microsoft.com/office/drawing/2014/main" id="{8C62D458-08FD-4947-9029-9ADC40C3F03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Vérifier ce qui est réellement entraîné et évalué</a:t>
            </a:r>
          </a:p>
        </p:txBody>
      </p:sp>
      <p:sp>
        <p:nvSpPr>
          <p:cNvPr id="160" name="body-1">
            <a:extLst xmlns:a="http://schemas.openxmlformats.org/drawingml/2006/main">
              <a:ext uri="{FF2B5EF4-FFF2-40B4-BE49-F238E27FC236}">
                <a16:creationId xmlns:a16="http://schemas.microsoft.com/office/drawing/2014/main" id="{D69C9B30-7B26-4853-8E12-7D0253FD7909}"/>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SFT et LoRA désignent-ils la même chose ?</a:t>
            </a:r>
          </a:p>
        </p:txBody>
      </p:sp>
      <p:sp>
        <p:nvSpPr>
          <p:cNvPr id="161" name="body-2">
            <a:extLst xmlns:a="http://schemas.openxmlformats.org/drawingml/2006/main">
              <a:ext uri="{FF2B5EF4-FFF2-40B4-BE49-F238E27FC236}">
                <a16:creationId xmlns:a16="http://schemas.microsoft.com/office/drawing/2014/main" id="{68E068E8-7AE9-46E7-8885-F602213D9FB5}"/>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QLoRA signifie-t-il que tous les calculs se font en 4 bits ?</a:t>
            </a:r>
          </a:p>
        </p:txBody>
      </p:sp>
      <p:sp>
        <p:nvSpPr>
          <p:cNvPr id="162" name="body-3">
            <a:extLst xmlns:a="http://schemas.openxmlformats.org/drawingml/2006/main">
              <a:ext uri="{FF2B5EF4-FFF2-40B4-BE49-F238E27FC236}">
                <a16:creationId xmlns:a16="http://schemas.microsoft.com/office/drawing/2014/main" id="{526E73B0-ED9D-4C0B-94E4-0B4B5EBD520C}"/>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Pourquoi inspecter les labels du batch SFT ?</a:t>
            </a:r>
          </a:p>
        </p:txBody>
      </p:sp>
      <p:sp>
        <p:nvSpPr>
          <p:cNvPr id="163" name="body-4">
            <a:extLst xmlns:a="http://schemas.openxmlformats.org/drawingml/2006/main">
              <a:ext uri="{FF2B5EF4-FFF2-40B4-BE49-F238E27FC236}">
                <a16:creationId xmlns:a16="http://schemas.microsoft.com/office/drawing/2014/main" id="{0C069676-859E-43E6-A98E-B2BB2B31CA7E}"/>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meilleur ROUGE prouve-t-il un résumé plus fidèle ?</a:t>
            </a:r>
          </a:p>
        </p:txBody>
      </p:sp>
    </p:spTree>
    <p:extLst>
      <p:ext uri="{BB962C8B-B14F-4D97-AF65-F5344CB8AC3E}">
        <p14:creationId xmlns:p14="http://schemas.microsoft.com/office/powerpoint/2010/main" val="670304868"/>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a166e16cd7f4d3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5314be7de42046f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ED7817C4-6801-4B03-92AC-B6F310DBD27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88</a:t>
            </a:r>
          </a:p>
        </p:txBody>
      </p:sp>
      <p:sp>
        <p:nvSpPr>
          <p:cNvPr id="159" name="course-title">
            <a:extLst xmlns:a="http://schemas.openxmlformats.org/drawingml/2006/main">
              <a:ext uri="{FF2B5EF4-FFF2-40B4-BE49-F238E27FC236}">
                <a16:creationId xmlns:a16="http://schemas.microsoft.com/office/drawing/2014/main" id="{7D4555ED-136C-4241-831B-D26BE462290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4A · Préparer les démonstrations et la supervision</a:t>
            </a:r>
          </a:p>
        </p:txBody>
      </p:sp>
      <p:sp>
        <p:nvSpPr>
          <p:cNvPr id="160" name="concrete-example">
            <a:extLst xmlns:a="http://schemas.openxmlformats.org/drawingml/2006/main">
              <a:ext uri="{FF2B5EF4-FFF2-40B4-BE49-F238E27FC236}">
                <a16:creationId xmlns:a16="http://schemas.microsoft.com/office/drawing/2014/main" id="{4448380F-7187-4AD0-877C-19B3EB26FBEF}"/>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05_j4_sft_lora.ipynb · 80 min</a:t>
            </a:r>
          </a:p>
        </p:txBody>
      </p:sp>
      <p:sp>
        <p:nvSpPr>
          <p:cNvPr id="161" name="body-1">
            <a:extLst xmlns:a="http://schemas.openxmlformats.org/drawingml/2006/main">
              <a:ext uri="{FF2B5EF4-FFF2-40B4-BE49-F238E27FC236}">
                <a16:creationId xmlns:a16="http://schemas.microsoft.com/office/drawing/2014/main" id="{9A2BBAE1-63E2-46FE-B9B0-F062E912C94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Auditer les paires prompt/completion et les partitions.</a:t>
            </a:r>
          </a:p>
        </p:txBody>
      </p:sp>
      <p:sp>
        <p:nvSpPr>
          <p:cNvPr id="162" name="body-2">
            <a:extLst xmlns:a="http://schemas.openxmlformats.org/drawingml/2006/main">
              <a:ext uri="{FF2B5EF4-FFF2-40B4-BE49-F238E27FC236}">
                <a16:creationId xmlns:a16="http://schemas.microsoft.com/office/drawing/2014/main" id="{9B337E48-A61B-4DF1-AE7E-E318AC7C7216}"/>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Afficher le rendu du chat template de Qwen.</a:t>
            </a:r>
          </a:p>
        </p:txBody>
      </p:sp>
      <p:sp>
        <p:nvSpPr>
          <p:cNvPr id="163" name="body-3">
            <a:extLst xmlns:a="http://schemas.openxmlformats.org/drawingml/2006/main">
              <a:ext uri="{FF2B5EF4-FFF2-40B4-BE49-F238E27FC236}">
                <a16:creationId xmlns:a16="http://schemas.microsoft.com/office/drawing/2014/main" id="{8908F238-8343-4C13-BF29-C2DF0A8EECA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le batch réel et les positions labels = −100.</a:t>
            </a:r>
          </a:p>
        </p:txBody>
      </p:sp>
      <p:sp>
        <p:nvSpPr>
          <p:cNvPr id="164" name="body-4">
            <a:extLst xmlns:a="http://schemas.openxmlformats.org/drawingml/2006/main">
              <a:ext uri="{FF2B5EF4-FFF2-40B4-BE49-F238E27FC236}">
                <a16:creationId xmlns:a16="http://schemas.microsoft.com/office/drawing/2014/main" id="{CF18732E-BD15-439E-8150-560A7752223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cinq exemples validés et masque expliqué.</a:t>
            </a:r>
          </a:p>
        </p:txBody>
      </p:sp>
    </p:spTree>
    <p:extLst>
      <p:ext uri="{BB962C8B-B14F-4D97-AF65-F5344CB8AC3E}">
        <p14:creationId xmlns:p14="http://schemas.microsoft.com/office/powerpoint/2010/main" val="670304868"/>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2d42460d45c4e6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58dff1b0d03848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2DAD7F6-4DF1-4081-8074-EF53B04B808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89</a:t>
            </a:r>
          </a:p>
        </p:txBody>
      </p:sp>
      <p:sp>
        <p:nvSpPr>
          <p:cNvPr id="159" name="course-title">
            <a:extLst xmlns:a="http://schemas.openxmlformats.org/drawingml/2006/main">
              <a:ext uri="{FF2B5EF4-FFF2-40B4-BE49-F238E27FC236}">
                <a16:creationId xmlns:a16="http://schemas.microsoft.com/office/drawing/2014/main" id="{ED1B9A7F-27C8-4F4E-AE42-CF13EC464D9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4B · Entraîner un adaptateur et mesurer l'effet</a:t>
            </a:r>
          </a:p>
        </p:txBody>
      </p:sp>
      <p:sp>
        <p:nvSpPr>
          <p:cNvPr id="160" name="concrete-example">
            <a:extLst xmlns:a="http://schemas.openxmlformats.org/drawingml/2006/main">
              <a:ext uri="{FF2B5EF4-FFF2-40B4-BE49-F238E27FC236}">
                <a16:creationId xmlns:a16="http://schemas.microsoft.com/office/drawing/2014/main" id="{7BB36CF8-C80A-422A-81FA-66FE03EF0ADE}"/>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05_j4_sft_lora.ipynb · 80 min</a:t>
            </a:r>
          </a:p>
        </p:txBody>
      </p:sp>
      <p:sp>
        <p:nvSpPr>
          <p:cNvPr id="161" name="body-1">
            <a:extLst xmlns:a="http://schemas.openxmlformats.org/drawingml/2006/main">
              <a:ext uri="{FF2B5EF4-FFF2-40B4-BE49-F238E27FC236}">
                <a16:creationId xmlns:a16="http://schemas.microsoft.com/office/drawing/2014/main" id="{4A9C548E-AE6A-4CA9-8B03-F08AFA492174}"/>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modules ciblés et paramètres entraînables.</a:t>
            </a:r>
          </a:p>
        </p:txBody>
      </p:sp>
      <p:sp>
        <p:nvSpPr>
          <p:cNvPr id="162" name="body-2">
            <a:extLst xmlns:a="http://schemas.openxmlformats.org/drawingml/2006/main">
              <a:ext uri="{FF2B5EF4-FFF2-40B4-BE49-F238E27FC236}">
                <a16:creationId xmlns:a16="http://schemas.microsoft.com/office/drawing/2014/main" id="{2F8BE238-7DD7-4C30-AAAB-1B837BED882A}"/>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Mesurer une étape avant de lancer la courte expérience.</a:t>
            </a:r>
          </a:p>
        </p:txBody>
      </p:sp>
      <p:sp>
        <p:nvSpPr>
          <p:cNvPr id="163" name="body-3">
            <a:extLst xmlns:a="http://schemas.openxmlformats.org/drawingml/2006/main">
              <a:ext uri="{FF2B5EF4-FFF2-40B4-BE49-F238E27FC236}">
                <a16:creationId xmlns:a16="http://schemas.microsoft.com/office/drawing/2014/main" id="{C6A8AE40-9CA9-4DC6-AC3B-1E3D19BA3D0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base et adaptateur sur les mêmes cas réservés.</a:t>
            </a:r>
          </a:p>
        </p:txBody>
      </p:sp>
      <p:sp>
        <p:nvSpPr>
          <p:cNvPr id="164" name="body-4">
            <a:extLst xmlns:a="http://schemas.openxmlformats.org/drawingml/2006/main">
              <a:ext uri="{FF2B5EF4-FFF2-40B4-BE49-F238E27FC236}">
                <a16:creationId xmlns:a16="http://schemas.microsoft.com/office/drawing/2014/main" id="{D8515894-7FB7-4A38-B88E-0CC32A594DC9}"/>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adaptateur rechargeable, sorties et limites.</a:t>
            </a:r>
          </a:p>
        </p:txBody>
      </p:sp>
    </p:spTree>
    <p:extLst>
      <p:ext uri="{BB962C8B-B14F-4D97-AF65-F5344CB8AC3E}">
        <p14:creationId xmlns:p14="http://schemas.microsoft.com/office/powerpoint/2010/main" val="670304868"/>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9fa3a89ea3174cc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a2785bbfa8c450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BD8BBB75-FA57-476C-B0FF-1486D847973E}"/>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90</a:t>
            </a:r>
          </a:p>
        </p:txBody>
      </p:sp>
      <p:sp>
        <p:nvSpPr>
          <p:cNvPr id="159" name="course-title">
            <a:extLst xmlns:a="http://schemas.openxmlformats.org/drawingml/2006/main">
              <a:ext uri="{FF2B5EF4-FFF2-40B4-BE49-F238E27FC236}">
                <a16:creationId xmlns:a16="http://schemas.microsoft.com/office/drawing/2014/main" id="{CF5D6810-D021-4038-9C79-DF1792DD84D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4C · Fine-tuner un LoRA dédié au résumé</a:t>
            </a:r>
          </a:p>
        </p:txBody>
      </p:sp>
      <p:sp>
        <p:nvSpPr>
          <p:cNvPr id="160" name="concrete-example">
            <a:extLst xmlns:a="http://schemas.openxmlformats.org/drawingml/2006/main">
              <a:ext uri="{FF2B5EF4-FFF2-40B4-BE49-F238E27FC236}">
                <a16:creationId xmlns:a16="http://schemas.microsoft.com/office/drawing/2014/main" id="{1BD4F3DE-7C95-4477-972C-F55E584EC8E8}"/>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06_j4_resume_evaluation.ipynb · 40 min</a:t>
            </a:r>
          </a:p>
        </p:txBody>
      </p:sp>
      <p:sp>
        <p:nvSpPr>
          <p:cNvPr id="161" name="body-1">
            <a:extLst xmlns:a="http://schemas.openxmlformats.org/drawingml/2006/main">
              <a:ext uri="{FF2B5EF4-FFF2-40B4-BE49-F238E27FC236}">
                <a16:creationId xmlns:a16="http://schemas.microsoft.com/office/drawing/2014/main" id="{513286B3-7B3C-4D7D-9546-6518D117C4E9}"/>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Inspecter 16 comptes rendus train, 2 validation et 4 test.</a:t>
            </a:r>
          </a:p>
        </p:txBody>
      </p:sp>
      <p:sp>
        <p:nvSpPr>
          <p:cNvPr id="162" name="body-2">
            <a:extLst xmlns:a="http://schemas.openxmlformats.org/drawingml/2006/main">
              <a:ext uri="{FF2B5EF4-FFF2-40B4-BE49-F238E27FC236}">
                <a16:creationId xmlns:a16="http://schemas.microsoft.com/office/drawing/2014/main" id="{9D5DCE88-34D4-4F8A-BC53-DF538015616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Préparer le template et la supervision des réponses de résumé.</a:t>
            </a:r>
          </a:p>
        </p:txBody>
      </p:sp>
      <p:sp>
        <p:nvSpPr>
          <p:cNvPr id="163" name="body-3">
            <a:extLst xmlns:a="http://schemas.openxmlformats.org/drawingml/2006/main">
              <a:ext uri="{FF2B5EF4-FFF2-40B4-BE49-F238E27FC236}">
                <a16:creationId xmlns:a16="http://schemas.microsoft.com/office/drawing/2014/main" id="{129A74D1-7480-4C23-B87F-588E5BBD2617}"/>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Lancer 12 pas LoRA sur le modèle de base, selon le budget réel.</a:t>
            </a:r>
          </a:p>
        </p:txBody>
      </p:sp>
      <p:sp>
        <p:nvSpPr>
          <p:cNvPr id="164" name="body-4">
            <a:extLst xmlns:a="http://schemas.openxmlformats.org/drawingml/2006/main">
              <a:ext uri="{FF2B5EF4-FFF2-40B4-BE49-F238E27FC236}">
                <a16:creationId xmlns:a16="http://schemas.microsoft.com/office/drawing/2014/main" id="{6DE2E35E-0178-4733-BD6B-A612FD4D00B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adaptateur résumé distinct de celui du support.</a:t>
            </a:r>
          </a:p>
        </p:txBody>
      </p:sp>
    </p:spTree>
    <p:extLst>
      <p:ext uri="{BB962C8B-B14F-4D97-AF65-F5344CB8AC3E}">
        <p14:creationId xmlns:p14="http://schemas.microsoft.com/office/powerpoint/2010/main" val="670304868"/>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1bb09ece883946b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cf49045464074c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J4 · LLM et adaptation</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6E9F6F9-6CA8-4CEC-ABFF-12E511097B0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91</a:t>
            </a:r>
          </a:p>
        </p:txBody>
      </p:sp>
      <p:sp>
        <p:nvSpPr>
          <p:cNvPr id="159" name="course-title">
            <a:extLst xmlns:a="http://schemas.openxmlformats.org/drawingml/2006/main">
              <a:ext uri="{FF2B5EF4-FFF2-40B4-BE49-F238E27FC236}">
                <a16:creationId xmlns:a16="http://schemas.microsoft.com/office/drawing/2014/main" id="{0E6EA6F2-4AAC-4FDC-94D4-C5CFAD27066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4D · Comparer extractif, base et résumé adapté</a:t>
            </a:r>
          </a:p>
        </p:txBody>
      </p:sp>
      <p:sp>
        <p:nvSpPr>
          <p:cNvPr id="160" name="concrete-example">
            <a:extLst xmlns:a="http://schemas.openxmlformats.org/drawingml/2006/main">
              <a:ext uri="{FF2B5EF4-FFF2-40B4-BE49-F238E27FC236}">
                <a16:creationId xmlns:a16="http://schemas.microsoft.com/office/drawing/2014/main" id="{C96E6A99-BF60-40DD-9EF2-387B39444622}"/>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06_j4_resume_evaluation.ipynb · 40 min</a:t>
            </a:r>
          </a:p>
        </p:txBody>
      </p:sp>
      <p:sp>
        <p:nvSpPr>
          <p:cNvPr id="161" name="body-1">
            <a:extLst xmlns:a="http://schemas.openxmlformats.org/drawingml/2006/main">
              <a:ext uri="{FF2B5EF4-FFF2-40B4-BE49-F238E27FC236}">
                <a16:creationId xmlns:a16="http://schemas.microsoft.com/office/drawing/2014/main" id="{A2FB4811-DEF6-4B6C-B8C3-513E2523AC9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Évaluer les trois méthodes sur les mêmes 4 textes test réservés.</a:t>
            </a:r>
          </a:p>
        </p:txBody>
      </p:sp>
      <p:sp>
        <p:nvSpPr>
          <p:cNvPr id="162" name="body-2">
            <a:extLst xmlns:a="http://schemas.openxmlformats.org/drawingml/2006/main">
              <a:ext uri="{FF2B5EF4-FFF2-40B4-BE49-F238E27FC236}">
                <a16:creationId xmlns:a16="http://schemas.microsoft.com/office/drawing/2014/main" id="{13D272A0-FD3A-42B0-BD84-B5ACF63BBAFC}"/>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Confronter ROUGE à fidélité, couverture et format.</a:t>
            </a:r>
          </a:p>
        </p:txBody>
      </p:sp>
      <p:sp>
        <p:nvSpPr>
          <p:cNvPr id="163" name="body-3">
            <a:extLst xmlns:a="http://schemas.openxmlformats.org/drawingml/2006/main">
              <a:ext uri="{FF2B5EF4-FFF2-40B4-BE49-F238E27FC236}">
                <a16:creationId xmlns:a16="http://schemas.microsoft.com/office/drawing/2014/main" id="{DEBD97CA-589D-4A68-8367-2FCDE15B71A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Annoter omissions, contradictions et ajouts non étayés.</a:t>
            </a:r>
          </a:p>
        </p:txBody>
      </p:sp>
      <p:sp>
        <p:nvSpPr>
          <p:cNvPr id="164" name="body-4">
            <a:extLst xmlns:a="http://schemas.openxmlformats.org/drawingml/2006/main">
              <a:ext uri="{FF2B5EF4-FFF2-40B4-BE49-F238E27FC236}">
                <a16:creationId xmlns:a16="http://schemas.microsoft.com/office/drawing/2014/main" id="{8AF326FC-9D9B-4D9C-B61D-05802428475A}"/>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sorties comparées, adaptateur et conclusion prudente.</a:t>
            </a:r>
          </a:p>
        </p:txBody>
      </p:sp>
    </p:spTree>
    <p:extLst>
      <p:ext uri="{BB962C8B-B14F-4D97-AF65-F5344CB8AC3E}">
        <p14:creationId xmlns:p14="http://schemas.microsoft.com/office/powerpoint/2010/main" val="670304868"/>
      </p:ext>
    </p:extLst>
  </p:cSld>
</p:sld>
</file>

<file path=ppt/slides/slide92.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FD5C2D8C-21D6-4707-8FAA-B0542EC77135}"/>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7DB5612A-C039-498B-85B8-09EE800E7FC7}"/>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5400">
                <a:solidFill>
                  <a:srgbClr val="FFFFFF"/>
                </a:solidFill>
              </a:defRPr>
            </a:pPr>
            <a:r>
              <a:rPr sz="5400" b="0" i="0" u="none" cap="none">
                <a:solidFill>
                  <a:srgbClr val="FFFFFF"/>
                </a:solidFill>
                <a:latin typeface="DM Sans"/>
                <a:ea typeface="DM Sans"/>
                <a:cs typeface="DM Sans"/>
              </a:rPr>
              <a:t>05</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240693C7-BE4D-4D75-94EB-D563F296B8DF}"/>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5" name="Google Shape;135;p7">
            <a:extLst xmlns:a="http://schemas.openxmlformats.org/drawingml/2006/main">
              <a:ext uri="{FF2B5EF4-FFF2-40B4-BE49-F238E27FC236}">
                <a16:creationId xmlns:a16="http://schemas.microsoft.com/office/drawing/2014/main" id="{B439467A-E017-41DC-A833-770DEE2765AB}"/>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rgbClr val="FFFFFF"/>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5B0196A7-6A0B-4B3E-BA07-17DBBEC67AB7}"/>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rgbClr val="FFFFFF"/>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52" name="Google Shape;137;p7"/>
          <p:cNvPicPr>
            <a:picLocks xmlns:a="http://schemas.openxmlformats.org/drawingml/2006/main" noChangeAspect="1"/>
          </p:cNvPicPr>
          <p:nvPr/>
        </p:nvPicPr>
        <p:blipFill>
          <a:blip xmlns:r="http://schemas.openxmlformats.org/officeDocument/2006/relationships" xmlns:a="http://schemas.openxmlformats.org/drawingml/2006/main" r:embed="R5baf97f8211f4af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3" name="Google Shape;138;p7"/>
          <p:cNvPicPr>
            <a:picLocks xmlns:a="http://schemas.openxmlformats.org/drawingml/2006/main" noChangeAspect="1"/>
          </p:cNvPicPr>
          <p:nvPr/>
        </p:nvPicPr>
        <p:blipFill>
          <a:blip xmlns:r="http://schemas.openxmlformats.org/officeDocument/2006/relationships" xmlns:a="http://schemas.openxmlformats.org/drawingml/2006/main" r:embed="Rc1a33ee4eda447e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FDFDD261-2375-43FA-968D-AFD80CC8CDE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8D3D6140-90B1-4865-B259-F260B95C63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folio">
            <a:extLst xmlns:a="http://schemas.openxmlformats.org/drawingml/2006/main">
              <a:ext uri="{FF2B5EF4-FFF2-40B4-BE49-F238E27FC236}">
                <a16:creationId xmlns:a16="http://schemas.microsoft.com/office/drawing/2014/main" id="{C254083A-F9FC-4BB5-8696-3FA659ADF84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92</a:t>
            </a:r>
          </a:p>
        </p:txBody>
      </p:sp>
      <p:sp>
        <p:nvSpPr>
          <p:cNvPr id="144" name="section-title">
            <a:extLst xmlns:a="http://schemas.openxmlformats.org/drawingml/2006/main">
              <a:ext uri="{FF2B5EF4-FFF2-40B4-BE49-F238E27FC236}">
                <a16:creationId xmlns:a16="http://schemas.microsoft.com/office/drawing/2014/main" id="{DF6F423A-8AC6-4FC7-8BB4-3FDBE42E49D5}"/>
              </a:ext>
            </a:extLst>
          </p:cNvPr>
          <p:cNvSpPr>
            <a:spLocks xmlns:a="http://schemas.openxmlformats.org/drawingml/2006/main" noGrp="1"/>
          </p:cNvSpPr>
          <p:nvPr/>
        </p:nvSpPr>
        <p:spPr>
          <a:xfrm xmlns:a="http://schemas.openxmlformats.org/drawingml/2006/main">
            <a:off x="2590800" y="1952625"/>
            <a:ext cx="8429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600">
                <a:solidFill>
                  <a:srgbClr val="FFFFFF"/>
                </a:solidFill>
                <a:latin typeface="Archivo Black"/>
                <a:ea typeface="Archivo Black"/>
                <a:cs typeface="Archivo Black"/>
              </a:defRPr>
            </a:pPr>
            <a:r>
              <a:rPr sz="3600">
                <a:solidFill>
                  <a:srgbClr val="FFFFFF"/>
                </a:solidFill>
                <a:latin typeface="Archivo Black"/>
                <a:ea typeface="Archivo Black"/>
                <a:cs typeface="Archivo Black"/>
              </a:rPr>
              <a:t>Évaluer, présenter et défendre un système</a:t>
            </a:r>
          </a:p>
        </p:txBody>
      </p:sp>
      <p:sp>
        <p:nvSpPr>
          <p:cNvPr id="145" name="day-goal">
            <a:extLst xmlns:a="http://schemas.openxmlformats.org/drawingml/2006/main">
              <a:ext uri="{FF2B5EF4-FFF2-40B4-BE49-F238E27FC236}">
                <a16:creationId xmlns:a16="http://schemas.microsoft.com/office/drawing/2014/main" id="{5A0B5810-EC94-4C68-87AD-908442B91331}"/>
              </a:ext>
            </a:extLst>
          </p:cNvPr>
          <p:cNvSpPr>
            <a:spLocks xmlns:a="http://schemas.openxmlformats.org/drawingml/2006/main" noGrp="1"/>
          </p:cNvSpPr>
          <p:nvPr/>
        </p:nvSpPr>
        <p:spPr>
          <a:xfrm xmlns:a="http://schemas.openxmlformats.org/drawingml/2006/main">
            <a:off x="952500" y="4229100"/>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DM Sans"/>
                <a:ea typeface="DM Sans"/>
                <a:cs typeface="DM Sans"/>
              </a:defRPr>
            </a:pPr>
            <a:r>
              <a:rPr sz="2025">
                <a:solidFill>
                  <a:srgbClr val="FFFFFF"/>
                </a:solidFill>
                <a:latin typeface="DM Sans"/>
                <a:ea typeface="DM Sans"/>
                <a:cs typeface="DM Sans"/>
              </a:rPr>
              <a:t>Le résultat utile est une décision accompagnée de preuves.</a:t>
            </a:r>
          </a:p>
        </p:txBody>
      </p:sp>
      <p:sp>
        <p:nvSpPr>
          <p:cNvPr id="146" name="day-agenda">
            <a:extLst xmlns:a="http://schemas.openxmlformats.org/drawingml/2006/main">
              <a:ext uri="{FF2B5EF4-FFF2-40B4-BE49-F238E27FC236}">
                <a16:creationId xmlns:a16="http://schemas.microsoft.com/office/drawing/2014/main" id="{41BACD47-3581-4DF2-8AD0-EB3DAD03DEC0}"/>
              </a:ext>
            </a:extLst>
          </p:cNvPr>
          <p:cNvSpPr>
            <a:spLocks xmlns:a="http://schemas.openxmlformats.org/drawingml/2006/main" noGrp="1"/>
          </p:cNvSpPr>
          <p:nvPr/>
        </p:nvSpPr>
        <p:spPr>
          <a:xfrm xmlns:a="http://schemas.openxmlformats.org/drawingml/2006/main">
            <a:off x="952500" y="50768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Matin : protocole, erreurs, coût, démo et documentation.</a:t>
            </a:r>
          </a:p>
          <a:p xmlns:a="http://schemas.openxmlformats.org/drawingml/2006/main">
            <a:pPr>
              <a:defRPr sz="1500">
                <a:solidFill>
                  <a:srgbClr val="FFFFFF"/>
                </a:solidFill>
                <a:latin typeface="DM Sans"/>
                <a:ea typeface="DM Sans"/>
                <a:cs typeface="DM Sans"/>
              </a:defRPr>
            </a:pPr>
            <a:r>
              <a:rPr sz="1500">
                <a:solidFill>
                  <a:srgbClr val="FFFFFF"/>
                </a:solidFill>
                <a:latin typeface="DM Sans"/>
                <a:ea typeface="DM Sans"/>
                <a:cs typeface="DM Sans"/>
              </a:rPr>
              <a:t>Après-midi : mini-projet comparatif et soutenances.</a:t>
            </a:r>
          </a:p>
        </p:txBody>
      </p:sp>
    </p:spTree>
    <p:extLst>
      <p:ext uri="{BB962C8B-B14F-4D97-AF65-F5344CB8AC3E}">
        <p14:creationId xmlns:p14="http://schemas.microsoft.com/office/powerpoint/2010/main" val="614088245"/>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8bb20618d1448e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64064f801a249a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68CE349-570A-4CA7-89F8-AEAE6D12DDD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93</a:t>
            </a:r>
          </a:p>
        </p:txBody>
      </p:sp>
      <p:sp>
        <p:nvSpPr>
          <p:cNvPr id="159" name="course-title">
            <a:extLst xmlns:a="http://schemas.openxmlformats.org/drawingml/2006/main">
              <a:ext uri="{FF2B5EF4-FFF2-40B4-BE49-F238E27FC236}">
                <a16:creationId xmlns:a16="http://schemas.microsoft.com/office/drawing/2014/main" id="{2C5B210A-027F-46C3-BCB1-6C22526C2EC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Avant le score, écrire le contrat d'évaluation</a:t>
            </a:r>
          </a:p>
        </p:txBody>
      </p:sp>
      <p:sp>
        <p:nvSpPr>
          <p:cNvPr id="160" name="body-1">
            <a:extLst xmlns:a="http://schemas.openxmlformats.org/drawingml/2006/main">
              <a:ext uri="{FF2B5EF4-FFF2-40B4-BE49-F238E27FC236}">
                <a16:creationId xmlns:a16="http://schemas.microsoft.com/office/drawing/2014/main" id="{F5849C34-B8E1-4798-8F0D-43E1C9D17FDD}"/>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tâche et quelle population de messages ?</a:t>
            </a:r>
          </a:p>
        </p:txBody>
      </p:sp>
      <p:sp>
        <p:nvSpPr>
          <p:cNvPr id="161" name="body-2">
            <a:extLst xmlns:a="http://schemas.openxmlformats.org/drawingml/2006/main">
              <a:ext uri="{FF2B5EF4-FFF2-40B4-BE49-F238E27FC236}">
                <a16:creationId xmlns:a16="http://schemas.microsoft.com/office/drawing/2014/main" id="{57EDEF3F-AD26-47FB-BF96-50F99FE89AF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référence, quelle métrique et quel coût d'erreur ?</a:t>
            </a:r>
          </a:p>
        </p:txBody>
      </p:sp>
      <p:sp>
        <p:nvSpPr>
          <p:cNvPr id="162" name="body-3">
            <a:extLst xmlns:a="http://schemas.openxmlformats.org/drawingml/2006/main">
              <a:ext uri="{FF2B5EF4-FFF2-40B4-BE49-F238E27FC236}">
                <a16:creationId xmlns:a16="http://schemas.microsoft.com/office/drawing/2014/main" id="{B6A2F3EB-D3B4-4C5B-91C0-E1477611A2C3}"/>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Quelles données sont réservées à la décision finale ?</a:t>
            </a:r>
          </a:p>
        </p:txBody>
      </p:sp>
      <p:sp>
        <p:nvSpPr>
          <p:cNvPr id="163" name="body-4">
            <a:extLst xmlns:a="http://schemas.openxmlformats.org/drawingml/2006/main">
              <a:ext uri="{FF2B5EF4-FFF2-40B4-BE49-F238E27FC236}">
                <a16:creationId xmlns:a16="http://schemas.microsoft.com/office/drawing/2014/main" id="{E4E79349-5D4D-4EC3-A7E2-E7122DCAE02D}"/>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preuve ferait changer notre choix de modèle ?</a:t>
            </a:r>
          </a:p>
        </p:txBody>
      </p:sp>
    </p:spTree>
    <p:extLst>
      <p:ext uri="{BB962C8B-B14F-4D97-AF65-F5344CB8AC3E}">
        <p14:creationId xmlns:p14="http://schemas.microsoft.com/office/powerpoint/2010/main" val="670304868"/>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583e9a26bc9e4df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59594219fef642c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807A51F8-18EE-4F81-A5AC-8429D74045A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94</a:t>
            </a:r>
          </a:p>
        </p:txBody>
      </p:sp>
      <p:sp>
        <p:nvSpPr>
          <p:cNvPr id="159" name="course-title">
            <a:extLst xmlns:a="http://schemas.openxmlformats.org/drawingml/2006/main">
              <a:ext uri="{FF2B5EF4-FFF2-40B4-BE49-F238E27FC236}">
                <a16:creationId xmlns:a16="http://schemas.microsoft.com/office/drawing/2014/main" id="{8CCFF26C-6D4D-45EB-8801-4E5214B6E627}"/>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Comparer qualité, coût et fiabilité d'exécution</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Axe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Mesure possible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Question</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Qualité</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F1 entités, grille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La tâche est-elle réussie ?</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Coût</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Temps, mémoire, taille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À quel prix technique ?</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Robustesse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Cas difficiles et hors domaine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Quand cela échoue-t-il ?</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Reproductibilité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Rechargement et versions</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Peut-on refaire le résultat ?</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1fa85a5c98e45b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545662f6568442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800D2FB-0D3A-442B-9621-D08D409E056B}"/>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95</a:t>
            </a:r>
          </a:p>
        </p:txBody>
      </p:sp>
      <p:sp>
        <p:nvSpPr>
          <p:cNvPr id="159" name="course-title">
            <a:extLst xmlns:a="http://schemas.openxmlformats.org/drawingml/2006/main">
              <a:ext uri="{FF2B5EF4-FFF2-40B4-BE49-F238E27FC236}">
                <a16:creationId xmlns:a16="http://schemas.microsoft.com/office/drawing/2014/main" id="{AE674C47-E3DA-4905-9EB0-C85A18FBD9D3}"/>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baseline zéro-shot exige aussi un protocole</a:t>
            </a:r>
          </a:p>
        </p:txBody>
      </p:sp>
      <p:sp>
        <p:nvSpPr>
          <p:cNvPr id="160" name="concrete-example">
            <a:extLst xmlns:a="http://schemas.openxmlformats.org/drawingml/2006/main">
              <a:ext uri="{FF2B5EF4-FFF2-40B4-BE49-F238E27FC236}">
                <a16:creationId xmlns:a16="http://schemas.microsoft.com/office/drawing/2014/main" id="{E9099539-F0ED-4DC2-B412-CEAAF6CEF7A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Demander au LLM un label parmi les cinq classes, sans exemples d'entraînement dans le prompt.</a:t>
            </a:r>
          </a:p>
        </p:txBody>
      </p:sp>
      <p:sp>
        <p:nvSpPr>
          <p:cNvPr id="161" name="body-1">
            <a:extLst xmlns:a="http://schemas.openxmlformats.org/drawingml/2006/main">
              <a:ext uri="{FF2B5EF4-FFF2-40B4-BE49-F238E27FC236}">
                <a16:creationId xmlns:a16="http://schemas.microsoft.com/office/drawing/2014/main" id="{CD1F9079-0B7C-49B5-A70E-945A5DBDBABF}"/>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les classes et le format de sortie dans une consigne fixe.</a:t>
            </a:r>
          </a:p>
        </p:txBody>
      </p:sp>
      <p:sp>
        <p:nvSpPr>
          <p:cNvPr id="162" name="body-2">
            <a:extLst xmlns:a="http://schemas.openxmlformats.org/drawingml/2006/main">
              <a:ext uri="{FF2B5EF4-FFF2-40B4-BE49-F238E27FC236}">
                <a16:creationId xmlns:a16="http://schemas.microsoft.com/office/drawing/2014/main" id="{5E16D643-0924-412D-A1CE-1A456E7598EC}"/>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le décodage et la règle de parsing.</a:t>
            </a:r>
          </a:p>
        </p:txBody>
      </p:sp>
      <p:sp>
        <p:nvSpPr>
          <p:cNvPr id="163" name="body-3">
            <a:extLst xmlns:a="http://schemas.openxmlformats.org/drawingml/2006/main">
              <a:ext uri="{FF2B5EF4-FFF2-40B4-BE49-F238E27FC236}">
                <a16:creationId xmlns:a16="http://schemas.microsoft.com/office/drawing/2014/main" id="{FD6BC2B1-B556-4DDE-BDC2-F9A0DE6A554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Compter les sorties invalides au lieu de les faire disparaître.</a:t>
            </a:r>
          </a:p>
        </p:txBody>
      </p:sp>
      <p:sp>
        <p:nvSpPr>
          <p:cNvPr id="164" name="body-4">
            <a:extLst xmlns:a="http://schemas.openxmlformats.org/drawingml/2006/main">
              <a:ext uri="{FF2B5EF4-FFF2-40B4-BE49-F238E27FC236}">
                <a16:creationId xmlns:a16="http://schemas.microsoft.com/office/drawing/2014/main" id="{836CFCBC-3382-4BCF-9975-A52DD4E8AC17}"/>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Employer les mêmes messages test que pour les autres méthodes.</a:t>
            </a:r>
          </a:p>
        </p:txBody>
      </p:sp>
    </p:spTree>
    <p:extLst>
      <p:ext uri="{BB962C8B-B14F-4D97-AF65-F5344CB8AC3E}">
        <p14:creationId xmlns:p14="http://schemas.microsoft.com/office/powerpoint/2010/main" val="670304868"/>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cf0c7a1b2c643a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6588f111491142e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D91C004-AC61-4B4C-A2EF-3212DD0E3FE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96</a:t>
            </a:r>
          </a:p>
        </p:txBody>
      </p:sp>
      <p:sp>
        <p:nvSpPr>
          <p:cNvPr id="159" name="course-title">
            <a:extLst xmlns:a="http://schemas.openxmlformats.org/drawingml/2006/main">
              <a:ext uri="{FF2B5EF4-FFF2-40B4-BE49-F238E27FC236}">
                <a16:creationId xmlns:a16="http://schemas.microsoft.com/office/drawing/2014/main" id="{4E8E9365-7C43-4CAD-B8D5-3EE5439BE43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La métrique dépend de l'unité de réussite</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Tâche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Unité évaluée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Mesure de départ</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Classification</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Message + classe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Macro-F1 et matrice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NER</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Segment + type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F1 d'entités strict</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Recherche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Requête + documents pertinents</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Recall@k défini</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Résumé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Faits et texte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ROUGE + grille humaine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5e0d7bc53cd45c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6e5755ef8d1447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441B950F-17D4-464D-894D-8CEEFF5FDD62}"/>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97</a:t>
            </a:r>
          </a:p>
        </p:txBody>
      </p:sp>
      <p:sp>
        <p:nvSpPr>
          <p:cNvPr id="159" name="course-title">
            <a:extLst xmlns:a="http://schemas.openxmlformats.org/drawingml/2006/main">
              <a:ext uri="{FF2B5EF4-FFF2-40B4-BE49-F238E27FC236}">
                <a16:creationId xmlns:a16="http://schemas.microsoft.com/office/drawing/2014/main" id="{6B85F929-3020-466A-A242-B509CB88441C}"/>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Découper les résultats pour trouver les fragilités</a:t>
            </a:r>
          </a:p>
        </p:txBody>
      </p:sp>
      <p:sp>
        <p:nvSpPr>
          <p:cNvPr id="160" name="body-1">
            <a:extLst xmlns:a="http://schemas.openxmlformats.org/drawingml/2006/main">
              <a:ext uri="{FF2B5EF4-FFF2-40B4-BE49-F238E27FC236}">
                <a16:creationId xmlns:a16="http://schemas.microsoft.com/office/drawing/2014/main" id="{9269FCF1-AA11-4B2E-B148-5C3DB272F3B4}"/>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Messages courts contre messages longs.</a:t>
            </a:r>
          </a:p>
        </p:txBody>
      </p:sp>
      <p:sp>
        <p:nvSpPr>
          <p:cNvPr id="161" name="body-2">
            <a:extLst xmlns:a="http://schemas.openxmlformats.org/drawingml/2006/main">
              <a:ext uri="{FF2B5EF4-FFF2-40B4-BE49-F238E27FC236}">
                <a16:creationId xmlns:a16="http://schemas.microsoft.com/office/drawing/2014/main" id="{39B6E9AD-4792-4B1D-B15B-085B2D8720ED}"/>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intention contre plusieurs demandes.</a:t>
            </a:r>
          </a:p>
        </p:txBody>
      </p:sp>
      <p:sp>
        <p:nvSpPr>
          <p:cNvPr id="162" name="body-3">
            <a:extLst xmlns:a="http://schemas.openxmlformats.org/drawingml/2006/main">
              <a:ext uri="{FF2B5EF4-FFF2-40B4-BE49-F238E27FC236}">
                <a16:creationId xmlns:a16="http://schemas.microsoft.com/office/drawing/2014/main" id="{FA529985-1887-4473-9681-694CD6B1D0ED}"/>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Formulation fréquente contre paraphrase nouvelle.</a:t>
            </a:r>
          </a:p>
        </p:txBody>
      </p:sp>
      <p:sp>
        <p:nvSpPr>
          <p:cNvPr id="163" name="body-4">
            <a:extLst xmlns:a="http://schemas.openxmlformats.org/drawingml/2006/main">
              <a:ext uri="{FF2B5EF4-FFF2-40B4-BE49-F238E27FC236}">
                <a16:creationId xmlns:a16="http://schemas.microsoft.com/office/drawing/2014/main" id="{9A131ADC-8DD0-4614-8C86-10AC3BB5ABC1}"/>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Français standard contre fautes, accents manquants ou mélange de langues.</a:t>
            </a:r>
          </a:p>
        </p:txBody>
      </p:sp>
    </p:spTree>
    <p:extLst>
      <p:ext uri="{BB962C8B-B14F-4D97-AF65-F5344CB8AC3E}">
        <p14:creationId xmlns:p14="http://schemas.microsoft.com/office/powerpoint/2010/main" val="670304868"/>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038b3b115f8444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5cea7df6371453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9A525434-2907-4B9F-AE8B-F44E5672714C}"/>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98</a:t>
            </a:r>
          </a:p>
        </p:txBody>
      </p:sp>
      <p:sp>
        <p:nvSpPr>
          <p:cNvPr id="159" name="course-title">
            <a:extLst xmlns:a="http://schemas.openxmlformats.org/drawingml/2006/main">
              <a:ext uri="{FF2B5EF4-FFF2-40B4-BE49-F238E27FC236}">
                <a16:creationId xmlns:a16="http://schemas.microsoft.com/office/drawing/2014/main" id="{E8659CD2-B4FA-42AD-A66C-4B1A80187AF6}"/>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 petit test produit un résultat incertain</a:t>
            </a:r>
          </a:p>
        </p:txBody>
      </p:sp>
      <p:sp>
        <p:nvSpPr>
          <p:cNvPr id="160" name="concrete-example">
            <a:extLst xmlns:a="http://schemas.openxmlformats.org/drawingml/2006/main">
              <a:ext uri="{FF2B5EF4-FFF2-40B4-BE49-F238E27FC236}">
                <a16:creationId xmlns:a16="http://schemas.microsoft.com/office/drawing/2014/main" id="{60CE2DF5-4E49-4AAC-B4B6-7827742511FC}"/>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Sur 20 exemples, une erreur de plus change l'accuracy de 5 points.</a:t>
            </a:r>
          </a:p>
        </p:txBody>
      </p:sp>
      <p:sp>
        <p:nvSpPr>
          <p:cNvPr id="161" name="body-1">
            <a:extLst xmlns:a="http://schemas.openxmlformats.org/drawingml/2006/main">
              <a:ext uri="{FF2B5EF4-FFF2-40B4-BE49-F238E27FC236}">
                <a16:creationId xmlns:a16="http://schemas.microsoft.com/office/drawing/2014/main" id="{915719BA-C977-4218-AB0C-50871D18FA45}"/>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Rapporter le nombre d'exemples avec chaque score.</a:t>
            </a:r>
          </a:p>
        </p:txBody>
      </p:sp>
      <p:sp>
        <p:nvSpPr>
          <p:cNvPr id="162" name="body-2">
            <a:extLst xmlns:a="http://schemas.openxmlformats.org/drawingml/2006/main">
              <a:ext uri="{FF2B5EF4-FFF2-40B4-BE49-F238E27FC236}">
                <a16:creationId xmlns:a16="http://schemas.microsoft.com/office/drawing/2014/main" id="{E6A1DCC8-CE39-4DB2-ABCA-137823ECFF09}"/>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Comparer les mêmes cas, pas deux échantillons différents.</a:t>
            </a:r>
          </a:p>
        </p:txBody>
      </p:sp>
      <p:sp>
        <p:nvSpPr>
          <p:cNvPr id="163" name="body-3">
            <a:extLst xmlns:a="http://schemas.openxmlformats.org/drawingml/2006/main">
              <a:ext uri="{FF2B5EF4-FFF2-40B4-BE49-F238E27FC236}">
                <a16:creationId xmlns:a16="http://schemas.microsoft.com/office/drawing/2014/main" id="{07A345FB-39E0-419F-B8FA-2D59AD3C3057}"/>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Distinguer variation de données et variation d'entraînement.</a:t>
            </a:r>
          </a:p>
        </p:txBody>
      </p:sp>
      <p:sp>
        <p:nvSpPr>
          <p:cNvPr id="164" name="body-4">
            <a:extLst xmlns:a="http://schemas.openxmlformats.org/drawingml/2006/main">
              <a:ext uri="{FF2B5EF4-FFF2-40B4-BE49-F238E27FC236}">
                <a16:creationId xmlns:a16="http://schemas.microsoft.com/office/drawing/2014/main" id="{FBDF1E5F-8201-45A3-8133-C9C6BCA9870B}"/>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Utiliser rééchantillonnage ou répétitions seulement avec un protocole clair.</a:t>
            </a:r>
          </a:p>
        </p:txBody>
      </p:sp>
    </p:spTree>
    <p:extLst>
      <p:ext uri="{BB962C8B-B14F-4D97-AF65-F5344CB8AC3E}">
        <p14:creationId xmlns:p14="http://schemas.microsoft.com/office/powerpoint/2010/main" val="670304868"/>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11b1be7833d54d2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094e785392f2456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9580844-AB66-4CA7-BE03-7FC01AFB32AD}"/>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99</a:t>
            </a:r>
          </a:p>
        </p:txBody>
      </p:sp>
      <p:sp>
        <p:nvSpPr>
          <p:cNvPr id="159" name="course-title">
            <a:extLst xmlns:a="http://schemas.openxmlformats.org/drawingml/2006/main">
              <a:ext uri="{FF2B5EF4-FFF2-40B4-BE49-F238E27FC236}">
                <a16:creationId xmlns:a16="http://schemas.microsoft.com/office/drawing/2014/main" id="{8BF798FE-0B83-4A46-B85C-24FF05544D1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Une grille humaine doit rendre les jugements comparables</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2655094"/>
                <a:gridCol w="2655094"/>
                <a:gridCol w="2655094"/>
                <a:gridCol w="2655094"/>
              </a:tblGrid>
              <a:tr h="485775">
                <a:tc>
                  <a:txBody>
                    <a:bodyPr>
                      <a:noAutofit/>
                    </a:bodyPr>
                    <a:lstStyle/>
                    <a:p>
                      <a:r>
                        <a:rPr sz="1500" b="1">
                          <a:solidFill>
                            <a:srgbClr val="FFFFFF"/>
                          </a:solidFill>
                          <a:latin typeface="DM Sans"/>
                          <a:ea typeface="DM Sans"/>
                          <a:cs typeface="DM Sans"/>
                        </a:rPr>
                        <a:t>Critère</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0</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1</a:t>
                      </a:r>
                    </a:p>
                  </a:txBody>
                  <a:tcPr marL="114300" marR="114300" marT="85725" marB="85725" anchor="ctr">
                    <a:solidFill>
                      <a:srgbClr val="282A59"/>
                    </a:solidFill>
                  </a:tcPr>
                </a:tc>
                <a:tc>
                  <a:txBody>
                    <a:bodyPr>
                      <a:noAutofit/>
                    </a:bodyPr>
                    <a:lstStyle/>
                    <a:p>
                      <a:r>
                        <a:rPr sz="1500" b="1">
                          <a:solidFill>
                            <a:srgbClr val="FFFFFF"/>
                          </a:solidFill>
                          <a:latin typeface="DM Sans"/>
                          <a:ea typeface="DM Sans"/>
                          <a:cs typeface="DM Sans"/>
                        </a:rPr>
                        <a:t>2</a:t>
                      </a:r>
                    </a:p>
                  </a:txBody>
                  <a:tcPr marL="114300" marR="114300" marT="85725" marB="85725" anchor="ctr">
                    <a:solidFill>
                      <a:srgbClr val="282A59"/>
                    </a:solidFill>
                  </a:tcPr>
                </a:tc>
              </a:tr>
              <a:tr h="485775">
                <a:tc>
                  <a:txBody>
                    <a:bodyPr>
                      <a:noAutofit/>
                    </a:bodyPr>
                    <a:lstStyle/>
                    <a:p>
                      <a:r>
                        <a:rPr sz="1500" b="0">
                          <a:solidFill>
                            <a:srgbClr val="111111"/>
                          </a:solidFill>
                          <a:latin typeface="DM Sans"/>
                          <a:ea typeface="DM Sans"/>
                          <a:cs typeface="DM Sans"/>
                        </a:rPr>
                        <a:t>Fidélité</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Fait inventé/contredit</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Ambiguïté mineure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Faits étayés</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Couverture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Information clé absente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Partielle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Essentiel présent</a:t>
                      </a:r>
                    </a:p>
                  </a:txBody>
                  <a:tcPr marL="114300" marR="114300" marT="85725" marB="85725" anchor="ctr">
                    <a:solidFill>
                      <a:srgbClr val="FFFFFF"/>
                    </a:solidFill>
                  </a:tcPr>
                </a:tc>
              </a:tr>
              <a:tr h="485775">
                <a:tc>
                  <a:txBody>
                    <a:bodyPr>
                      <a:noAutofit/>
                    </a:bodyPr>
                    <a:lstStyle/>
                    <a:p>
                      <a:r>
                        <a:rPr sz="1500" b="0">
                          <a:solidFill>
                            <a:srgbClr val="111111"/>
                          </a:solidFill>
                          <a:latin typeface="DM Sans"/>
                          <a:ea typeface="DM Sans"/>
                          <a:cs typeface="DM Sans"/>
                        </a:rPr>
                        <a:t>Format</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Inexploitable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Correction nécessaire</a:t>
                      </a:r>
                    </a:p>
                  </a:txBody>
                  <a:tcPr marL="114300" marR="114300" marT="85725" marB="85725" anchor="ctr">
                    <a:solidFill>
                      <a:srgbClr val="F4F3F2"/>
                    </a:solidFill>
                  </a:tcPr>
                </a:tc>
                <a:tc>
                  <a:txBody>
                    <a:bodyPr>
                      <a:noAutofit/>
                    </a:bodyPr>
                    <a:lstStyle/>
                    <a:p>
                      <a:r>
                        <a:rPr sz="1500" b="0">
                          <a:solidFill>
                            <a:srgbClr val="111111"/>
                          </a:solidFill>
                          <a:latin typeface="DM Sans"/>
                          <a:ea typeface="DM Sans"/>
                          <a:cs typeface="DM Sans"/>
                        </a:rPr>
                        <a:t>Conforme</a:t>
                      </a:r>
                    </a:p>
                  </a:txBody>
                  <a:tcPr marL="114300" marR="114300" marT="85725" marB="85725" anchor="ctr">
                    <a:solidFill>
                      <a:srgbClr val="F4F3F2"/>
                    </a:solidFill>
                  </a:tcPr>
                </a:tc>
              </a:tr>
              <a:tr h="485775">
                <a:tc>
                  <a:txBody>
                    <a:bodyPr>
                      <a:noAutofit/>
                    </a:bodyPr>
                    <a:lstStyle/>
                    <a:p>
                      <a:r>
                        <a:rPr sz="1500" b="0">
                          <a:solidFill>
                            <a:srgbClr val="111111"/>
                          </a:solidFill>
                          <a:latin typeface="DM Sans"/>
                          <a:ea typeface="DM Sans"/>
                          <a:cs typeface="DM Sans"/>
                        </a:rPr>
                        <a:t>Lisibilité</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Confus</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Compréhensible</a:t>
                      </a:r>
                    </a:p>
                  </a:txBody>
                  <a:tcPr marL="114300" marR="114300" marT="85725" marB="85725" anchor="ctr">
                    <a:solidFill>
                      <a:srgbClr val="FFFFFF"/>
                    </a:solidFill>
                  </a:tcPr>
                </a:tc>
                <a:tc>
                  <a:txBody>
                    <a:bodyPr>
                      <a:noAutofit/>
                    </a:bodyPr>
                    <a:lstStyle/>
                    <a:p>
                      <a:r>
                        <a:rPr sz="1500" b="0">
                          <a:solidFill>
                            <a:srgbClr val="111111"/>
                          </a:solidFill>
                          <a:latin typeface="DM Sans"/>
                          <a:ea typeface="DM Sans"/>
                          <a:cs typeface="DM Sans"/>
                        </a:rPr>
                        <a:t>Clair et concis</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21d2eb88348405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71f87e1055b4c5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D9979AD2-15F4-4B6E-80DE-B48A03EEC49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100</a:t>
            </a:r>
          </a:p>
        </p:txBody>
      </p:sp>
      <p:sp>
        <p:nvSpPr>
          <p:cNvPr id="159" name="course-title">
            <a:extLst xmlns:a="http://schemas.openxmlformats.org/drawingml/2006/main">
              <a:ext uri="{FF2B5EF4-FFF2-40B4-BE49-F238E27FC236}">
                <a16:creationId xmlns:a16="http://schemas.microsoft.com/office/drawing/2014/main" id="{66CF9479-43F8-4DF6-9D9E-95A1F848E9EE}"/>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Un LLM juge peut aider, mais il faut aussi le contrôler</a:t>
            </a:r>
          </a:p>
        </p:txBody>
      </p:sp>
      <p:sp>
        <p:nvSpPr>
          <p:cNvPr id="160" name="body-1">
            <a:extLst xmlns:a="http://schemas.openxmlformats.org/drawingml/2006/main">
              <a:ext uri="{FF2B5EF4-FFF2-40B4-BE49-F238E27FC236}">
                <a16:creationId xmlns:a16="http://schemas.microsoft.com/office/drawing/2014/main" id="{75A011CD-AABB-495F-9944-06F565C9D2C6}"/>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Donner une grille précise et les éléments de référence.</a:t>
            </a:r>
          </a:p>
        </p:txBody>
      </p:sp>
      <p:sp>
        <p:nvSpPr>
          <p:cNvPr id="161" name="body-2">
            <a:extLst xmlns:a="http://schemas.openxmlformats.org/drawingml/2006/main">
              <a:ext uri="{FF2B5EF4-FFF2-40B4-BE49-F238E27FC236}">
                <a16:creationId xmlns:a16="http://schemas.microsoft.com/office/drawing/2014/main" id="{F3CD3D6B-4843-4F06-9039-0B723C434AD0}"/>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Masquer l'identité des systèmes comparés.</a:t>
            </a:r>
          </a:p>
        </p:txBody>
      </p:sp>
      <p:sp>
        <p:nvSpPr>
          <p:cNvPr id="162" name="body-3">
            <a:extLst xmlns:a="http://schemas.openxmlformats.org/drawingml/2006/main">
              <a:ext uri="{FF2B5EF4-FFF2-40B4-BE49-F238E27FC236}">
                <a16:creationId xmlns:a16="http://schemas.microsoft.com/office/drawing/2014/main" id="{B7BFE022-34D6-488C-8DC0-3F357C7105BF}"/>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Tester l'effet de l'ordre des réponses.</a:t>
            </a:r>
          </a:p>
        </p:txBody>
      </p:sp>
      <p:sp>
        <p:nvSpPr>
          <p:cNvPr id="163" name="body-4">
            <a:extLst xmlns:a="http://schemas.openxmlformats.org/drawingml/2006/main">
              <a:ext uri="{FF2B5EF4-FFF2-40B4-BE49-F238E27FC236}">
                <a16:creationId xmlns:a16="http://schemas.microsoft.com/office/drawing/2014/main" id="{AA205918-62F7-4CF0-AA39-C108587322D8}"/>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un échantillon humain avant d'utiliser ses notes.</a:t>
            </a:r>
          </a:p>
        </p:txBody>
      </p:sp>
    </p:spTree>
    <p:extLst>
      <p:ext uri="{BB962C8B-B14F-4D97-AF65-F5344CB8AC3E}">
        <p14:creationId xmlns:p14="http://schemas.microsoft.com/office/powerpoint/2010/main" val="670304868"/>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a1d931c95e974ab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34bdfc7ffd1f44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E06400C-ACD8-4BAC-85D7-CD314CFD9A8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101</a:t>
            </a:r>
          </a:p>
        </p:txBody>
      </p:sp>
      <p:sp>
        <p:nvSpPr>
          <p:cNvPr id="159" name="course-title">
            <a:extLst xmlns:a="http://schemas.openxmlformats.org/drawingml/2006/main">
              <a:ext uri="{FF2B5EF4-FFF2-40B4-BE49-F238E27FC236}">
                <a16:creationId xmlns:a16="http://schemas.microsoft.com/office/drawing/2014/main" id="{1876CF0C-7558-4D6E-97AD-EB3BABB9D1E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Analyser une erreur pour décider d'une action</a:t>
            </a:r>
          </a:p>
        </p:txBody>
      </p:sp>
      <p:graphicFrame>
        <p:nvGraphicFramePr>
          <p:cNvPr id="173" name=""/>
          <p:cNvGraphicFramePr/>
          <p:nvPr/>
        </p:nvGraphicFramePr>
        <p:xfrm>
          <a:off xmlns:a="http://schemas.openxmlformats.org/drawingml/2006/main" x="781050" y="1952625"/>
          <a:ext xmlns:a="http://schemas.openxmlformats.org/drawingml/2006/main" cx="10620375" cy="2428875"/>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Erreur observée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Cause à vérifier</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Action possible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Mauvais label de référence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Convention ambiguë</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Clarifier et tracer</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Indice en fin de texte perdu</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Troncature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Adapter longueur/segmentation</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Sortie LLM invalide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Consigne ou décodage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Fixer format + validation</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Fait inventé</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Source absente ou ignorée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Contexte + contrôle</a:t>
                      </a:r>
                    </a:p>
                  </a:txBody>
                  <a:tcPr marL="114300" marR="114300" marT="85725" marB="85725" anchor="ctr">
                    <a:solidFill>
                      <a:srgbClr val="FFFFFF"/>
                    </a:solidFill>
                  </a:tcPr>
                </a:tc>
              </a:tr>
            </a:tbl>
          </a:graphicData>
        </a:graphic>
      </p:graphicFrame>
    </p:spTree>
    <p:extLst>
      <p:ext uri="{BB962C8B-B14F-4D97-AF65-F5344CB8AC3E}">
        <p14:creationId xmlns:p14="http://schemas.microsoft.com/office/powerpoint/2010/main" val="670304868"/>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efa9375f94214c3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e0624e3599f4e3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013E72AA-2044-457E-ACC5-0E08D0766F7F}"/>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102</a:t>
            </a:r>
          </a:p>
        </p:txBody>
      </p:sp>
      <p:sp>
        <p:nvSpPr>
          <p:cNvPr id="159" name="course-title">
            <a:extLst xmlns:a="http://schemas.openxmlformats.org/drawingml/2006/main">
              <a:ext uri="{FF2B5EF4-FFF2-40B4-BE49-F238E27FC236}">
                <a16:creationId xmlns:a16="http://schemas.microsoft.com/office/drawing/2014/main" id="{1BB7DDA4-D952-47CB-84D8-3815E613FD3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Tester la robustesse avec des variations contrôlées</a:t>
            </a:r>
          </a:p>
        </p:txBody>
      </p:sp>
      <p:sp>
        <p:nvSpPr>
          <p:cNvPr id="160" name="concrete-example">
            <a:extLst xmlns:a="http://schemas.openxmlformats.org/drawingml/2006/main">
              <a:ext uri="{FF2B5EF4-FFF2-40B4-BE49-F238E27FC236}">
                <a16:creationId xmlns:a16="http://schemas.microsoft.com/office/drawing/2014/main" id="{C859EAF5-F4C5-4D7B-928B-ECB65ED004E9}"/>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Changer une chose à la fois pour savoir ce qui casse.</a:t>
            </a:r>
          </a:p>
        </p:txBody>
      </p:sp>
      <p:sp>
        <p:nvSpPr>
          <p:cNvPr id="161" name="body-1">
            <a:extLst xmlns:a="http://schemas.openxmlformats.org/drawingml/2006/main">
              <a:ext uri="{FF2B5EF4-FFF2-40B4-BE49-F238E27FC236}">
                <a16:creationId xmlns:a16="http://schemas.microsoft.com/office/drawing/2014/main" id="{395B4F6F-B968-4EA5-95E8-30EFC168B3D0}"/>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Paraphrase : même intention, autre formulation.</a:t>
            </a:r>
          </a:p>
        </p:txBody>
      </p:sp>
      <p:sp>
        <p:nvSpPr>
          <p:cNvPr id="162" name="body-2">
            <a:extLst xmlns:a="http://schemas.openxmlformats.org/drawingml/2006/main">
              <a:ext uri="{FF2B5EF4-FFF2-40B4-BE49-F238E27FC236}">
                <a16:creationId xmlns:a16="http://schemas.microsoft.com/office/drawing/2014/main" id="{CA6C44A9-B4EA-4DBC-8ADB-92E3CBAF3437}"/>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Négation : sens modifié avec peu de mots nouveaux.</a:t>
            </a:r>
          </a:p>
        </p:txBody>
      </p:sp>
      <p:sp>
        <p:nvSpPr>
          <p:cNvPr id="163" name="body-3">
            <a:extLst xmlns:a="http://schemas.openxmlformats.org/drawingml/2006/main">
              <a:ext uri="{FF2B5EF4-FFF2-40B4-BE49-F238E27FC236}">
                <a16:creationId xmlns:a16="http://schemas.microsoft.com/office/drawing/2014/main" id="{9DAAE174-EDA2-419A-81B4-CDA807380CF2}"/>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Référence : même phrase, identifiant différent.</a:t>
            </a:r>
          </a:p>
        </p:txBody>
      </p:sp>
      <p:sp>
        <p:nvSpPr>
          <p:cNvPr id="164" name="body-4">
            <a:extLst xmlns:a="http://schemas.openxmlformats.org/drawingml/2006/main">
              <a:ext uri="{FF2B5EF4-FFF2-40B4-BE49-F238E27FC236}">
                <a16:creationId xmlns:a16="http://schemas.microsoft.com/office/drawing/2014/main" id="{2BE41E65-AFC3-4B1A-8938-1627F914F4E6}"/>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Hors domaine : demande qui ne correspond à aucune classe.</a:t>
            </a:r>
          </a:p>
        </p:txBody>
      </p:sp>
    </p:spTree>
    <p:extLst>
      <p:ext uri="{BB962C8B-B14F-4D97-AF65-F5344CB8AC3E}">
        <p14:creationId xmlns:p14="http://schemas.microsoft.com/office/powerpoint/2010/main" val="670304868"/>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84cd444cb75460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c8763472a6d4aa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DDA8E16-EA8E-418A-9239-009E7C4F8828}"/>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103</a:t>
            </a:r>
          </a:p>
        </p:txBody>
      </p:sp>
      <p:sp>
        <p:nvSpPr>
          <p:cNvPr id="159" name="course-title">
            <a:extLst xmlns:a="http://schemas.openxmlformats.org/drawingml/2006/main">
              <a:ext uri="{FF2B5EF4-FFF2-40B4-BE49-F238E27FC236}">
                <a16:creationId xmlns:a16="http://schemas.microsoft.com/office/drawing/2014/main" id="{116BDBC6-4A2C-4398-BDA7-39FBE9FCC65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Mesurer la latence dans des conditions compréhensibles</a:t>
            </a:r>
          </a:p>
        </p:txBody>
      </p:sp>
      <p:sp>
        <p:nvSpPr>
          <p:cNvPr id="160" name="body-1">
            <a:extLst xmlns:a="http://schemas.openxmlformats.org/drawingml/2006/main">
              <a:ext uri="{FF2B5EF4-FFF2-40B4-BE49-F238E27FC236}">
                <a16:creationId xmlns:a16="http://schemas.microsoft.com/office/drawing/2014/main" id="{33FBBCF3-C101-4F71-8685-D3720382EDFA}"/>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Séparer chargement initial et inférence à chaud.</a:t>
            </a:r>
          </a:p>
        </p:txBody>
      </p:sp>
      <p:sp>
        <p:nvSpPr>
          <p:cNvPr id="161" name="body-2">
            <a:extLst xmlns:a="http://schemas.openxmlformats.org/drawingml/2006/main">
              <a:ext uri="{FF2B5EF4-FFF2-40B4-BE49-F238E27FC236}">
                <a16:creationId xmlns:a16="http://schemas.microsoft.com/office/drawing/2014/main" id="{FA00D553-48A7-40F7-99D8-D5C97CE513F0}"/>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Fixer batch, longueur d'entrée et longueur de sortie.</a:t>
            </a:r>
          </a:p>
        </p:txBody>
      </p:sp>
      <p:sp>
        <p:nvSpPr>
          <p:cNvPr id="162" name="body-3">
            <a:extLst xmlns:a="http://schemas.openxmlformats.org/drawingml/2006/main">
              <a:ext uri="{FF2B5EF4-FFF2-40B4-BE49-F238E27FC236}">
                <a16:creationId xmlns:a16="http://schemas.microsoft.com/office/drawing/2014/main" id="{3E4790AC-F68A-422D-BF60-5D2C416CCFBF}"/>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Sur GPU, synchroniser correctement la mesure du calcul.</a:t>
            </a:r>
          </a:p>
        </p:txBody>
      </p:sp>
      <p:sp>
        <p:nvSpPr>
          <p:cNvPr id="163" name="body-4">
            <a:extLst xmlns:a="http://schemas.openxmlformats.org/drawingml/2006/main">
              <a:ext uri="{FF2B5EF4-FFF2-40B4-BE49-F238E27FC236}">
                <a16:creationId xmlns:a16="http://schemas.microsoft.com/office/drawing/2014/main" id="{053C9F68-71E5-46E2-9CEB-6CF07C5518F5}"/>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Rapporter matériel, répétitions et distribution des temps.</a:t>
            </a:r>
          </a:p>
        </p:txBody>
      </p:sp>
    </p:spTree>
    <p:extLst>
      <p:ext uri="{BB962C8B-B14F-4D97-AF65-F5344CB8AC3E}">
        <p14:creationId xmlns:p14="http://schemas.microsoft.com/office/powerpoint/2010/main" val="670304868"/>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656d5a32147450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4d729df29b44df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039C4F0-2733-416B-90F2-928ACA1FA5F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104</a:t>
            </a:r>
          </a:p>
        </p:txBody>
      </p:sp>
      <p:sp>
        <p:nvSpPr>
          <p:cNvPr id="159" name="course-title">
            <a:extLst xmlns:a="http://schemas.openxmlformats.org/drawingml/2006/main">
              <a:ext uri="{FF2B5EF4-FFF2-40B4-BE49-F238E27FC236}">
                <a16:creationId xmlns:a16="http://schemas.microsoft.com/office/drawing/2014/main" id="{9A5EFAB7-0EB0-4503-A970-B414422EC174}"/>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Une démo Gradio rend le comportement inspectable</a:t>
            </a:r>
          </a:p>
        </p:txBody>
      </p:sp>
      <p:sp>
        <p:nvSpPr>
          <p:cNvPr id="160" name="body-1">
            <a:extLst xmlns:a="http://schemas.openxmlformats.org/drawingml/2006/main">
              <a:ext uri="{FF2B5EF4-FFF2-40B4-BE49-F238E27FC236}">
                <a16:creationId xmlns:a16="http://schemas.microsoft.com/office/drawing/2014/main" id="{C4EC3E65-C894-4418-B249-946B9E6599C0}"/>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 champ texte, une sortie lisible et quelques exemples choisis.</a:t>
            </a:r>
          </a:p>
        </p:txBody>
      </p:sp>
      <p:sp>
        <p:nvSpPr>
          <p:cNvPr id="161" name="body-2">
            <a:extLst xmlns:a="http://schemas.openxmlformats.org/drawingml/2006/main">
              <a:ext uri="{FF2B5EF4-FFF2-40B4-BE49-F238E27FC236}">
                <a16:creationId xmlns:a16="http://schemas.microsoft.com/office/drawing/2014/main" id="{06603F82-35D9-43B6-A638-4C5C9D175BAE}"/>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le modèle une fois, puis appeler une fonction d'inférence.</a:t>
            </a:r>
          </a:p>
        </p:txBody>
      </p:sp>
      <p:sp>
        <p:nvSpPr>
          <p:cNvPr id="162" name="body-3">
            <a:extLst xmlns:a="http://schemas.openxmlformats.org/drawingml/2006/main">
              <a:ext uri="{FF2B5EF4-FFF2-40B4-BE49-F238E27FC236}">
                <a16:creationId xmlns:a16="http://schemas.microsoft.com/office/drawing/2014/main" id="{CE4E74AB-7662-454F-B919-A3ACD39DD9ED}"/>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Prévoir entrée vide, texte long et message d'erreur compréhensible.</a:t>
            </a:r>
          </a:p>
        </p:txBody>
      </p:sp>
      <p:sp>
        <p:nvSpPr>
          <p:cNvPr id="163" name="body-4">
            <a:extLst xmlns:a="http://schemas.openxmlformats.org/drawingml/2006/main">
              <a:ext uri="{FF2B5EF4-FFF2-40B4-BE49-F238E27FC236}">
                <a16:creationId xmlns:a16="http://schemas.microsoft.com/office/drawing/2014/main" id="{6777FF4A-9491-4D80-990C-5900AA8F84DE}"/>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Lancement local au notebook ; partage public désactivé par défaut.</a:t>
            </a:r>
          </a:p>
        </p:txBody>
      </p:sp>
    </p:spTree>
    <p:extLst>
      <p:ext uri="{BB962C8B-B14F-4D97-AF65-F5344CB8AC3E}">
        <p14:creationId xmlns:p14="http://schemas.microsoft.com/office/powerpoint/2010/main" val="670304868"/>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96f87137907437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c369f5640b3454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FCC5797-B7EC-46C1-A498-76D6988AACF1}"/>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105</a:t>
            </a:r>
          </a:p>
        </p:txBody>
      </p:sp>
      <p:sp>
        <p:nvSpPr>
          <p:cNvPr id="159" name="course-title">
            <a:extLst xmlns:a="http://schemas.openxmlformats.org/drawingml/2006/main">
              <a:ext uri="{FF2B5EF4-FFF2-40B4-BE49-F238E27FC236}">
                <a16:creationId xmlns:a16="http://schemas.microsoft.com/office/drawing/2014/main" id="{02959331-ACA2-4407-B4E7-9B6C9730818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Le livrable doit raconter comment le résultat a été obtenu</a:t>
            </a:r>
          </a:p>
        </p:txBody>
      </p:sp>
      <p:sp>
        <p:nvSpPr>
          <p:cNvPr id="160" name="body-1">
            <a:extLst xmlns:a="http://schemas.openxmlformats.org/drawingml/2006/main">
              <a:ext uri="{FF2B5EF4-FFF2-40B4-BE49-F238E27FC236}">
                <a16:creationId xmlns:a16="http://schemas.microsoft.com/office/drawing/2014/main" id="{24B349FB-B80D-4946-8AFF-C0BFDF5C1EB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README : objectif, lancement et limites.</a:t>
            </a:r>
          </a:p>
        </p:txBody>
      </p:sp>
      <p:sp>
        <p:nvSpPr>
          <p:cNvPr id="161" name="body-2">
            <a:extLst xmlns:a="http://schemas.openxmlformats.org/drawingml/2006/main">
              <a:ext uri="{FF2B5EF4-FFF2-40B4-BE49-F238E27FC236}">
                <a16:creationId xmlns:a16="http://schemas.microsoft.com/office/drawing/2014/main" id="{9A4ACD3B-CE12-46BB-99DB-9AF846214724}"/>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Model card : base, adaptation, données, métriques et usages prévus.</a:t>
            </a:r>
          </a:p>
        </p:txBody>
      </p:sp>
      <p:sp>
        <p:nvSpPr>
          <p:cNvPr id="162" name="body-3">
            <a:extLst xmlns:a="http://schemas.openxmlformats.org/drawingml/2006/main">
              <a:ext uri="{FF2B5EF4-FFF2-40B4-BE49-F238E27FC236}">
                <a16:creationId xmlns:a16="http://schemas.microsoft.com/office/drawing/2014/main" id="{8C49EAA6-D92F-478A-AB43-C9108A9ACDB7}"/>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Data card : origine, schéma, construction, partitions et licence.</a:t>
            </a:r>
          </a:p>
        </p:txBody>
      </p:sp>
      <p:sp>
        <p:nvSpPr>
          <p:cNvPr id="163" name="body-4">
            <a:extLst xmlns:a="http://schemas.openxmlformats.org/drawingml/2006/main">
              <a:ext uri="{FF2B5EF4-FFF2-40B4-BE49-F238E27FC236}">
                <a16:creationId xmlns:a16="http://schemas.microsoft.com/office/drawing/2014/main" id="{50E258E0-10A7-44BF-9F2F-725DE2DBD192}"/>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Artefacts : configuration, prédictions, modèle ou adaptateur et tokenizer.</a:t>
            </a:r>
          </a:p>
        </p:txBody>
      </p:sp>
    </p:spTree>
    <p:extLst>
      <p:ext uri="{BB962C8B-B14F-4D97-AF65-F5344CB8AC3E}">
        <p14:creationId xmlns:p14="http://schemas.microsoft.com/office/powerpoint/2010/main" val="670304868"/>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aad33c973694d2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e05a57508b44c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46CD241-9874-4757-A350-195FAEC5F120}"/>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106</a:t>
            </a:r>
          </a:p>
        </p:txBody>
      </p:sp>
      <p:sp>
        <p:nvSpPr>
          <p:cNvPr id="159" name="course-title">
            <a:extLst xmlns:a="http://schemas.openxmlformats.org/drawingml/2006/main">
              <a:ext uri="{FF2B5EF4-FFF2-40B4-BE49-F238E27FC236}">
                <a16:creationId xmlns:a16="http://schemas.microsoft.com/office/drawing/2014/main" id="{5CDDB6FD-70EF-4408-A87D-76DC66AB2FF9}"/>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Publier sur le Hub : rendre l'artefact réutilisable</a:t>
            </a:r>
          </a:p>
        </p:txBody>
      </p:sp>
      <p:sp>
        <p:nvSpPr>
          <p:cNvPr id="160" name="body-1">
            <a:extLst xmlns:a="http://schemas.openxmlformats.org/drawingml/2006/main">
              <a:ext uri="{FF2B5EF4-FFF2-40B4-BE49-F238E27FC236}">
                <a16:creationId xmlns:a16="http://schemas.microsoft.com/office/drawing/2014/main" id="{A9A1F117-9620-4175-920F-C2531F2457EC}"/>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la licence du modèle de base et des données.</a:t>
            </a:r>
          </a:p>
        </p:txBody>
      </p:sp>
      <p:sp>
        <p:nvSpPr>
          <p:cNvPr id="161" name="body-2">
            <a:extLst xmlns:a="http://schemas.openxmlformats.org/drawingml/2006/main">
              <a:ext uri="{FF2B5EF4-FFF2-40B4-BE49-F238E27FC236}">
                <a16:creationId xmlns:a16="http://schemas.microsoft.com/office/drawing/2014/main" id="{3102EFFC-DC7A-4FFE-B29D-26299004F8B3}"/>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Choisir explicitement visibilité et fichiers à envoyer.</a:t>
            </a:r>
          </a:p>
        </p:txBody>
      </p:sp>
      <p:sp>
        <p:nvSpPr>
          <p:cNvPr id="162" name="body-3">
            <a:extLst xmlns:a="http://schemas.openxmlformats.org/drawingml/2006/main">
              <a:ext uri="{FF2B5EF4-FFF2-40B4-BE49-F238E27FC236}">
                <a16:creationId xmlns:a16="http://schemas.microsoft.com/office/drawing/2014/main" id="{E60C4855-5A6C-4D35-B852-1B30A8E7EA3C}"/>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Pour LoRA, documenter la dépendance au checkpoint de base.</a:t>
            </a:r>
          </a:p>
        </p:txBody>
      </p:sp>
      <p:sp>
        <p:nvSpPr>
          <p:cNvPr id="163" name="body-4">
            <a:extLst xmlns:a="http://schemas.openxmlformats.org/drawingml/2006/main">
              <a:ext uri="{FF2B5EF4-FFF2-40B4-BE49-F238E27FC236}">
                <a16:creationId xmlns:a16="http://schemas.microsoft.com/office/drawing/2014/main" id="{B7325B69-A2AB-4EDF-9249-44057F928FC6}"/>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Publication facultative ; dépôt privé proposé dans le TP.</a:t>
            </a:r>
          </a:p>
        </p:txBody>
      </p:sp>
    </p:spTree>
    <p:extLst>
      <p:ext uri="{BB962C8B-B14F-4D97-AF65-F5344CB8AC3E}">
        <p14:creationId xmlns:p14="http://schemas.microsoft.com/office/powerpoint/2010/main" val="670304868"/>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3e791add733941a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1953410e29f74dc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1EF7AE7-19D5-4052-9DCB-26BAD6A3BD53}"/>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107</a:t>
            </a:r>
          </a:p>
        </p:txBody>
      </p:sp>
      <p:sp>
        <p:nvSpPr>
          <p:cNvPr id="159" name="course-title">
            <a:extLst xmlns:a="http://schemas.openxmlformats.org/drawingml/2006/main">
              <a:ext uri="{FF2B5EF4-FFF2-40B4-BE49-F238E27FC236}">
                <a16:creationId xmlns:a16="http://schemas.microsoft.com/office/drawing/2014/main" id="{40EC179B-18C7-4501-B6F4-71376A04FEA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Mini-projet : une décision défendable en binôme</a:t>
            </a:r>
          </a:p>
        </p:txBody>
      </p:sp>
      <p:graphicFrame>
        <p:nvGraphicFramePr>
          <p:cNvPr id="173" name=""/>
          <p:cNvGraphicFramePr/>
          <p:nvPr/>
        </p:nvGraphicFramePr>
        <p:xfrm>
          <a:off xmlns:a="http://schemas.openxmlformats.org/drawingml/2006/main" x="781050" y="1952625"/>
          <a:ext xmlns:a="http://schemas.openxmlformats.org/drawingml/2006/main" cx="10620375" cy="2914650"/>
        </p:xfrm>
        <a:graphic xmlns:a="http://schemas.openxmlformats.org/drawingml/2006/main">
          <a:graphicData uri="http://schemas.openxmlformats.org/drawingml/2006/table">
            <a:tbl>
              <a:tblPr/>
              <a:tblGrid>
                <a:gridCol w="3540125"/>
                <a:gridCol w="3540125"/>
                <a:gridCol w="3540125"/>
              </a:tblGrid>
              <a:tr h="485775">
                <a:tc>
                  <a:txBody>
                    <a:bodyPr>
                      <a:noAutofit/>
                    </a:bodyPr>
                    <a:lstStyle/>
                    <a:p>
                      <a:r>
                        <a:rPr sz="1650" b="1">
                          <a:solidFill>
                            <a:srgbClr val="FFFFFF"/>
                          </a:solidFill>
                          <a:latin typeface="DM Sans"/>
                          <a:ea typeface="DM Sans"/>
                          <a:cs typeface="DM Sans"/>
                        </a:rPr>
                        <a:t>Critère</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Points / 20</a:t>
                      </a:r>
                    </a:p>
                  </a:txBody>
                  <a:tcPr marL="114300" marR="114300" marT="85725" marB="85725" anchor="ctr">
                    <a:solidFill>
                      <a:srgbClr val="282A59"/>
                    </a:solidFill>
                  </a:tcPr>
                </a:tc>
                <a:tc>
                  <a:txBody>
                    <a:bodyPr>
                      <a:noAutofit/>
                    </a:bodyPr>
                    <a:lstStyle/>
                    <a:p>
                      <a:r>
                        <a:rPr sz="1650" b="1">
                          <a:solidFill>
                            <a:srgbClr val="FFFFFF"/>
                          </a:solidFill>
                          <a:latin typeface="DM Sans"/>
                          <a:ea typeface="DM Sans"/>
                          <a:cs typeface="DM Sans"/>
                        </a:rPr>
                        <a:t>Preuve attendue</a:t>
                      </a:r>
                    </a:p>
                  </a:txBody>
                  <a:tcPr marL="114300" marR="114300" marT="85725" marB="85725" anchor="ctr">
                    <a:solidFill>
                      <a:srgbClr val="282A59"/>
                    </a:solidFill>
                  </a:tcPr>
                </a:tc>
              </a:tr>
              <a:tr h="485775">
                <a:tc>
                  <a:txBody>
                    <a:bodyPr>
                      <a:noAutofit/>
                    </a:bodyPr>
                    <a:lstStyle/>
                    <a:p>
                      <a:r>
                        <a:rPr sz="1650" b="0">
                          <a:solidFill>
                            <a:srgbClr val="111111"/>
                          </a:solidFill>
                          <a:latin typeface="DM Sans"/>
                          <a:ea typeface="DM Sans"/>
                          <a:cs typeface="DM Sans"/>
                        </a:rPr>
                        <a:t>Protocole et absence de fuite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Tâche, groupes, validation, test</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Comparaison équitable</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Méthodes identifiées, mêmes cas</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Évaluation et analyse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4</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Métriques, erreurs, robustesse</a:t>
                      </a:r>
                    </a:p>
                  </a:txBody>
                  <a:tcPr marL="114300" marR="114300" marT="85725" marB="85725" anchor="ctr">
                    <a:solidFill>
                      <a:srgbClr val="F4F3F2"/>
                    </a:solidFill>
                  </a:tcPr>
                </a:tc>
              </a:tr>
              <a:tr h="485775">
                <a:tc>
                  <a:txBody>
                    <a:bodyPr>
                      <a:noAutofit/>
                    </a:bodyPr>
                    <a:lstStyle/>
                    <a:p>
                      <a:r>
                        <a:rPr sz="1650" b="0">
                          <a:solidFill>
                            <a:srgbClr val="111111"/>
                          </a:solidFill>
                          <a:latin typeface="DM Sans"/>
                          <a:ea typeface="DM Sans"/>
                          <a:cs typeface="DM Sans"/>
                        </a:rPr>
                        <a:t>Reproductibilité + démo/card</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6</a:t>
                      </a:r>
                    </a:p>
                  </a:txBody>
                  <a:tcPr marL="114300" marR="114300" marT="85725" marB="85725" anchor="ctr">
                    <a:solidFill>
                      <a:srgbClr val="FFFFFF"/>
                    </a:solidFill>
                  </a:tcPr>
                </a:tc>
                <a:tc>
                  <a:txBody>
                    <a:bodyPr>
                      <a:noAutofit/>
                    </a:bodyPr>
                    <a:lstStyle/>
                    <a:p>
                      <a:r>
                        <a:rPr sz="1650" b="0">
                          <a:solidFill>
                            <a:srgbClr val="111111"/>
                          </a:solidFill>
                          <a:latin typeface="DM Sans"/>
                          <a:ea typeface="DM Sans"/>
                          <a:cs typeface="DM Sans"/>
                        </a:rPr>
                        <a:t>3 points chacun : export et usage</a:t>
                      </a:r>
                    </a:p>
                  </a:txBody>
                  <a:tcPr marL="114300" marR="114300" marT="85725" marB="85725" anchor="ctr">
                    <a:solidFill>
                      <a:srgbClr val="FFFFFF"/>
                    </a:solidFill>
                  </a:tcPr>
                </a:tc>
              </a:tr>
              <a:tr h="485775">
                <a:tc>
                  <a:txBody>
                    <a:bodyPr>
                      <a:noAutofit/>
                    </a:bodyPr>
                    <a:lstStyle/>
                    <a:p>
                      <a:r>
                        <a:rPr sz="1650" b="0">
                          <a:solidFill>
                            <a:srgbClr val="111111"/>
                          </a:solidFill>
                          <a:latin typeface="DM Sans"/>
                          <a:ea typeface="DM Sans"/>
                          <a:cs typeface="DM Sans"/>
                        </a:rPr>
                        <a:t>Soutenance individuelle</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2</a:t>
                      </a:r>
                    </a:p>
                  </a:txBody>
                  <a:tcPr marL="114300" marR="114300" marT="85725" marB="85725" anchor="ctr">
                    <a:solidFill>
                      <a:srgbClr val="F4F3F2"/>
                    </a:solidFill>
                  </a:tcPr>
                </a:tc>
                <a:tc>
                  <a:txBody>
                    <a:bodyPr>
                      <a:noAutofit/>
                    </a:bodyPr>
                    <a:lstStyle/>
                    <a:p>
                      <a:r>
                        <a:rPr sz="1650" b="0">
                          <a:solidFill>
                            <a:srgbClr val="111111"/>
                          </a:solidFill>
                          <a:latin typeface="DM Sans"/>
                          <a:ea typeface="DM Sans"/>
                          <a:cs typeface="DM Sans"/>
                        </a:rPr>
                        <a:t>Argumentation des deux membres</a:t>
                      </a:r>
                    </a:p>
                  </a:txBody>
                  <a:tcPr marL="114300" marR="114300" marT="85725" marB="85725" anchor="ctr">
                    <a:solidFill>
                      <a:srgbClr val="F4F3F2"/>
                    </a:solidFill>
                  </a:tcPr>
                </a:tc>
              </a:tr>
            </a:tbl>
          </a:graphicData>
        </a:graphic>
      </p:graphicFrame>
    </p:spTree>
    <p:extLst>
      <p:ext uri="{BB962C8B-B14F-4D97-AF65-F5344CB8AC3E}">
        <p14:creationId xmlns:p14="http://schemas.microsoft.com/office/powerpoint/2010/main" val="670304868"/>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f6b5532dec042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c98aff0eab747e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77349E7B-CA33-4E9F-9738-F934627BC1F4}"/>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108</a:t>
            </a:r>
          </a:p>
        </p:txBody>
      </p:sp>
      <p:sp>
        <p:nvSpPr>
          <p:cNvPr id="159" name="course-title">
            <a:extLst xmlns:a="http://schemas.openxmlformats.org/drawingml/2006/main">
              <a:ext uri="{FF2B5EF4-FFF2-40B4-BE49-F238E27FC236}">
                <a16:creationId xmlns:a16="http://schemas.microsoft.com/office/drawing/2014/main" id="{30D02AB9-A2D3-430B-8119-7E5C006D6FAB}"/>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Soutenir : problème, preuve, décision, limite</a:t>
            </a:r>
          </a:p>
        </p:txBody>
      </p:sp>
      <p:sp>
        <p:nvSpPr>
          <p:cNvPr id="160" name="body-1">
            <a:extLst xmlns:a="http://schemas.openxmlformats.org/drawingml/2006/main">
              <a:ext uri="{FF2B5EF4-FFF2-40B4-BE49-F238E27FC236}">
                <a16:creationId xmlns:a16="http://schemas.microsoft.com/office/drawing/2014/main" id="{96CB75A1-5956-4EE3-90B4-450509D1629A}"/>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tâche et protocole.</a:t>
            </a:r>
          </a:p>
        </p:txBody>
      </p:sp>
      <p:sp>
        <p:nvSpPr>
          <p:cNvPr id="161" name="body-2">
            <a:extLst xmlns:a="http://schemas.openxmlformats.org/drawingml/2006/main">
              <a:ext uri="{FF2B5EF4-FFF2-40B4-BE49-F238E27FC236}">
                <a16:creationId xmlns:a16="http://schemas.microsoft.com/office/drawing/2014/main" id="{D92D99A9-C7DD-4D0D-BD4C-1DE2BA970E97}"/>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2 min : comparaison et exemple d'erreur.</a:t>
            </a:r>
          </a:p>
        </p:txBody>
      </p:sp>
      <p:sp>
        <p:nvSpPr>
          <p:cNvPr id="162" name="body-3">
            <a:extLst xmlns:a="http://schemas.openxmlformats.org/drawingml/2006/main">
              <a:ext uri="{FF2B5EF4-FFF2-40B4-BE49-F238E27FC236}">
                <a16:creationId xmlns:a16="http://schemas.microsoft.com/office/drawing/2014/main" id="{6CEA9E6C-006F-4FCB-92C4-DC1AAF0C3056}"/>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démo avec un cas difficile.</a:t>
            </a:r>
          </a:p>
        </p:txBody>
      </p:sp>
      <p:sp>
        <p:nvSpPr>
          <p:cNvPr id="163" name="body-4">
            <a:extLst xmlns:a="http://schemas.openxmlformats.org/drawingml/2006/main">
              <a:ext uri="{FF2B5EF4-FFF2-40B4-BE49-F238E27FC236}">
                <a16:creationId xmlns:a16="http://schemas.microsoft.com/office/drawing/2014/main" id="{EB65F3A8-0817-421C-861D-9667B49AEE99}"/>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1 min : décision, limite et prochaine expérience.</a:t>
            </a:r>
          </a:p>
        </p:txBody>
      </p:sp>
    </p:spTree>
    <p:extLst>
      <p:ext uri="{BB962C8B-B14F-4D97-AF65-F5344CB8AC3E}">
        <p14:creationId xmlns:p14="http://schemas.microsoft.com/office/powerpoint/2010/main" val="670304868"/>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d0d8e9e7fb54a6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ae9f8e2313743e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D82129E-7C1F-47BF-890D-F89110DD824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109</a:t>
            </a:r>
          </a:p>
        </p:txBody>
      </p:sp>
      <p:sp>
        <p:nvSpPr>
          <p:cNvPr id="159" name="course-title">
            <a:extLst xmlns:a="http://schemas.openxmlformats.org/drawingml/2006/main">
              <a:ext uri="{FF2B5EF4-FFF2-40B4-BE49-F238E27FC236}">
                <a16:creationId xmlns:a16="http://schemas.microsoft.com/office/drawing/2014/main" id="{AB4FC246-505A-48C8-AEA9-9754FB588DAF}"/>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Avant de conclure : que peut-on réellement affirmer ?</a:t>
            </a:r>
          </a:p>
        </p:txBody>
      </p:sp>
      <p:sp>
        <p:nvSpPr>
          <p:cNvPr id="160" name="body-1">
            <a:extLst xmlns:a="http://schemas.openxmlformats.org/drawingml/2006/main">
              <a:ext uri="{FF2B5EF4-FFF2-40B4-BE49-F238E27FC236}">
                <a16:creationId xmlns:a16="http://schemas.microsoft.com/office/drawing/2014/main" id="{720BE741-330B-4634-844B-67F3ED9D61D4}"/>
              </a:ext>
            </a:extLst>
          </p:cNvPr>
          <p:cNvSpPr>
            <a:spLocks xmlns:a="http://schemas.openxmlformats.org/drawingml/2006/main" noGrp="1"/>
          </p:cNvSpPr>
          <p:nvPr/>
        </p:nvSpPr>
        <p:spPr>
          <a:xfrm xmlns:a="http://schemas.openxmlformats.org/drawingml/2006/main">
            <a:off x="781050" y="1952625"/>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Une démo qui fonctionne prouve-t-elle la généralisation ?</a:t>
            </a:r>
          </a:p>
        </p:txBody>
      </p:sp>
      <p:sp>
        <p:nvSpPr>
          <p:cNvPr id="161" name="body-2">
            <a:extLst xmlns:a="http://schemas.openxmlformats.org/drawingml/2006/main">
              <a:ext uri="{FF2B5EF4-FFF2-40B4-BE49-F238E27FC236}">
                <a16:creationId xmlns:a16="http://schemas.microsoft.com/office/drawing/2014/main" id="{43B58ABA-2C78-4F46-8EC3-CB6AF4C4BBC5}"/>
              </a:ext>
            </a:extLst>
          </p:cNvPr>
          <p:cNvSpPr>
            <a:spLocks xmlns:a="http://schemas.openxmlformats.org/drawingml/2006/main" noGrp="1"/>
          </p:cNvSpPr>
          <p:nvPr/>
        </p:nvSpPr>
        <p:spPr>
          <a:xfrm xmlns:a="http://schemas.openxmlformats.org/drawingml/2006/main">
            <a:off x="781050" y="2840831"/>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 faire d'une sortie zéro-shot hors des cinq labels ?</a:t>
            </a:r>
          </a:p>
        </p:txBody>
      </p:sp>
      <p:sp>
        <p:nvSpPr>
          <p:cNvPr id="162" name="body-3">
            <a:extLst xmlns:a="http://schemas.openxmlformats.org/drawingml/2006/main">
              <a:ext uri="{FF2B5EF4-FFF2-40B4-BE49-F238E27FC236}">
                <a16:creationId xmlns:a16="http://schemas.microsoft.com/office/drawing/2014/main" id="{4C6DC218-44E9-4F36-8A2F-1288DA04D858}"/>
              </a:ext>
            </a:extLst>
          </p:cNvPr>
          <p:cNvSpPr>
            <a:spLocks xmlns:a="http://schemas.openxmlformats.org/drawingml/2006/main" noGrp="1"/>
          </p:cNvSpPr>
          <p:nvPr/>
        </p:nvSpPr>
        <p:spPr>
          <a:xfrm xmlns:a="http://schemas.openxmlformats.org/drawingml/2006/main">
            <a:off x="781050" y="3729038"/>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 signifie un gain d'un exemple sur vingt ?</a:t>
            </a:r>
          </a:p>
        </p:txBody>
      </p:sp>
      <p:sp>
        <p:nvSpPr>
          <p:cNvPr id="163" name="body-4">
            <a:extLst xmlns:a="http://schemas.openxmlformats.org/drawingml/2006/main">
              <a:ext uri="{FF2B5EF4-FFF2-40B4-BE49-F238E27FC236}">
                <a16:creationId xmlns:a16="http://schemas.microsoft.com/office/drawing/2014/main" id="{A4800C50-316C-4F2F-91EB-778FA46B4F29}"/>
              </a:ext>
            </a:extLst>
          </p:cNvPr>
          <p:cNvSpPr>
            <a:spLocks xmlns:a="http://schemas.openxmlformats.org/drawingml/2006/main" noGrp="1"/>
          </p:cNvSpPr>
          <p:nvPr/>
        </p:nvSpPr>
        <p:spPr>
          <a:xfrm xmlns:a="http://schemas.openxmlformats.org/drawingml/2006/main">
            <a:off x="781050" y="4617244"/>
            <a:ext cx="10620375" cy="8405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Quelle preuve permet à un autre binôme de reproduire le résultat ?</a:t>
            </a:r>
          </a:p>
        </p:txBody>
      </p:sp>
    </p:spTree>
    <p:extLst>
      <p:ext uri="{BB962C8B-B14F-4D97-AF65-F5344CB8AC3E}">
        <p14:creationId xmlns:p14="http://schemas.microsoft.com/office/powerpoint/2010/main" val="670304868"/>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9cef4dbc0223400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619d09247034a3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2DC52CDF-23D9-4B18-8A05-E8F8F5116AA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110</a:t>
            </a:r>
          </a:p>
        </p:txBody>
      </p:sp>
      <p:sp>
        <p:nvSpPr>
          <p:cNvPr id="159" name="course-title">
            <a:extLst xmlns:a="http://schemas.openxmlformats.org/drawingml/2006/main">
              <a:ext uri="{FF2B5EF4-FFF2-40B4-BE49-F238E27FC236}">
                <a16:creationId xmlns:a16="http://schemas.microsoft.com/office/drawing/2014/main" id="{51D6AE9B-DBC6-4D35-B8FE-F1F83F2FC8B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5A · Verrouiller le protocole et lancer les références</a:t>
            </a:r>
          </a:p>
        </p:txBody>
      </p:sp>
      <p:sp>
        <p:nvSpPr>
          <p:cNvPr id="160" name="concrete-example">
            <a:extLst xmlns:a="http://schemas.openxmlformats.org/drawingml/2006/main">
              <a:ext uri="{FF2B5EF4-FFF2-40B4-BE49-F238E27FC236}">
                <a16:creationId xmlns:a16="http://schemas.microsoft.com/office/drawing/2014/main" id="{2D2E42FE-EC74-4B3F-9B7E-1AFBD5DDC275}"/>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75 min</a:t>
            </a:r>
          </a:p>
        </p:txBody>
      </p:sp>
      <p:sp>
        <p:nvSpPr>
          <p:cNvPr id="161" name="body-1">
            <a:extLst xmlns:a="http://schemas.openxmlformats.org/drawingml/2006/main">
              <a:ext uri="{FF2B5EF4-FFF2-40B4-BE49-F238E27FC236}">
                <a16:creationId xmlns:a16="http://schemas.microsoft.com/office/drawing/2014/main" id="{498C4E28-E9E9-489A-8394-46B7EB5793EB}"/>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Définir tâche, critères et jeux réservés.</a:t>
            </a:r>
          </a:p>
        </p:txBody>
      </p:sp>
      <p:sp>
        <p:nvSpPr>
          <p:cNvPr id="162" name="body-2">
            <a:extLst xmlns:a="http://schemas.openxmlformats.org/drawingml/2006/main">
              <a:ext uri="{FF2B5EF4-FFF2-40B4-BE49-F238E27FC236}">
                <a16:creationId xmlns:a16="http://schemas.microsoft.com/office/drawing/2014/main" id="{A9C3DE4A-B352-4387-9D83-ABF52568ADD2}"/>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Charger la baseline et, si disponible, l'archive du jour 3.</a:t>
            </a:r>
          </a:p>
        </p:txBody>
      </p:sp>
      <p:sp>
        <p:nvSpPr>
          <p:cNvPr id="163" name="body-3">
            <a:extLst xmlns:a="http://schemas.openxmlformats.org/drawingml/2006/main">
              <a:ext uri="{FF2B5EF4-FFF2-40B4-BE49-F238E27FC236}">
                <a16:creationId xmlns:a16="http://schemas.microsoft.com/office/drawing/2014/main" id="{BF60F17E-2B39-4D4C-BA1B-DB3336C7DD6E}"/>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Préparer le zéro-shot avec prompt et parsing fixes.</a:t>
            </a:r>
          </a:p>
        </p:txBody>
      </p:sp>
      <p:sp>
        <p:nvSpPr>
          <p:cNvPr id="164" name="body-4">
            <a:extLst xmlns:a="http://schemas.openxmlformats.org/drawingml/2006/main">
              <a:ext uri="{FF2B5EF4-FFF2-40B4-BE49-F238E27FC236}">
                <a16:creationId xmlns:a16="http://schemas.microsoft.com/office/drawing/2014/main" id="{1393C47D-5B66-4057-94B2-FF9BA5CDC4D3}"/>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premières prédictions et contrat d'expérience.</a:t>
            </a:r>
          </a:p>
        </p:txBody>
      </p:sp>
    </p:spTree>
    <p:extLst>
      <p:ext uri="{BB962C8B-B14F-4D97-AF65-F5344CB8AC3E}">
        <p14:creationId xmlns:p14="http://schemas.microsoft.com/office/powerpoint/2010/main" val="670304868"/>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89dadb6979a94bf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57fde6d1bee41f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60C28D9B-F959-44B3-973E-CE04EE67ABE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111</a:t>
            </a:r>
          </a:p>
        </p:txBody>
      </p:sp>
      <p:sp>
        <p:nvSpPr>
          <p:cNvPr id="159" name="course-title">
            <a:extLst xmlns:a="http://schemas.openxmlformats.org/drawingml/2006/main">
              <a:ext uri="{FF2B5EF4-FFF2-40B4-BE49-F238E27FC236}">
                <a16:creationId xmlns:a16="http://schemas.microsoft.com/office/drawing/2014/main" id="{6406BCB1-0EFA-4D62-A818-C2C3202DF168}"/>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5B · Tester une amélioration et lire les erreurs</a:t>
            </a:r>
          </a:p>
        </p:txBody>
      </p:sp>
      <p:sp>
        <p:nvSpPr>
          <p:cNvPr id="160" name="concrete-example">
            <a:extLst xmlns:a="http://schemas.openxmlformats.org/drawingml/2006/main">
              <a:ext uri="{FF2B5EF4-FFF2-40B4-BE49-F238E27FC236}">
                <a16:creationId xmlns:a16="http://schemas.microsoft.com/office/drawing/2014/main" id="{3EDCF7FC-0385-4A33-8CE7-719A145668E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75 min</a:t>
            </a:r>
          </a:p>
        </p:txBody>
      </p:sp>
      <p:sp>
        <p:nvSpPr>
          <p:cNvPr id="161" name="body-1">
            <a:extLst xmlns:a="http://schemas.openxmlformats.org/drawingml/2006/main">
              <a:ext uri="{FF2B5EF4-FFF2-40B4-BE49-F238E27FC236}">
                <a16:creationId xmlns:a16="http://schemas.microsoft.com/office/drawing/2014/main" id="{9E6B482C-AC13-40C7-AFB3-96ACFB7A7793}"/>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Choisir une hypothèse à partir des erreurs de validation.</a:t>
            </a:r>
          </a:p>
        </p:txBody>
      </p:sp>
      <p:sp>
        <p:nvSpPr>
          <p:cNvPr id="162" name="body-2">
            <a:extLst xmlns:a="http://schemas.openxmlformats.org/drawingml/2006/main">
              <a:ext uri="{FF2B5EF4-FFF2-40B4-BE49-F238E27FC236}">
                <a16:creationId xmlns:a16="http://schemas.microsoft.com/office/drawing/2014/main" id="{FEF073A6-2B82-4898-8295-C92EBBE1B4D1}"/>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Modifier un seul facteur et comparer les mêmes cas.</a:t>
            </a:r>
          </a:p>
        </p:txBody>
      </p:sp>
      <p:sp>
        <p:nvSpPr>
          <p:cNvPr id="163" name="body-3">
            <a:extLst xmlns:a="http://schemas.openxmlformats.org/drawingml/2006/main">
              <a:ext uri="{FF2B5EF4-FFF2-40B4-BE49-F238E27FC236}">
                <a16:creationId xmlns:a16="http://schemas.microsoft.com/office/drawing/2014/main" id="{0FCF34FB-88F1-43B2-A400-E43E4AB4F2C1}"/>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Exécuter le test final après sélection.</a:t>
            </a:r>
          </a:p>
        </p:txBody>
      </p:sp>
      <p:sp>
        <p:nvSpPr>
          <p:cNvPr id="164" name="body-4">
            <a:extLst xmlns:a="http://schemas.openxmlformats.org/drawingml/2006/main">
              <a:ext uri="{FF2B5EF4-FFF2-40B4-BE49-F238E27FC236}">
                <a16:creationId xmlns:a16="http://schemas.microsoft.com/office/drawing/2014/main" id="{21FDC726-73D2-427C-9096-D5EC444C0893}"/>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table comparative, cinq erreurs et mesure de coût.</a:t>
            </a:r>
          </a:p>
        </p:txBody>
      </p:sp>
    </p:spTree>
    <p:extLst>
      <p:ext uri="{BB962C8B-B14F-4D97-AF65-F5344CB8AC3E}">
        <p14:creationId xmlns:p14="http://schemas.microsoft.com/office/powerpoint/2010/main" val="670304868"/>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65b0209c7bfb41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7a68a99ce16d470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F90A737C-482B-4F75-A345-A72625468F0A}"/>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112</a:t>
            </a:r>
          </a:p>
        </p:txBody>
      </p:sp>
      <p:sp>
        <p:nvSpPr>
          <p:cNvPr id="159" name="course-title">
            <a:extLst xmlns:a="http://schemas.openxmlformats.org/drawingml/2006/main">
              <a:ext uri="{FF2B5EF4-FFF2-40B4-BE49-F238E27FC236}">
                <a16:creationId xmlns:a16="http://schemas.microsoft.com/office/drawing/2014/main" id="{5CEA1F18-3AEF-452B-B4B5-91C2A52B2D7D}"/>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11111"/>
                </a:solidFill>
                <a:latin typeface="Archivo Black"/>
                <a:ea typeface="Archivo Black"/>
                <a:cs typeface="Archivo Black"/>
              </a:defRPr>
            </a:pPr>
            <a:r>
              <a:rPr sz="3000">
                <a:solidFill>
                  <a:srgbClr val="111111"/>
                </a:solidFill>
                <a:latin typeface="Archivo Black"/>
                <a:ea typeface="Archivo Black"/>
                <a:cs typeface="Archivo Black"/>
              </a:rPr>
              <a:t>TP 5C · Préparer une démo et un livrable rechargeable</a:t>
            </a:r>
          </a:p>
        </p:txBody>
      </p:sp>
      <p:sp>
        <p:nvSpPr>
          <p:cNvPr id="160" name="concrete-example">
            <a:extLst xmlns:a="http://schemas.openxmlformats.org/drawingml/2006/main">
              <a:ext uri="{FF2B5EF4-FFF2-40B4-BE49-F238E27FC236}">
                <a16:creationId xmlns:a16="http://schemas.microsoft.com/office/drawing/2014/main" id="{BBC17647-FF2B-40E0-BB8D-D68DA42BA590}"/>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40 min</a:t>
            </a:r>
          </a:p>
        </p:txBody>
      </p:sp>
      <p:sp>
        <p:nvSpPr>
          <p:cNvPr id="161" name="body-1">
            <a:extLst xmlns:a="http://schemas.openxmlformats.org/drawingml/2006/main">
              <a:ext uri="{FF2B5EF4-FFF2-40B4-BE49-F238E27FC236}">
                <a16:creationId xmlns:a16="http://schemas.microsoft.com/office/drawing/2014/main" id="{0818E632-190B-440C-93BA-89306164262D}"/>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Construire l'interface Gradio et tester ses entrées limites.</a:t>
            </a:r>
          </a:p>
        </p:txBody>
      </p:sp>
      <p:sp>
        <p:nvSpPr>
          <p:cNvPr id="162" name="body-2">
            <a:extLst xmlns:a="http://schemas.openxmlformats.org/drawingml/2006/main">
              <a:ext uri="{FF2B5EF4-FFF2-40B4-BE49-F238E27FC236}">
                <a16:creationId xmlns:a16="http://schemas.microsoft.com/office/drawing/2014/main" id="{4538AA32-BEF2-445B-8715-B604D00E0BD3}"/>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Rédiger README, model card et limites des données.</a:t>
            </a:r>
          </a:p>
        </p:txBody>
      </p:sp>
      <p:sp>
        <p:nvSpPr>
          <p:cNvPr id="163" name="body-3">
            <a:extLst xmlns:a="http://schemas.openxmlformats.org/drawingml/2006/main">
              <a:ext uri="{FF2B5EF4-FFF2-40B4-BE49-F238E27FC236}">
                <a16:creationId xmlns:a16="http://schemas.microsoft.com/office/drawing/2014/main" id="{542848D2-8417-43CE-BDC8-6C9997BB7D25}"/>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Vérifier les fichiers et le rechargement de l'artefact.</a:t>
            </a:r>
          </a:p>
        </p:txBody>
      </p:sp>
      <p:sp>
        <p:nvSpPr>
          <p:cNvPr id="164" name="body-4">
            <a:extLst xmlns:a="http://schemas.openxmlformats.org/drawingml/2006/main">
              <a:ext uri="{FF2B5EF4-FFF2-40B4-BE49-F238E27FC236}">
                <a16:creationId xmlns:a16="http://schemas.microsoft.com/office/drawing/2014/main" id="{4B30240A-61CF-4305-8344-BCF9D7B2F3F9}"/>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Livrable : archive locale ; publication privée seulement si choisie.</a:t>
            </a:r>
          </a:p>
        </p:txBody>
      </p:sp>
    </p:spTree>
    <p:extLst>
      <p:ext uri="{BB962C8B-B14F-4D97-AF65-F5344CB8AC3E}">
        <p14:creationId xmlns:p14="http://schemas.microsoft.com/office/powerpoint/2010/main" val="670304868"/>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15625214-2DC5-48EB-B766-B0699C5596FD}"/>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3D6957FE-1677-422D-A7D4-5BAB1C6155CA}"/>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9A54E0CA-8D43-4E26-82EA-56EE83081D1A}"/>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80243DC0-7115-4448-84E1-515127EAF0C4}"/>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0" i="0" u="none" cap="none">
                <a:solidFill>
                  <a:schemeClr val="dk1"/>
                </a:solidFill>
                <a:latin typeface="DM Sans"/>
                <a:ea typeface="DM Sans"/>
                <a:cs typeface="DM Sans"/>
              </a:rPr>
              <a:t>/2026–2027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a3762c6c4c3f4e6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272391bdbe464c9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9AC543E-A62A-4B13-85EA-2560A1DFA8FF}"/>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00"/>
            </a:pPr>
            <a:r>
              <a:rPr sz="1200">
                <a:solidFill>
                  <a:schemeClr val="dk1"/>
                </a:solidFill>
                <a:latin typeface="DM Sans"/>
                <a:ea typeface="DM Sans"/>
                <a:cs typeface="DM Sans"/>
              </a:rPr>
              <a:t>J5 · Évaluation et projet</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E44214E9-A771-4757-A270-58DBFBEB062E}"/>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300"/>
            </a:pPr>
            <a:r>
              <a:rPr sz="1300" b="1">
                <a:solidFill>
                  <a:schemeClr val="dk1"/>
                </a:solidFill>
                <a:latin typeface="DM Sans"/>
                <a:ea typeface="DM Sans"/>
                <a:cs typeface="DM Sans"/>
              </a:rPr>
              <a:t>NLP avancé  ·  M2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51529C18-8EAE-4FD5-930B-85FBF2ADB4B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4292FA01-E0D1-4931-9F2E-B6A1834374D7}"/>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folio">
            <a:extLst xmlns:a="http://schemas.openxmlformats.org/drawingml/2006/main">
              <a:ext uri="{FF2B5EF4-FFF2-40B4-BE49-F238E27FC236}">
                <a16:creationId xmlns:a16="http://schemas.microsoft.com/office/drawing/2014/main" id="{10628FC6-B7A9-410C-840D-2949678A7CD6}"/>
              </a:ext>
            </a:extLst>
          </p:cNvPr>
          <p:cNvSpPr>
            <a:spLocks xmlns:a="http://schemas.openxmlformats.org/drawingml/2006/main" noGrp="1"/>
          </p:cNvSpPr>
          <p:nvPr/>
        </p:nvSpPr>
        <p:spPr>
          <a:xfrm xmlns:a="http://schemas.openxmlformats.org/drawingml/2006/main">
            <a:off x="11153775" y="5553075"/>
            <a:ext cx="266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0505C"/>
                </a:solidFill>
                <a:latin typeface="DM Sans"/>
                <a:ea typeface="DM Sans"/>
                <a:cs typeface="DM Sans"/>
              </a:defRPr>
            </a:pPr>
            <a:r>
              <a:rPr sz="975">
                <a:solidFill>
                  <a:srgbClr val="50505C"/>
                </a:solidFill>
                <a:latin typeface="DM Sans"/>
                <a:ea typeface="DM Sans"/>
                <a:cs typeface="DM Sans"/>
              </a:rPr>
              <a:t>113</a:t>
            </a:r>
          </a:p>
        </p:txBody>
      </p:sp>
      <p:sp>
        <p:nvSpPr>
          <p:cNvPr id="159" name="course-title">
            <a:extLst xmlns:a="http://schemas.openxmlformats.org/drawingml/2006/main">
              <a:ext uri="{FF2B5EF4-FFF2-40B4-BE49-F238E27FC236}">
                <a16:creationId xmlns:a16="http://schemas.microsoft.com/office/drawing/2014/main" id="{D80C091D-3B87-41C7-99B5-C5CC9C4A1F90}"/>
              </a:ext>
            </a:extLst>
          </p:cNvPr>
          <p:cNvSpPr>
            <a:spLocks xmlns:a="http://schemas.openxmlformats.org/drawingml/2006/main" noGrp="1"/>
          </p:cNvSpPr>
          <p:nvPr/>
        </p:nvSpPr>
        <p:spPr>
          <a:xfrm xmlns:a="http://schemas.openxmlformats.org/drawingml/2006/main">
            <a:off x="762000" y="800100"/>
            <a:ext cx="10648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11111"/>
                </a:solidFill>
                <a:latin typeface="Archivo Black"/>
                <a:ea typeface="Archivo Black"/>
                <a:cs typeface="Archivo Black"/>
              </a:defRPr>
            </a:pPr>
            <a:r>
              <a:rPr sz="3225">
                <a:solidFill>
                  <a:srgbClr val="111111"/>
                </a:solidFill>
                <a:latin typeface="Archivo Black"/>
                <a:ea typeface="Archivo Black"/>
                <a:cs typeface="Archivo Black"/>
              </a:rPr>
              <a:t>TP 5D · Soutenances, revue croisée et bilan</a:t>
            </a:r>
          </a:p>
        </p:txBody>
      </p:sp>
      <p:sp>
        <p:nvSpPr>
          <p:cNvPr id="160" name="concrete-example">
            <a:extLst xmlns:a="http://schemas.openxmlformats.org/drawingml/2006/main">
              <a:ext uri="{FF2B5EF4-FFF2-40B4-BE49-F238E27FC236}">
                <a16:creationId xmlns:a16="http://schemas.microsoft.com/office/drawing/2014/main" id="{134565E3-DB11-43EB-9D15-C4C786B8D2EE}"/>
              </a:ext>
            </a:extLst>
          </p:cNvPr>
          <p:cNvSpPr>
            <a:spLocks xmlns:a="http://schemas.openxmlformats.org/drawingml/2006/main" noGrp="1"/>
          </p:cNvSpPr>
          <p:nvPr/>
        </p:nvSpPr>
        <p:spPr>
          <a:xfrm xmlns:a="http://schemas.openxmlformats.org/drawingml/2006/main">
            <a:off x="781050" y="1895475"/>
            <a:ext cx="1060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2E00"/>
                </a:solidFill>
                <a:latin typeface="DM Sans"/>
                <a:ea typeface="DM Sans"/>
                <a:cs typeface="DM Sans"/>
              </a:defRPr>
            </a:pPr>
            <a:r>
              <a:rPr sz="2025" b="1">
                <a:solidFill>
                  <a:srgbClr val="BF2E00"/>
                </a:solidFill>
                <a:latin typeface="DM Sans"/>
                <a:ea typeface="DM Sans"/>
                <a:cs typeface="DM Sans"/>
              </a:rPr>
              <a:t>Notebook 07_j5_projet.ipynb · 50 min</a:t>
            </a:r>
          </a:p>
        </p:txBody>
      </p:sp>
      <p:sp>
        <p:nvSpPr>
          <p:cNvPr id="161" name="body-1">
            <a:extLst xmlns:a="http://schemas.openxmlformats.org/drawingml/2006/main">
              <a:ext uri="{FF2B5EF4-FFF2-40B4-BE49-F238E27FC236}">
                <a16:creationId xmlns:a16="http://schemas.microsoft.com/office/drawing/2014/main" id="{6C3A4F30-32A9-4219-ACB3-F15B505F77EB}"/>
              </a:ext>
            </a:extLst>
          </p:cNvPr>
          <p:cNvSpPr>
            <a:spLocks xmlns:a="http://schemas.openxmlformats.org/drawingml/2006/main" noGrp="1"/>
          </p:cNvSpPr>
          <p:nvPr/>
        </p:nvSpPr>
        <p:spPr>
          <a:xfrm xmlns:a="http://schemas.openxmlformats.org/drawingml/2006/main">
            <a:off x="781050" y="2733675"/>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Présenter la tâche, le protocole et les résultats en cinq minutes.</a:t>
            </a:r>
          </a:p>
        </p:txBody>
      </p:sp>
      <p:sp>
        <p:nvSpPr>
          <p:cNvPr id="162" name="body-2">
            <a:extLst xmlns:a="http://schemas.openxmlformats.org/drawingml/2006/main">
              <a:ext uri="{FF2B5EF4-FFF2-40B4-BE49-F238E27FC236}">
                <a16:creationId xmlns:a16="http://schemas.microsoft.com/office/drawing/2014/main" id="{0249E1C6-0626-4DEF-B7D5-EE5F6CEABEF2}"/>
              </a:ext>
            </a:extLst>
          </p:cNvPr>
          <p:cNvSpPr>
            <a:spLocks xmlns:a="http://schemas.openxmlformats.org/drawingml/2006/main" noGrp="1"/>
          </p:cNvSpPr>
          <p:nvPr/>
        </p:nvSpPr>
        <p:spPr>
          <a:xfrm xmlns:a="http://schemas.openxmlformats.org/drawingml/2006/main">
            <a:off x="781050" y="3426619"/>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Montrer un cas difficile et expliquer une limite.</a:t>
            </a:r>
          </a:p>
        </p:txBody>
      </p:sp>
      <p:sp>
        <p:nvSpPr>
          <p:cNvPr id="163" name="body-3">
            <a:extLst xmlns:a="http://schemas.openxmlformats.org/drawingml/2006/main">
              <a:ext uri="{FF2B5EF4-FFF2-40B4-BE49-F238E27FC236}">
                <a16:creationId xmlns:a16="http://schemas.microsoft.com/office/drawing/2014/main" id="{CAD5B243-0FBB-4817-9547-C058A45932C4}"/>
              </a:ext>
            </a:extLst>
          </p:cNvPr>
          <p:cNvSpPr>
            <a:spLocks xmlns:a="http://schemas.openxmlformats.org/drawingml/2006/main" noGrp="1"/>
          </p:cNvSpPr>
          <p:nvPr/>
        </p:nvSpPr>
        <p:spPr>
          <a:xfrm xmlns:a="http://schemas.openxmlformats.org/drawingml/2006/main">
            <a:off x="781050" y="4119563"/>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Faire tester le rechargement ou la démo par un autre groupe.</a:t>
            </a:r>
          </a:p>
        </p:txBody>
      </p:sp>
      <p:sp>
        <p:nvSpPr>
          <p:cNvPr id="164" name="body-4">
            <a:extLst xmlns:a="http://schemas.openxmlformats.org/drawingml/2006/main">
              <a:ext uri="{FF2B5EF4-FFF2-40B4-BE49-F238E27FC236}">
                <a16:creationId xmlns:a16="http://schemas.microsoft.com/office/drawing/2014/main" id="{3114AE59-A8CF-44AC-B043-9EA5C95D734D}"/>
              </a:ext>
            </a:extLst>
          </p:cNvPr>
          <p:cNvSpPr>
            <a:spLocks xmlns:a="http://schemas.openxmlformats.org/drawingml/2006/main" noGrp="1"/>
          </p:cNvSpPr>
          <p:nvPr/>
        </p:nvSpPr>
        <p:spPr>
          <a:xfrm xmlns:a="http://schemas.openxmlformats.org/drawingml/2006/main">
            <a:off x="781050" y="4812506"/>
            <a:ext cx="10620375" cy="6453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11111"/>
                </a:solidFill>
                <a:latin typeface="DM Sans"/>
                <a:ea typeface="DM Sans"/>
                <a:cs typeface="DM Sans"/>
              </a:defRPr>
            </a:pPr>
            <a:r>
              <a:rPr sz="2025">
                <a:solidFill>
                  <a:srgbClr val="111111"/>
                </a:solidFill>
                <a:latin typeface="DM Sans"/>
                <a:ea typeface="DM Sans"/>
                <a:cs typeface="DM Sans"/>
              </a:rPr>
              <a:t>Conclure par la prochaine expérience la plus utile.</a:t>
            </a:r>
          </a:p>
        </p:txBody>
      </p:sp>
    </p:spTree>
    <p:extLst>
      <p:ext uri="{BB962C8B-B14F-4D97-AF65-F5344CB8AC3E}">
        <p14:creationId xmlns:p14="http://schemas.microsoft.com/office/powerpoint/2010/main" val="670304868"/>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2026-10-04T11:39:57.9200000Z</dcterms:created>
  <dcterms:modified xsi:type="dcterms:W3CDTF">2026-10-04T11:39:57.9200000Z</dcterms:modified>
</coreProperties>
</file>