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embeddedFontLst>
    <p:embeddedFont>
      <p:font typeface="Roboto Mono"/>
      <p:regular r:id="rId22"/>
      <p:bold r:id="rId23"/>
      <p:italic r:id="rId24"/>
      <p:boldItalic r:id="rId25"/>
    </p:embeddedFont>
    <p:embeddedFont>
      <p:font typeface="Archivo Black"/>
      <p:regular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Black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df59d8916_2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adf59d8916_2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adf59d8916_2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a4139ad42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a4139ad42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a4139ad425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4139ad425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4139ad425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4139ad425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e1e1205d1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e1e1205d1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e1e1205d1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d7d08ee10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ad7d08ee10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ad7d08ee10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4139ad425_0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a4139ad425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a4139ad425_0_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4139ad425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a4139ad425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a4139ad425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4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25.png"/><Relationship Id="rId13" Type="http://schemas.openxmlformats.org/officeDocument/2006/relationships/image" Target="../media/image13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14" Type="http://schemas.openxmlformats.org/officeDocument/2006/relationships/image" Target="../media/image47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36.png"/><Relationship Id="rId9" Type="http://schemas.openxmlformats.org/officeDocument/2006/relationships/image" Target="../media/image48.png"/><Relationship Id="rId5" Type="http://schemas.openxmlformats.org/officeDocument/2006/relationships/image" Target="../media/image34.png"/><Relationship Id="rId6" Type="http://schemas.openxmlformats.org/officeDocument/2006/relationships/image" Target="../media/image42.png"/><Relationship Id="rId7" Type="http://schemas.openxmlformats.org/officeDocument/2006/relationships/image" Target="../media/image51.png"/><Relationship Id="rId8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69.png"/><Relationship Id="rId9" Type="http://schemas.openxmlformats.org/officeDocument/2006/relationships/image" Target="../media/image10.png"/><Relationship Id="rId5" Type="http://schemas.openxmlformats.org/officeDocument/2006/relationships/image" Target="../media/image50.png"/><Relationship Id="rId6" Type="http://schemas.openxmlformats.org/officeDocument/2006/relationships/image" Target="../media/image64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.png"/><Relationship Id="rId11" Type="http://schemas.openxmlformats.org/officeDocument/2006/relationships/image" Target="../media/image59.png"/><Relationship Id="rId22" Type="http://schemas.openxmlformats.org/officeDocument/2006/relationships/image" Target="../media/image14.png"/><Relationship Id="rId10" Type="http://schemas.openxmlformats.org/officeDocument/2006/relationships/image" Target="../media/image57.png"/><Relationship Id="rId21" Type="http://schemas.openxmlformats.org/officeDocument/2006/relationships/image" Target="../media/image11.png"/><Relationship Id="rId13" Type="http://schemas.openxmlformats.org/officeDocument/2006/relationships/image" Target="../media/image72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Relationship Id="rId15" Type="http://schemas.openxmlformats.org/officeDocument/2006/relationships/image" Target="../media/image66.png"/><Relationship Id="rId14" Type="http://schemas.openxmlformats.org/officeDocument/2006/relationships/image" Target="../media/image58.png"/><Relationship Id="rId17" Type="http://schemas.openxmlformats.org/officeDocument/2006/relationships/image" Target="../media/image73.png"/><Relationship Id="rId16" Type="http://schemas.openxmlformats.org/officeDocument/2006/relationships/image" Target="../media/image68.png"/><Relationship Id="rId5" Type="http://schemas.openxmlformats.org/officeDocument/2006/relationships/image" Target="../media/image49.png"/><Relationship Id="rId19" Type="http://schemas.openxmlformats.org/officeDocument/2006/relationships/image" Target="../media/image10.png"/><Relationship Id="rId6" Type="http://schemas.openxmlformats.org/officeDocument/2006/relationships/image" Target="../media/image56.png"/><Relationship Id="rId18" Type="http://schemas.openxmlformats.org/officeDocument/2006/relationships/image" Target="../media/image60.png"/><Relationship Id="rId7" Type="http://schemas.openxmlformats.org/officeDocument/2006/relationships/image" Target="../media/image71.png"/><Relationship Id="rId8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914400" y="1224375"/>
            <a:ext cx="1036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Archivo Black"/>
              <a:buNone/>
            </a:pPr>
            <a:r>
              <a:rPr lang="en-US" sz="76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{{NOM_DU_COURS}}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914400" y="2166575"/>
            <a:ext cx="92652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Archivo Black"/>
              <a:buNone/>
            </a:pPr>
            <a:r>
              <a:rPr lang="en-US" sz="4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{{SOUS-TITRE}}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0701607" y="5705974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0701593" y="45459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lang="en-US" sz="900">
                <a:latin typeface="Archivo Black"/>
                <a:ea typeface="Archivo Black"/>
                <a:cs typeface="Archivo Black"/>
                <a:sym typeface="Archivo Black"/>
              </a:rPr>
              <a:t>SYLLABUS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{{CLASSE}}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5705856"/>
            <a:ext cx="10362900" cy="9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0459000" y="5124000"/>
            <a:ext cx="116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31412"/>
                </a:solidFill>
                <a:highlight>
                  <a:srgbClr val="F8F9FA"/>
                </a:highlight>
                <a:latin typeface="Roboto Mono"/>
                <a:ea typeface="Roboto Mono"/>
                <a:cs typeface="Roboto Mono"/>
                <a:sym typeface="Roboto Mono"/>
              </a:rPr>
              <a:t>{{LOGO}}</a:t>
            </a:r>
            <a:endParaRPr/>
          </a:p>
        </p:txBody>
      </p:sp>
      <p:pic>
        <p:nvPicPr>
          <p:cNvPr id="26" name="Google Shape;26;p3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71500" y="629107"/>
            <a:ext cx="39348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VOTRE FORMATEUR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067812" y="1314907"/>
            <a:ext cx="9000" cy="38103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71501" y="3466875"/>
            <a:ext cx="2239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800"/>
              <a:buFont typeface="Archivo Black"/>
              <a:buNone/>
            </a:pPr>
            <a:r>
              <a:rPr lang="en-US" sz="1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{{PRENOM-NOM}}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71492" y="3862645"/>
            <a:ext cx="211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Expert en Cybersécurité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67861" y="4334698"/>
            <a:ext cx="2190900" cy="342900"/>
          </a:xfrm>
          <a:prstGeom prst="roundRect">
            <a:avLst>
              <a:gd fmla="val 266667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66" y="4429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986656" y="4420651"/>
            <a:ext cx="1719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0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{{MAIL}}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67861" y="4791898"/>
            <a:ext cx="2190900" cy="342900"/>
          </a:xfrm>
          <a:prstGeom prst="roundRect">
            <a:avLst>
              <a:gd fmla="val 266667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-50" l="0" r="0" t="-40"/>
          <a:stretch/>
        </p:blipFill>
        <p:spPr>
          <a:xfrm>
            <a:off x="728544" y="488699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/>
        </p:nvSpPr>
        <p:spPr>
          <a:xfrm>
            <a:off x="988556" y="4871756"/>
            <a:ext cx="16056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0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{{LINKEDIN}}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3678631" y="1352398"/>
            <a:ext cx="1386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BIOGRAPHIE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3678625" y="1632601"/>
            <a:ext cx="78018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Plus de 15 ans d'expérience en sécurité offensive et défensive. Spécialisé dans les tests d'intrusion, la réponse aux incidents et la sécurisation des infrastructures critiques. A accompagné plus de 50 entreprises du Fortune 500 dans leur stratégie de cyber-résilience. Passionné par la transmission de connaissances et la formation des futures générations d'experts.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678631" y="3411623"/>
            <a:ext cx="1853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EXPÉRIENCE CLÉ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3705175" y="3802075"/>
            <a:ext cx="31107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Chef de projet SOC - Banque Internationale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3705175" y="4430275"/>
            <a:ext cx="311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Lead Pentester - Infrastructures Cloud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3705174" y="4801499"/>
            <a:ext cx="3110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Formateur certifié Blue &amp; Red Team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3705186" y="5173671"/>
            <a:ext cx="311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Consultant en gestion de crise cyber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839045" y="3411172"/>
            <a:ext cx="1805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CERTIFICATIONS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839045" y="3791562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0894" y="3972613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/>
        </p:nvSpPr>
        <p:spPr>
          <a:xfrm>
            <a:off x="8305389" y="3905862"/>
            <a:ext cx="909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CEH &amp; OSCP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8305389" y="4086913"/>
            <a:ext cx="1067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Offensive Security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839045" y="4458160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0894" y="463921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8305389" y="4572460"/>
            <a:ext cx="1614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ISO 27001 Lead Auditor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8305389" y="4753511"/>
            <a:ext cx="4866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PECout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839045" y="5125672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7">
            <a:alphaModFix/>
          </a:blip>
          <a:srcRect b="0" l="-1653" r="-1642" t="0"/>
          <a:stretch/>
        </p:blipFill>
        <p:spPr>
          <a:xfrm>
            <a:off x="8000894" y="5305808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/>
        </p:nvSpPr>
        <p:spPr>
          <a:xfrm>
            <a:off x="8286187" y="5239972"/>
            <a:ext cx="1672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lang="en-US" sz="1000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DevOps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8286187" y="5420108"/>
            <a:ext cx="1047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Microsoft AZ-500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71500" y="5935791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8">
            <a:alphaModFix/>
          </a:blip>
          <a:srcRect b="34940" l="0" r="0" t="-1607"/>
          <a:stretch/>
        </p:blipFill>
        <p:spPr>
          <a:xfrm>
            <a:off x="606486" y="1343438"/>
            <a:ext cx="1790400" cy="17904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" name="Google Shape;65;p4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4" title="cybersup-wordmark-blanc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4" title="cybersup-logo-symbole-original-monochrome-1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47">
            <a:alpha val="88050"/>
          </a:srgbClr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914400" y="981636"/>
            <a:ext cx="476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638605" y="981636"/>
            <a:ext cx="2048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914400" y="1533934"/>
            <a:ext cx="609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638605" y="1533934"/>
            <a:ext cx="5515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UTILISATION INCORRECTE DU LOGO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914400" y="2087146"/>
            <a:ext cx="543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638605" y="2087146"/>
            <a:ext cx="3143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TYPOGRAPHIE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14400" y="2639443"/>
            <a:ext cx="553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638605" y="2639443"/>
            <a:ext cx="2829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COULEURS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914400" y="3191741"/>
            <a:ext cx="553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638605" y="3191741"/>
            <a:ext cx="3905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IDENTITE VISUELLE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14400" y="4224528"/>
            <a:ext cx="7696505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Archivo Black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SOMMAIRE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14400" y="5705856"/>
            <a:ext cx="10362895" cy="914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191500" y="1000348"/>
            <a:ext cx="38400" cy="26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8381695" y="1028694"/>
            <a:ext cx="221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APERÇU DU COURS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8191500" y="1392691"/>
            <a:ext cx="33960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Cette présentation aborde les fondamentaux de la sécurité digitale avec une approche pratique. Nous explorerons les concepts clés à travers des mises en situation concrètes, de l'analyse à la défense.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91500" y="3053684"/>
            <a:ext cx="381300" cy="381300"/>
          </a:xfrm>
          <a:prstGeom prst="roundRect">
            <a:avLst>
              <a:gd fmla="val 239808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316798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8724595" y="3139637"/>
            <a:ext cx="1858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b="1" lang="en-US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5 jours de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présentation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191500" y="3587693"/>
            <a:ext cx="381300" cy="381300"/>
          </a:xfrm>
          <a:prstGeom prst="roundRect">
            <a:avLst>
              <a:gd fmla="val 239808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-30" r="-40" t="0"/>
          <a:stretch/>
        </p:blipFill>
        <p:spPr>
          <a:xfrm>
            <a:off x="8296656" y="3701993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8724595" y="3672733"/>
            <a:ext cx="132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 Chapitres clés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 title="cybersup-wordmark-blan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10701607" y="5705974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701593" y="45459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lang="en-US" sz="900">
                <a:latin typeface="Archivo Black"/>
                <a:ea typeface="Archivo Black"/>
                <a:cs typeface="Archivo Black"/>
                <a:sym typeface="Archivo Black"/>
              </a:rPr>
              <a:t>SYLLABUS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14400" y="5705856"/>
            <a:ext cx="10362900" cy="9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10459000" y="5124000"/>
            <a:ext cx="116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31412"/>
                </a:solidFill>
                <a:highlight>
                  <a:srgbClr val="F8F9FA"/>
                </a:highlight>
                <a:latin typeface="Roboto Mono"/>
                <a:ea typeface="Roboto Mono"/>
                <a:cs typeface="Roboto Mono"/>
                <a:sym typeface="Roboto Mono"/>
              </a:rPr>
              <a:t>{{LOGO}}</a:t>
            </a:r>
            <a:endParaRPr/>
          </a:p>
        </p:txBody>
      </p:sp>
      <p:pic>
        <p:nvPicPr>
          <p:cNvPr id="103" name="Google Shape;103;p5" title="cybersup-logo-symbole-original-monochrome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title="cybersup-connecteur-gradi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AE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533095" y="646481"/>
            <a:ext cx="16770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500"/>
              <a:buFont typeface="Archivo Black"/>
              <a:buNone/>
            </a:pPr>
            <a:r>
              <a:rPr b="0" i="0" lang="en-US" sz="10500" u="none" cap="none" strike="noStrike">
                <a:solidFill>
                  <a:srgbClr val="FF8A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10763402" y="3943807"/>
            <a:ext cx="16770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500"/>
              <a:buFont typeface="Archivo Black"/>
              <a:buNone/>
            </a:pPr>
            <a:r>
              <a:rPr b="0" i="0" lang="en-US" sz="10500" u="none" cap="none" strike="noStrike">
                <a:solidFill>
                  <a:srgbClr val="FF8A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”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295705" y="3934663"/>
            <a:ext cx="38400" cy="6384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1524305" y="3953866"/>
            <a:ext cx="1877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Bruce Schneier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1524305" y="4325112"/>
            <a:ext cx="296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Cryptographe et Expert en Sécurité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104595" y="5734202"/>
            <a:ext cx="10134300" cy="19200"/>
          </a:xfrm>
          <a:prstGeom prst="rect">
            <a:avLst/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1295705" y="1284732"/>
            <a:ext cx="90591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3900"/>
              <a:buFont typeface="Archivo Black"/>
              <a:buNone/>
            </a:pPr>
            <a:r>
              <a:rPr b="0" i="0" lang="en-US" sz="39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LA SÉCURITÉ N'EST PAS UN PRODUIT, MAIS UN PROCESSUS CONTINU QUI NÉCESSITE VIGILANCE ET ADAPTATION.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6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24" name="Google Shape;124;p6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 title="cybersup-connecteur-gradi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6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{{NOM_DU_CHAPITRE}}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 flipH="1" rot="10800000">
            <a:off x="761700" y="449104"/>
            <a:ext cx="107958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61695" y="5810098"/>
            <a:ext cx="1066830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 title="cybersup-connecteur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1" name="Google Shape;151;p8" title="cybersup-wordmark-bla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 flipH="1" rot="10800000">
            <a:off x="761700" y="449104"/>
            <a:ext cx="107958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761695" y="761695"/>
            <a:ext cx="44577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VECTEURS D'ATTAQUE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61695" y="1533449"/>
            <a:ext cx="5572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surface d'attaque d'une organisation s'étend bien au-delà de ses infrastructures techniques, englobant chaque utilisateur et partenaire.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61700" y="2747775"/>
            <a:ext cx="5472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Ingénierie Sociale &amp; Phishing Manipulation psychologique ciblant les employés pour obtenir des accès privilégiés sans effort technique majeur.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23375" y="3709725"/>
            <a:ext cx="5472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Identifiants Compromis Utilisation de mots de passe faibles, par défaut ou réutilisés sur plusieurs plateformes non sécurisées.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57125" y="4414725"/>
            <a:ext cx="5572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Shadow IT &amp; Appareils Non Gérés Utilisation d'outils et d'appareils personnels connectés au réseau d'entreprise sans supervision de la DSI.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246625" y="1581001"/>
            <a:ext cx="4190700" cy="3866100"/>
          </a:xfrm>
          <a:prstGeom prst="roundRect">
            <a:avLst>
              <a:gd fmla="val 1172" name="adj"/>
            </a:avLst>
          </a:prstGeom>
          <a:solidFill>
            <a:srgbClr val="F6E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246625" y="1581001"/>
            <a:ext cx="38400" cy="3866100"/>
          </a:xfrm>
          <a:prstGeom prst="rect">
            <a:avLst/>
          </a:prstGeom>
          <a:solidFill>
            <a:srgbClr val="303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0820095" y="1390802"/>
            <a:ext cx="381300" cy="381300"/>
          </a:xfrm>
          <a:prstGeom prst="roundRect">
            <a:avLst>
              <a:gd fmla="val 47962" name="adj"/>
            </a:avLst>
          </a:prstGeom>
          <a:solidFill>
            <a:srgbClr val="3038B0"/>
          </a:solidFill>
          <a:ln>
            <a:noFill/>
          </a:ln>
          <a:effectLst>
            <a:outerShdw blurRad="114300" rotWithShape="0" algn="bl" dir="5400000" dist="38100">
              <a:srgbClr val="3038B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-1771" r="-1771" t="0"/>
          <a:stretch/>
        </p:blipFill>
        <p:spPr>
          <a:xfrm>
            <a:off x="10944454" y="1495044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7589520" y="1914754"/>
            <a:ext cx="2162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 SAVIEZ-VOUS 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7589520" y="2324405"/>
            <a:ext cx="35919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Le facteur humain reste le maillon faible principal. Selon le dernier rapport, 82% des brèches impliquent une erreur humaine ou une action involontaire.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61695" y="5810098"/>
            <a:ext cx="106683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title="cybersup-connecteur-gradi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77" name="Google Shape;177;p9" title="cybersup-wordmark-blan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{{CLASSE}}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571500" y="866851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813955" y="1936699"/>
            <a:ext cx="44103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Analyse en temps réel d'une tentative d'intrusion et réponse défensive.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813955" y="2778862"/>
            <a:ext cx="49203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Nos étudiants sont confrontés à des scénarios réalistes reproduisant les tactiques des groupes APT. L'objectif est de détecter les signaux faibles avant l'exfiltration de données.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813955" y="3600907"/>
            <a:ext cx="49296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Cette approche pratique permet de développer des réflexes immédiats sur la Kill Chain.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13955" y="4569257"/>
            <a:ext cx="5238600" cy="9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813955" y="4750308"/>
            <a:ext cx="896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7119"/>
              </a:buClr>
              <a:buSzPts val="2400"/>
              <a:buFont typeface="Archivo Black"/>
              <a:buNone/>
            </a:pPr>
            <a:r>
              <a:rPr b="0" i="0" lang="en-US" sz="2400" u="none" cap="none" strike="noStrike">
                <a:solidFill>
                  <a:srgbClr val="FD7119"/>
                </a:solidFill>
                <a:latin typeface="Archivo Black"/>
                <a:ea typeface="Archivo Black"/>
                <a:cs typeface="Archivo Black"/>
                <a:sym typeface="Archivo Black"/>
              </a:rPr>
              <a:t>24H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813955" y="5130698"/>
            <a:ext cx="15006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DURÉE DE L'EXERCICE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2587891" y="4750308"/>
            <a:ext cx="11532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7119"/>
              </a:buClr>
              <a:buSzPts val="2400"/>
              <a:buFont typeface="Archivo Black"/>
              <a:buNone/>
            </a:pPr>
            <a:r>
              <a:rPr b="0" i="0" lang="en-US" sz="2400" u="none" cap="none" strike="noStrike">
                <a:solidFill>
                  <a:srgbClr val="FD7119"/>
                </a:solidFill>
                <a:latin typeface="Archivo Black"/>
                <a:ea typeface="Archivo Black"/>
                <a:cs typeface="Archivo Black"/>
                <a:sym typeface="Archivo Black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2587891" y="5130698"/>
            <a:ext cx="13578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IMMERSION RÉELLE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33235" r="0" t="0"/>
          <a:stretch/>
        </p:blipFill>
        <p:spPr>
          <a:xfrm>
            <a:off x="6441425" y="-9538"/>
            <a:ext cx="5768024" cy="5810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9626123" y="5223649"/>
            <a:ext cx="23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Centre d'Opérations (SOC)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9626125" y="5480600"/>
            <a:ext cx="2386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Monitoring actif des flux réseaux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13950" y="5801100"/>
            <a:ext cx="10806000" cy="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0684007" y="4687700"/>
            <a:ext cx="1380600" cy="351900"/>
          </a:xfrm>
          <a:prstGeom prst="roundRect">
            <a:avLst>
              <a:gd fmla="val 42120" name="adj"/>
            </a:avLst>
          </a:prstGeom>
          <a:solidFill>
            <a:srgbClr val="FD71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5798" y="479704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11045195" y="4791941"/>
            <a:ext cx="9675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Black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BLUE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 title="cybersup-connecteur-gradi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06" name="Google Shape;206;p10" title="cybersup-wordmark-blan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571500" y="362100"/>
            <a:ext cx="5869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lang="en-US" sz="2700">
                <a:latin typeface="Archivo Black"/>
                <a:ea typeface="Archivo Black"/>
                <a:cs typeface="Archivo Black"/>
                <a:sym typeface="Archivo Black"/>
              </a:rPr>
              <a:t>SIMULATION D’ATTAQUE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/>
        </p:nvSpPr>
        <p:spPr>
          <a:xfrm>
            <a:off x="571500" y="362102"/>
            <a:ext cx="448696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DÉFENSE VS ATTAQUE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71500" y="8668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71500" y="1266444"/>
            <a:ext cx="5286000" cy="4362600"/>
          </a:xfrm>
          <a:prstGeom prst="roundRect">
            <a:avLst>
              <a:gd fmla="val 549" name="adj"/>
            </a:avLst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80644" y="1276502"/>
            <a:ext cx="5266944" cy="724205"/>
          </a:xfrm>
          <a:prstGeom prst="rect">
            <a:avLst/>
          </a:prstGeom>
          <a:solidFill>
            <a:srgbClr val="303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819302" y="1533449"/>
            <a:ext cx="1420063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BLUE 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266944" y="1466698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2956" y="1561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580644" y="2000707"/>
            <a:ext cx="5266800" cy="3619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819302" y="2247595"/>
            <a:ext cx="1488643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8B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3038B0"/>
                </a:solidFill>
                <a:latin typeface="DM Sans"/>
                <a:ea typeface="DM Sans"/>
                <a:cs typeface="DM Sans"/>
                <a:sym typeface="DM Sans"/>
              </a:rPr>
              <a:t>STRATÉGIE DÉFENSIVE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11"/>
          <p:cNvPicPr preferRelativeResize="0"/>
          <p:nvPr/>
        </p:nvPicPr>
        <p:blipFill rotWithShape="1">
          <a:blip r:embed="rId4">
            <a:alphaModFix/>
          </a:blip>
          <a:srcRect b="-1094" l="0" r="0" t="-1104"/>
          <a:stretch/>
        </p:blipFill>
        <p:spPr>
          <a:xfrm>
            <a:off x="819302" y="2633472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/>
          <p:nvPr/>
        </p:nvSpPr>
        <p:spPr>
          <a:xfrm>
            <a:off x="1047902" y="2595982"/>
            <a:ext cx="17529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Surveillance Continue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047902" y="2862072"/>
            <a:ext cx="404622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Monitoring 24/7 des flux réseaux et détection d'anomalies via le SOC.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1"/>
          <p:cNvPicPr preferRelativeResize="0"/>
          <p:nvPr/>
        </p:nvPicPr>
        <p:blipFill rotWithShape="1">
          <a:blip r:embed="rId4">
            <a:alphaModFix/>
          </a:blip>
          <a:srcRect b="-1094" l="0" r="0" t="-1104"/>
          <a:stretch/>
        </p:blipFill>
        <p:spPr>
          <a:xfrm>
            <a:off x="819302" y="327629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1047902" y="3238805"/>
            <a:ext cx="11622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Durcissement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1047902" y="3504895"/>
            <a:ext cx="459851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Réduction de la surface d'attaque par la configuration sécurisée des systèmes.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1"/>
          <p:cNvPicPr preferRelativeResize="0"/>
          <p:nvPr/>
        </p:nvPicPr>
        <p:blipFill rotWithShape="1">
          <a:blip r:embed="rId4">
            <a:alphaModFix/>
          </a:blip>
          <a:srcRect b="-1094" l="0" r="0" t="-1104"/>
          <a:stretch/>
        </p:blipFill>
        <p:spPr>
          <a:xfrm>
            <a:off x="819302" y="3919118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 txBox="1"/>
          <p:nvPr/>
        </p:nvSpPr>
        <p:spPr>
          <a:xfrm>
            <a:off x="1047902" y="3881628"/>
            <a:ext cx="15435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Réponse à Incident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047902" y="4147718"/>
            <a:ext cx="415137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Protocoles d'isolement et de remédiation immédiate en cas de brèche.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334049" y="1266444"/>
            <a:ext cx="5286146" cy="4362602"/>
          </a:xfrm>
          <a:prstGeom prst="roundRect">
            <a:avLst>
              <a:gd fmla="val 549" name="adj"/>
            </a:avLst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344107" y="1276502"/>
            <a:ext cx="5266944" cy="724205"/>
          </a:xfrm>
          <a:prstGeom prst="rect">
            <a:avLst/>
          </a:prstGeom>
          <a:solidFill>
            <a:srgbClr val="FD71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6581851" y="1533449"/>
            <a:ext cx="128656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RED 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030407" y="1466698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25505" y="1561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6344107" y="2000707"/>
            <a:ext cx="5266944" cy="361919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6581851" y="2247595"/>
            <a:ext cx="149870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C0D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D95C0D"/>
                </a:solidFill>
                <a:latin typeface="DM Sans"/>
                <a:ea typeface="DM Sans"/>
                <a:cs typeface="DM Sans"/>
                <a:sym typeface="DM Sans"/>
              </a:rPr>
              <a:t>STRATÉGIE OFFENSIVE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1"/>
          <p:cNvPicPr preferRelativeResize="0"/>
          <p:nvPr/>
        </p:nvPicPr>
        <p:blipFill rotWithShape="1">
          <a:blip r:embed="rId6">
            <a:alphaModFix/>
          </a:blip>
          <a:srcRect b="0" l="-1507" r="-1507" t="0"/>
          <a:stretch/>
        </p:blipFill>
        <p:spPr>
          <a:xfrm>
            <a:off x="6581851" y="2633472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/>
        </p:nvSpPr>
        <p:spPr>
          <a:xfrm>
            <a:off x="6782105" y="2595982"/>
            <a:ext cx="15051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Pentesting Avancé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782105" y="2862072"/>
            <a:ext cx="425561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Simulation d'attaques réelles pour identifier les failles avant les criminels.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1"/>
          <p:cNvPicPr preferRelativeResize="0"/>
          <p:nvPr/>
        </p:nvPicPr>
        <p:blipFill rotWithShape="1">
          <a:blip r:embed="rId6">
            <a:alphaModFix/>
          </a:blip>
          <a:srcRect b="0" l="-1507" r="-1507" t="0"/>
          <a:stretch/>
        </p:blipFill>
        <p:spPr>
          <a:xfrm>
            <a:off x="6581851" y="3276295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/>
          <p:nvPr/>
        </p:nvSpPr>
        <p:spPr>
          <a:xfrm>
            <a:off x="6782105" y="3238805"/>
            <a:ext cx="174376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Exploitation de Failles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6782105" y="3504895"/>
            <a:ext cx="392277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Test de la résistance des systèmes par l'injection de charges utiles.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6">
            <a:alphaModFix/>
          </a:blip>
          <a:srcRect b="0" l="-1507" r="-1507" t="0"/>
          <a:stretch/>
        </p:blipFill>
        <p:spPr>
          <a:xfrm>
            <a:off x="6581851" y="3919118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6782105" y="3881628"/>
            <a:ext cx="143835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Ingénierie Sociale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6782105" y="4147718"/>
            <a:ext cx="365577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Évaluation de la sensibilisation des employés face au phishing.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810098" y="3161995"/>
            <a:ext cx="571500" cy="571500"/>
          </a:xfrm>
          <a:prstGeom prst="ellipse">
            <a:avLst/>
          </a:prstGeom>
          <a:solidFill>
            <a:srgbClr val="00000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5952744" y="3305556"/>
            <a:ext cx="42885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1" title="cybersup-connecteur-gradi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56" name="Google Shape;256;p11" title="cybersup-wordmark-blan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571500" y="381305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571500" y="571500"/>
            <a:ext cx="857798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CHRONOLOGIE — FEUILLE DE ROUTE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1047902" y="3767328"/>
            <a:ext cx="10096805" cy="3840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61695" y="3376879"/>
            <a:ext cx="2095805" cy="1809598"/>
          </a:xfrm>
          <a:prstGeom prst="roundRect">
            <a:avLst>
              <a:gd fmla="val 3191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36191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4766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3341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1329538" y="3586277"/>
            <a:ext cx="106253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C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17EFC"/>
                </a:solidFill>
                <a:latin typeface="DM Sans"/>
                <a:ea typeface="DM Sans"/>
                <a:cs typeface="DM Sans"/>
                <a:sym typeface="DM Sans"/>
              </a:rPr>
              <a:t>Q1 - JANVIER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1205179" y="3862426"/>
            <a:ext cx="13386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Audit Sécurité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092708" y="4196182"/>
            <a:ext cx="1538935" cy="771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Analyse complète des vulnérabilités et cartographie du réseau existant.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4272991" y="3586277"/>
            <a:ext cx="89062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4C2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534C2"/>
                </a:solidFill>
                <a:latin typeface="DM Sans"/>
                <a:ea typeface="DM Sans"/>
                <a:cs typeface="DM Sans"/>
                <a:sym typeface="DM Sans"/>
              </a:rPr>
              <a:t>Q2 - AVRIL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4036162" y="3862426"/>
            <a:ext cx="13962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Formation Blue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3825850" y="4196182"/>
            <a:ext cx="17867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Montée en compétence des équipes défensives sur les outils de détection.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7051853" y="3586277"/>
            <a:ext cx="105338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7D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3187D"/>
                </a:solidFill>
                <a:latin typeface="DM Sans"/>
                <a:ea typeface="DM Sans"/>
                <a:cs typeface="DM Sans"/>
                <a:sym typeface="DM Sans"/>
              </a:rPr>
              <a:t>Q3 - JUILLET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6846113" y="3862426"/>
            <a:ext cx="1491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Simul. Red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681521" y="4196182"/>
            <a:ext cx="17867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Exercice d'intrusion réaliste pour tester la résilience opérationnelle.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9844430" y="3586277"/>
            <a:ext cx="117683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FF8A00"/>
                </a:solidFill>
                <a:latin typeface="DM Sans"/>
                <a:ea typeface="DM Sans"/>
                <a:cs typeface="DM Sans"/>
                <a:sym typeface="DM Sans"/>
              </a:rPr>
              <a:t>Q4 - OCTOBRE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9638690" y="3862426"/>
            <a:ext cx="1624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Déploiement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9683496" y="4196182"/>
            <a:ext cx="15005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Mise en production du centre d'opérations de sécurité 24/7.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429207" y="2385670"/>
            <a:ext cx="761695" cy="761695"/>
          </a:xfrm>
          <a:prstGeom prst="ellipse">
            <a:avLst/>
          </a:prstGeom>
          <a:solidFill>
            <a:srgbClr val="017EFC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4286707" y="2385670"/>
            <a:ext cx="761695" cy="761695"/>
          </a:xfrm>
          <a:prstGeom prst="ellipse">
            <a:avLst/>
          </a:prstGeom>
          <a:solidFill>
            <a:srgbClr val="1534C2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144207" y="2385670"/>
            <a:ext cx="761695" cy="761695"/>
          </a:xfrm>
          <a:prstGeom prst="ellipse">
            <a:avLst/>
          </a:prstGeom>
          <a:solidFill>
            <a:srgbClr val="03187D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0001707" y="2385670"/>
            <a:ext cx="761695" cy="761695"/>
          </a:xfrm>
          <a:prstGeom prst="ellipse">
            <a:avLst/>
          </a:prstGeom>
          <a:solidFill>
            <a:srgbClr val="FF8A0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2" title="cybersup-connecteur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93" name="Google Shape;293;p12" title="cybersup-wordmark-bla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571500" y="1343248"/>
            <a:ext cx="8076900" cy="4327200"/>
          </a:xfrm>
          <a:prstGeom prst="roundRect">
            <a:avLst>
              <a:gd fmla="val 638" name="adj"/>
            </a:avLst>
          </a:prstGeom>
          <a:solidFill>
            <a:srgbClr val="03187D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571500" y="571500"/>
            <a:ext cx="7258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 RÉSEAU SÉCURISÉE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930030" y="1362456"/>
            <a:ext cx="2695800" cy="2476200"/>
          </a:xfrm>
          <a:prstGeom prst="roundRect">
            <a:avLst>
              <a:gd fmla="val 1136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8930030" y="1362456"/>
            <a:ext cx="38400" cy="24762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3"/>
          <p:cNvPicPr preferRelativeResize="0"/>
          <p:nvPr/>
        </p:nvPicPr>
        <p:blipFill rotWithShape="1">
          <a:blip r:embed="rId3">
            <a:alphaModFix/>
          </a:blip>
          <a:srcRect b="-100" l="0" r="0" t="-100"/>
          <a:stretch/>
        </p:blipFill>
        <p:spPr>
          <a:xfrm>
            <a:off x="9158630" y="1591056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 txBox="1"/>
          <p:nvPr/>
        </p:nvSpPr>
        <p:spPr>
          <a:xfrm>
            <a:off x="9368028" y="1552651"/>
            <a:ext cx="18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BONNES PRATIQUES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9158630" y="1923898"/>
            <a:ext cx="2376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Authentification MFA obligatoire pour tous les accès VPN entrants.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9158630" y="2411273"/>
            <a:ext cx="2376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Segmentation stricte entre DMZ et LAN : aucun flux direct depuis Internet.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9158630" y="3086100"/>
            <a:ext cx="2376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Centralisation des logs : Envoi systématique des journaux vers le SIEM.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71500" y="23621695"/>
            <a:ext cx="304500" cy="304500"/>
          </a:xfrm>
          <a:prstGeom prst="roundRect">
            <a:avLst>
              <a:gd fmla="val 37538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3"/>
          <p:cNvPicPr preferRelativeResize="0"/>
          <p:nvPr/>
        </p:nvPicPr>
        <p:blipFill rotWithShape="1">
          <a:blip r:embed="rId4">
            <a:alphaModFix/>
          </a:blip>
          <a:srcRect b="-50" l="0" r="0" t="-40"/>
          <a:stretch/>
        </p:blipFill>
        <p:spPr>
          <a:xfrm>
            <a:off x="657454" y="2369850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3"/>
          <p:cNvSpPr/>
          <p:nvPr/>
        </p:nvSpPr>
        <p:spPr>
          <a:xfrm>
            <a:off x="705002" y="23832007"/>
            <a:ext cx="38400" cy="3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1019556" y="23683874"/>
            <a:ext cx="11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Charte graphique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11312042" y="23683874"/>
            <a:ext cx="4152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14/16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960014" y="4364399"/>
            <a:ext cx="2695800" cy="1295700"/>
          </a:xfrm>
          <a:prstGeom prst="roundRect">
            <a:avLst>
              <a:gd fmla="val 4151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9111805" y="4563738"/>
            <a:ext cx="75900" cy="75900"/>
          </a:xfrm>
          <a:prstGeom prst="ellipse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9264510" y="4526248"/>
            <a:ext cx="11340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Périmètre / Externe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111805" y="4811541"/>
            <a:ext cx="75900" cy="75900"/>
          </a:xfrm>
          <a:prstGeom prst="ellipse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9264510" y="4774050"/>
            <a:ext cx="14484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DMZ (Zone Démilitarisée)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111805" y="5059343"/>
            <a:ext cx="75900" cy="75900"/>
          </a:xfrm>
          <a:prstGeom prst="ellipse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9264510" y="5020938"/>
            <a:ext cx="800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LAN / Interne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111805" y="5307145"/>
            <a:ext cx="75900" cy="75900"/>
          </a:xfrm>
          <a:prstGeom prst="ellipse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9264510" y="5268741"/>
            <a:ext cx="1086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Points de Contrôle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76000" y="1728607"/>
            <a:ext cx="952800" cy="771900"/>
          </a:xfrm>
          <a:prstGeom prst="roundRect">
            <a:avLst>
              <a:gd fmla="val 877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876000" y="1728607"/>
            <a:ext cx="952800" cy="38400"/>
          </a:xfrm>
          <a:prstGeom prst="rect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102" y="18429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 txBox="1"/>
          <p:nvPr/>
        </p:nvSpPr>
        <p:spPr>
          <a:xfrm>
            <a:off x="998529" y="2148316"/>
            <a:ext cx="7911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WAF / REVERSE PROXY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0176" y="1800844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4570176" y="1800844"/>
            <a:ext cx="952800" cy="38400"/>
          </a:xfrm>
          <a:prstGeom prst="rect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1364" y="19151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3"/>
          <p:cNvSpPr txBox="1"/>
          <p:nvPr/>
        </p:nvSpPr>
        <p:spPr>
          <a:xfrm>
            <a:off x="4690877" y="2219640"/>
            <a:ext cx="7911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MAIL GATEWAY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76009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876009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3"/>
          <p:cNvPicPr preferRelativeResize="0"/>
          <p:nvPr/>
        </p:nvPicPr>
        <p:blipFill rotWithShape="1">
          <a:blip r:embed="rId7">
            <a:alphaModFix/>
          </a:blip>
          <a:srcRect b="0" l="-60" r="-50" t="0"/>
          <a:stretch/>
        </p:blipFill>
        <p:spPr>
          <a:xfrm>
            <a:off x="1252741" y="3023397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3"/>
          <p:cNvSpPr txBox="1"/>
          <p:nvPr/>
        </p:nvSpPr>
        <p:spPr>
          <a:xfrm>
            <a:off x="1121068" y="3328807"/>
            <a:ext cx="543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AD / LDAP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338488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338488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3"/>
          <p:cNvPicPr preferRelativeResize="0"/>
          <p:nvPr/>
        </p:nvPicPr>
        <p:blipFill rotWithShape="1">
          <a:blip r:embed="rId8">
            <a:alphaModFix/>
          </a:blip>
          <a:srcRect b="0" l="-80" r="-80" t="0"/>
          <a:stretch/>
        </p:blipFill>
        <p:spPr>
          <a:xfrm>
            <a:off x="3672244" y="3023397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3"/>
          <p:cNvSpPr txBox="1"/>
          <p:nvPr/>
        </p:nvSpPr>
        <p:spPr>
          <a:xfrm>
            <a:off x="3532341" y="3328807"/>
            <a:ext cx="648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POSTES EDR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800967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800967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63069" y="302339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"/>
          <p:cNvSpPr txBox="1"/>
          <p:nvPr/>
        </p:nvSpPr>
        <p:spPr>
          <a:xfrm>
            <a:off x="6021337" y="3328807"/>
            <a:ext cx="5907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SIEM / SOC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876000" y="3946800"/>
            <a:ext cx="10863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7D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3187D"/>
                </a:solidFill>
                <a:latin typeface="Archivo Black"/>
                <a:ea typeface="Archivo Black"/>
                <a:cs typeface="Archivo Black"/>
                <a:sym typeface="Archivo Black"/>
              </a:rPr>
              <a:t>WAN / INTERNET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150494" y="5136732"/>
            <a:ext cx="409800" cy="190200"/>
          </a:xfrm>
          <a:prstGeom prst="roundRect">
            <a:avLst>
              <a:gd fmla="val 9615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1189804" y="5165078"/>
            <a:ext cx="353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HTTPS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184542" y="5136732"/>
            <a:ext cx="562500" cy="190200"/>
          </a:xfrm>
          <a:prstGeom prst="roundRect">
            <a:avLst>
              <a:gd fmla="val 9615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5227129" y="5165076"/>
            <a:ext cx="6483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VPN IPSec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76000" y="4459719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876000" y="4459719"/>
            <a:ext cx="952800" cy="38400"/>
          </a:xfrm>
          <a:prstGeom prst="rect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10">
            <a:alphaModFix/>
          </a:blip>
          <a:srcRect b="0" l="-80" r="-80" t="0"/>
          <a:stretch/>
        </p:blipFill>
        <p:spPr>
          <a:xfrm>
            <a:off x="1209756" y="457401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 txBox="1"/>
          <p:nvPr/>
        </p:nvSpPr>
        <p:spPr>
          <a:xfrm>
            <a:off x="1127460" y="4878515"/>
            <a:ext cx="5340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INTERNET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959476" y="4492994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959476" y="4492994"/>
            <a:ext cx="952800" cy="38400"/>
          </a:xfrm>
          <a:prstGeom prst="rect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11">
            <a:alphaModFix/>
          </a:blip>
          <a:srcRect b="0" l="-80" r="-80" t="0"/>
          <a:stretch/>
        </p:blipFill>
        <p:spPr>
          <a:xfrm>
            <a:off x="5292317" y="4607294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/>
        </p:nvSpPr>
        <p:spPr>
          <a:xfrm>
            <a:off x="5206364" y="4911790"/>
            <a:ext cx="5340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SAAS APP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71500" y="6010351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3" title="cybersup-connecteur-gradient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64" name="Google Shape;364;p13" title="cybersup-wordmark-blanc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3"/>
          <p:cNvCxnSpPr>
            <a:endCxn id="339" idx="1"/>
          </p:cNvCxnSpPr>
          <p:nvPr/>
        </p:nvCxnSpPr>
        <p:spPr>
          <a:xfrm>
            <a:off x="1829788" y="2106147"/>
            <a:ext cx="1508700" cy="11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13"/>
          <p:cNvCxnSpPr>
            <a:stCxn id="331" idx="2"/>
            <a:endCxn id="343" idx="1"/>
          </p:cNvCxnSpPr>
          <p:nvPr/>
        </p:nvCxnSpPr>
        <p:spPr>
          <a:xfrm>
            <a:off x="5046576" y="2429944"/>
            <a:ext cx="754500" cy="7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13"/>
          <p:cNvCxnSpPr>
            <a:stCxn id="335" idx="3"/>
            <a:endCxn id="356" idx="1"/>
          </p:cNvCxnSpPr>
          <p:nvPr/>
        </p:nvCxnSpPr>
        <p:spPr>
          <a:xfrm>
            <a:off x="1828809" y="3223647"/>
            <a:ext cx="3130800" cy="15840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13"/>
          <p:cNvCxnSpPr>
            <a:stCxn id="339" idx="3"/>
          </p:cNvCxnSpPr>
          <p:nvPr/>
        </p:nvCxnSpPr>
        <p:spPr>
          <a:xfrm>
            <a:off x="4291288" y="3223647"/>
            <a:ext cx="1263300" cy="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13"/>
          <p:cNvSpPr/>
          <p:nvPr/>
        </p:nvSpPr>
        <p:spPr>
          <a:xfrm>
            <a:off x="5138069" y="2625521"/>
            <a:ext cx="571500" cy="286200"/>
          </a:xfrm>
          <a:prstGeom prst="roundRect">
            <a:avLst>
              <a:gd fmla="val 42599" name="adj"/>
            </a:avLst>
          </a:prstGeom>
          <a:solidFill>
            <a:srgbClr val="FF8A00"/>
          </a:solidFill>
          <a:ln>
            <a:noFill/>
          </a:ln>
          <a:effectLst>
            <a:outerShdw blurRad="63500" rotWithShape="0" algn="bl" dir="5400000" dist="38100">
              <a:srgbClr val="FF8A00">
                <a:alpha val="2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81630" y="272153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 txBox="1"/>
          <p:nvPr/>
        </p:nvSpPr>
        <p:spPr>
          <a:xfrm>
            <a:off x="5415132" y="2697759"/>
            <a:ext cx="228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FW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"/>
          <p:cNvSpPr/>
          <p:nvPr/>
        </p:nvSpPr>
        <p:spPr>
          <a:xfrm>
            <a:off x="571500" y="381305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 txBox="1"/>
          <p:nvPr/>
        </p:nvSpPr>
        <p:spPr>
          <a:xfrm>
            <a:off x="571500" y="571500"/>
            <a:ext cx="6348679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EXEMPLES — GRAPHIQUES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71500" y="1561795"/>
            <a:ext cx="5333695" cy="3866998"/>
          </a:xfrm>
          <a:prstGeom prst="roundRect">
            <a:avLst>
              <a:gd fmla="val 932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809244" y="1800454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14"/>
          <p:cNvPicPr preferRelativeResize="0"/>
          <p:nvPr/>
        </p:nvPicPr>
        <p:blipFill rotWithShape="1">
          <a:blip r:embed="rId3">
            <a:alphaModFix/>
          </a:blip>
          <a:srcRect b="-43" l="0" r="0" t="-43"/>
          <a:stretch/>
        </p:blipFill>
        <p:spPr>
          <a:xfrm>
            <a:off x="914400" y="1895551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4"/>
          <p:cNvSpPr txBox="1"/>
          <p:nvPr/>
        </p:nvSpPr>
        <p:spPr>
          <a:xfrm>
            <a:off x="1266444" y="1867205"/>
            <a:ext cx="2743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INCIDENTS / TRIMESTRE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4"/>
          <p:cNvPicPr preferRelativeResize="0"/>
          <p:nvPr/>
        </p:nvPicPr>
        <p:blipFill rotWithShape="1">
          <a:blip r:embed="rId4">
            <a:alphaModFix/>
          </a:blip>
          <a:srcRect b="0" l="-5" r="-5" t="0"/>
          <a:stretch/>
        </p:blipFill>
        <p:spPr>
          <a:xfrm>
            <a:off x="809244" y="2333549"/>
            <a:ext cx="485820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/>
          <p:nvPr/>
        </p:nvSpPr>
        <p:spPr>
          <a:xfrm>
            <a:off x="6286500" y="1561795"/>
            <a:ext cx="5333695" cy="3866998"/>
          </a:xfrm>
          <a:prstGeom prst="roundRect">
            <a:avLst>
              <a:gd fmla="val 932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6524244" y="1800454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14"/>
          <p:cNvPicPr preferRelativeResize="0"/>
          <p:nvPr/>
        </p:nvPicPr>
        <p:blipFill rotWithShape="1">
          <a:blip r:embed="rId5">
            <a:alphaModFix/>
          </a:blip>
          <a:srcRect b="0" l="-33" r="-33" t="0"/>
          <a:stretch/>
        </p:blipFill>
        <p:spPr>
          <a:xfrm>
            <a:off x="6610198" y="1895551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4"/>
          <p:cNvSpPr txBox="1"/>
          <p:nvPr/>
        </p:nvSpPr>
        <p:spPr>
          <a:xfrm>
            <a:off x="6981444" y="1867205"/>
            <a:ext cx="2286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TYPES D'INCIDENTS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14"/>
          <p:cNvPicPr preferRelativeResize="0"/>
          <p:nvPr/>
        </p:nvPicPr>
        <p:blipFill rotWithShape="1">
          <a:blip r:embed="rId6">
            <a:alphaModFix/>
          </a:blip>
          <a:srcRect b="0" l="-5" r="-5" t="0"/>
          <a:stretch/>
        </p:blipFill>
        <p:spPr>
          <a:xfrm>
            <a:off x="6524244" y="2333549"/>
            <a:ext cx="485820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4" title="cybersup-connecteur-gradi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97" name="Google Shape;397;p14" title="cybersup-wordmark-blan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4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/>
          <p:nvPr/>
        </p:nvSpPr>
        <p:spPr>
          <a:xfrm>
            <a:off x="571500" y="381305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571500" y="571500"/>
            <a:ext cx="6715354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BONNES PRATIQUES — SÉCURITÉ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71500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49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5"/>
          <p:cNvSpPr txBox="1"/>
          <p:nvPr/>
        </p:nvSpPr>
        <p:spPr>
          <a:xfrm>
            <a:off x="1019556" y="1505102"/>
            <a:ext cx="22101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AUTHENTIFICATION MFA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733349" y="1772107"/>
            <a:ext cx="28575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Exiger la double authentification pour tous les accès administrateurs.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33349" y="2192731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43407" y="2201875"/>
            <a:ext cx="1295705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819302" y="2259482"/>
            <a:ext cx="2953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2032711" y="2201875"/>
            <a:ext cx="790956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2108606" y="2259482"/>
            <a:ext cx="2578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MFA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820010" y="2201875"/>
            <a:ext cx="1104595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2896819" y="2259482"/>
            <a:ext cx="3913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743407" y="2702966"/>
            <a:ext cx="12957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819302" y="2511857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Admin_01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032711" y="2702966"/>
            <a:ext cx="790956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2108606" y="2511857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2820010" y="2702966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 txBox="1"/>
          <p:nvPr/>
        </p:nvSpPr>
        <p:spPr>
          <a:xfrm>
            <a:off x="2896819" y="2511857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743407" y="2964485"/>
            <a:ext cx="12957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819302" y="277794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Root_Sys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2032711" y="2964485"/>
            <a:ext cx="790956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 txBox="1"/>
          <p:nvPr/>
        </p:nvSpPr>
        <p:spPr>
          <a:xfrm>
            <a:off x="2108606" y="2777947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2820010" y="2964485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 txBox="1"/>
          <p:nvPr/>
        </p:nvSpPr>
        <p:spPr>
          <a:xfrm>
            <a:off x="2896819" y="2777947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819302" y="3044952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User_Std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2108606" y="3044952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2896819" y="3044952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334256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05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 txBox="1"/>
          <p:nvPr/>
        </p:nvSpPr>
        <p:spPr>
          <a:xfrm>
            <a:off x="4781398" y="1505102"/>
            <a:ext cx="22201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SEGMENTATION RÉSEAU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4496105" y="1772107"/>
            <a:ext cx="325800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Isoler les environnements critiques (Prod, Dev, Backup) pour limiter la propagation.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496105" y="2192731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505249" y="2201875"/>
            <a:ext cx="1314907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 txBox="1"/>
          <p:nvPr/>
        </p:nvSpPr>
        <p:spPr>
          <a:xfrm>
            <a:off x="4581144" y="2259482"/>
            <a:ext cx="3145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811012" y="2201875"/>
            <a:ext cx="694944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5886907" y="2259482"/>
            <a:ext cx="1627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6505956" y="2201875"/>
            <a:ext cx="1181405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6581851" y="2259482"/>
            <a:ext cx="3621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ACCÈS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505249" y="2702966"/>
            <a:ext cx="13149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4581144" y="2511857"/>
            <a:ext cx="4764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Prod_DB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5811012" y="2702966"/>
            <a:ext cx="6949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 txBox="1"/>
          <p:nvPr/>
        </p:nvSpPr>
        <p:spPr>
          <a:xfrm>
            <a:off x="5886907" y="2511857"/>
            <a:ext cx="2386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505956" y="2702966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6581851" y="251185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RESTRICT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505249" y="2964485"/>
            <a:ext cx="13149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 txBox="1"/>
          <p:nvPr/>
        </p:nvSpPr>
        <p:spPr>
          <a:xfrm>
            <a:off x="4581144" y="277794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Dev_App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811012" y="2964485"/>
            <a:ext cx="6949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 txBox="1"/>
          <p:nvPr/>
        </p:nvSpPr>
        <p:spPr>
          <a:xfrm>
            <a:off x="5886907" y="2777947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05956" y="2964485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6581851" y="2777947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ISOLATED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4581144" y="3044952"/>
            <a:ext cx="5715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Wifi_Guest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5886907" y="3044952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900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 txBox="1"/>
          <p:nvPr/>
        </p:nvSpPr>
        <p:spPr>
          <a:xfrm>
            <a:off x="6581851" y="3044952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PUBLIC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096098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7946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5"/>
          <p:cNvSpPr txBox="1"/>
          <p:nvPr/>
        </p:nvSpPr>
        <p:spPr>
          <a:xfrm>
            <a:off x="8544154" y="1505102"/>
            <a:ext cx="220096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MISES À JOUR SYSTÈME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8257946" y="1772107"/>
            <a:ext cx="299100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Appliquer les correctifs de sécurité critiques sous 48h.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8257946" y="2043684"/>
            <a:ext cx="3200400" cy="1295705"/>
          </a:xfrm>
          <a:prstGeom prst="roundRect">
            <a:avLst>
              <a:gd fmla="val 207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8268005" y="2053742"/>
            <a:ext cx="1343254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8343900" y="211043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SERVEUR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9602114" y="2053742"/>
            <a:ext cx="972007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 txBox="1"/>
          <p:nvPr/>
        </p:nvSpPr>
        <p:spPr>
          <a:xfrm>
            <a:off x="9678924" y="2110435"/>
            <a:ext cx="4480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10571378" y="2053742"/>
            <a:ext cx="886054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10647274" y="2110435"/>
            <a:ext cx="3529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268005" y="2553919"/>
            <a:ext cx="13432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8343900" y="2362810"/>
            <a:ext cx="6483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SRV-WEB-01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9602114" y="2553919"/>
            <a:ext cx="9720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9678924" y="2362810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v2.4.5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0571378" y="2553919"/>
            <a:ext cx="8860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10647274" y="2362810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268005" y="2816352"/>
            <a:ext cx="13432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8343900" y="2629814"/>
            <a:ext cx="5907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SRV-DB-02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602114" y="2816352"/>
            <a:ext cx="9720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 txBox="1"/>
          <p:nvPr/>
        </p:nvSpPr>
        <p:spPr>
          <a:xfrm>
            <a:off x="9678924" y="2629814"/>
            <a:ext cx="2953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v14.2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0571378" y="2816352"/>
            <a:ext cx="8860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10647274" y="2629814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8343900" y="2896819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FW-EDGE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9678924" y="2896819"/>
            <a:ext cx="2953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v7.0.1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 txBox="1"/>
          <p:nvPr/>
        </p:nvSpPr>
        <p:spPr>
          <a:xfrm>
            <a:off x="10647274" y="2896819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71500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49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5"/>
          <p:cNvSpPr txBox="1"/>
          <p:nvPr/>
        </p:nvSpPr>
        <p:spPr>
          <a:xfrm>
            <a:off x="1019556" y="3924605"/>
            <a:ext cx="22384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MOTS DE PASSE FAIBLES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733349" y="4190695"/>
            <a:ext cx="283921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Éviter les mots de passe par défaut ou trop simples.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733349" y="4463186"/>
            <a:ext cx="3200400" cy="1295705"/>
          </a:xfrm>
          <a:prstGeom prst="roundRect">
            <a:avLst>
              <a:gd fmla="val 207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743407" y="4473245"/>
            <a:ext cx="100035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 txBox="1"/>
          <p:nvPr/>
        </p:nvSpPr>
        <p:spPr>
          <a:xfrm>
            <a:off x="819302" y="4529938"/>
            <a:ext cx="438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1740103" y="4473245"/>
            <a:ext cx="1104595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 txBox="1"/>
          <p:nvPr/>
        </p:nvSpPr>
        <p:spPr>
          <a:xfrm>
            <a:off x="1815998" y="4529938"/>
            <a:ext cx="2862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PWD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2843784" y="4473245"/>
            <a:ext cx="1086307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 txBox="1"/>
          <p:nvPr/>
        </p:nvSpPr>
        <p:spPr>
          <a:xfrm>
            <a:off x="2919679" y="4529938"/>
            <a:ext cx="3337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743407" y="4973422"/>
            <a:ext cx="10003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 txBox="1"/>
          <p:nvPr/>
        </p:nvSpPr>
        <p:spPr>
          <a:xfrm>
            <a:off x="819302" y="4782312"/>
            <a:ext cx="3621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1740103" y="4973422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 txBox="1"/>
          <p:nvPr/>
        </p:nvSpPr>
        <p:spPr>
          <a:xfrm>
            <a:off x="1815998" y="4782312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admin123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2843784" y="4973422"/>
            <a:ext cx="10863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 txBox="1"/>
          <p:nvPr/>
        </p:nvSpPr>
        <p:spPr>
          <a:xfrm>
            <a:off x="2919679" y="4782312"/>
            <a:ext cx="4864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743407" y="5235854"/>
            <a:ext cx="10003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819302" y="5049317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740103" y="5235854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 txBox="1"/>
          <p:nvPr/>
        </p:nvSpPr>
        <p:spPr>
          <a:xfrm>
            <a:off x="1815998" y="5049317"/>
            <a:ext cx="32461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2843784" y="5235854"/>
            <a:ext cx="10863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 txBox="1"/>
          <p:nvPr/>
        </p:nvSpPr>
        <p:spPr>
          <a:xfrm>
            <a:off x="2919679" y="5049317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 txBox="1"/>
          <p:nvPr/>
        </p:nvSpPr>
        <p:spPr>
          <a:xfrm>
            <a:off x="819302" y="5315407"/>
            <a:ext cx="4096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 txBox="1"/>
          <p:nvPr/>
        </p:nvSpPr>
        <p:spPr>
          <a:xfrm>
            <a:off x="1815998" y="5315407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123456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 txBox="1"/>
          <p:nvPr/>
        </p:nvSpPr>
        <p:spPr>
          <a:xfrm>
            <a:off x="2919679" y="5315407"/>
            <a:ext cx="4864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4334256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105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5"/>
          <p:cNvSpPr txBox="1"/>
          <p:nvPr/>
        </p:nvSpPr>
        <p:spPr>
          <a:xfrm>
            <a:off x="4781398" y="3924605"/>
            <a:ext cx="21534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PORTS NON SÉCURISÉS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 txBox="1"/>
          <p:nvPr/>
        </p:nvSpPr>
        <p:spPr>
          <a:xfrm>
            <a:off x="4496105" y="4190695"/>
            <a:ext cx="319125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Ne jamais exposer des services d'administration (RDP, SSH, Telnet) sur internet.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4496105" y="4612234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4505249" y="4621378"/>
            <a:ext cx="115214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 txBox="1"/>
          <p:nvPr/>
        </p:nvSpPr>
        <p:spPr>
          <a:xfrm>
            <a:off x="4581144" y="4678985"/>
            <a:ext cx="4288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5649163" y="4621378"/>
            <a:ext cx="866851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5725058" y="4678985"/>
            <a:ext cx="3054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6512357" y="4621378"/>
            <a:ext cx="1181405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 txBox="1"/>
          <p:nvPr/>
        </p:nvSpPr>
        <p:spPr>
          <a:xfrm>
            <a:off x="6588252" y="4678985"/>
            <a:ext cx="3913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RISQUE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4505249" y="5122469"/>
            <a:ext cx="11521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4581144" y="4931359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Telnet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5649163" y="5122469"/>
            <a:ext cx="866851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 txBox="1"/>
          <p:nvPr/>
        </p:nvSpPr>
        <p:spPr>
          <a:xfrm>
            <a:off x="5725058" y="4931359"/>
            <a:ext cx="1911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6512357" y="5122469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 txBox="1"/>
          <p:nvPr/>
        </p:nvSpPr>
        <p:spPr>
          <a:xfrm>
            <a:off x="6588252" y="4931359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4505249" y="5383987"/>
            <a:ext cx="11521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 txBox="1"/>
          <p:nvPr/>
        </p:nvSpPr>
        <p:spPr>
          <a:xfrm>
            <a:off x="4581144" y="5197450"/>
            <a:ext cx="2578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RDP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5649163" y="5383987"/>
            <a:ext cx="866851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5725058" y="5197450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3389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6512357" y="5383987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 txBox="1"/>
          <p:nvPr/>
        </p:nvSpPr>
        <p:spPr>
          <a:xfrm>
            <a:off x="6588252" y="5197450"/>
            <a:ext cx="4480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4581144" y="5464454"/>
            <a:ext cx="2386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FTP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5725058" y="5464454"/>
            <a:ext cx="162763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6588252" y="5464454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096098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946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8544154" y="3924605"/>
            <a:ext cx="10863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SHADOW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8257946" y="4190695"/>
            <a:ext cx="302940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Interdire l'usage d'applications non approuvées pour les données sensibles.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257946" y="4612234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8268005" y="4621378"/>
            <a:ext cx="122895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 txBox="1"/>
          <p:nvPr/>
        </p:nvSpPr>
        <p:spPr>
          <a:xfrm>
            <a:off x="8343900" y="4678985"/>
            <a:ext cx="2478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9488729" y="4621378"/>
            <a:ext cx="103784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 txBox="1"/>
          <p:nvPr/>
        </p:nvSpPr>
        <p:spPr>
          <a:xfrm>
            <a:off x="9564624" y="4678985"/>
            <a:ext cx="2862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10522001" y="4621378"/>
            <a:ext cx="933602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10597896" y="4678985"/>
            <a:ext cx="4197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VALIDÉ?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8268005" y="5122469"/>
            <a:ext cx="12289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8343900" y="4931359"/>
            <a:ext cx="5815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WeTransfer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9488729" y="5122469"/>
            <a:ext cx="10378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9564624" y="4931359"/>
            <a:ext cx="4764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FileShare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10522001" y="5122469"/>
            <a:ext cx="933602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10597896" y="4931359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8268005" y="5383987"/>
            <a:ext cx="12289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8343900" y="5197450"/>
            <a:ext cx="5431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WhatsApp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9488729" y="5383987"/>
            <a:ext cx="10378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9564624" y="5197450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Msg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10522001" y="5383987"/>
            <a:ext cx="933602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 txBox="1"/>
          <p:nvPr/>
        </p:nvSpPr>
        <p:spPr>
          <a:xfrm>
            <a:off x="10597896" y="5197450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8343900" y="5464454"/>
            <a:ext cx="4572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Dropbox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9564624" y="5464454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10597896" y="5464454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8" name="Google Shape;568;p15" title="cybersup-connecteur-gradi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69" name="Google Shape;569;p15" title="cybersup-wordmark-blan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5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721A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6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"/>
          <p:cNvSpPr txBox="1"/>
          <p:nvPr/>
        </p:nvSpPr>
        <p:spPr>
          <a:xfrm>
            <a:off x="571500" y="629107"/>
            <a:ext cx="73821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ÉTUDE DE CAS — BANQUE RÉGIONALE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571500" y="1238098"/>
            <a:ext cx="3534300" cy="2533800"/>
          </a:xfrm>
          <a:prstGeom prst="roundRect">
            <a:avLst>
              <a:gd fmla="val 1628" name="adj"/>
            </a:avLst>
          </a:prstGeom>
          <a:solidFill>
            <a:srgbClr val="F6E9E0"/>
          </a:solidFill>
          <a:ln cap="flat" cmpd="sng" w="12700">
            <a:solidFill>
              <a:srgbClr val="000000">
                <a:alpha val="471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2701874" y="1476756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3" name="Google Shape;5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151" y="1609344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6"/>
          <p:cNvSpPr txBox="1"/>
          <p:nvPr/>
        </p:nvSpPr>
        <p:spPr>
          <a:xfrm>
            <a:off x="2942539" y="1705356"/>
            <a:ext cx="10242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chivo Black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CONTEXTE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 txBox="1"/>
          <p:nvPr/>
        </p:nvSpPr>
        <p:spPr>
          <a:xfrm>
            <a:off x="1685250" y="2248051"/>
            <a:ext cx="2281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Infrastructure Étendue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 txBox="1"/>
          <p:nvPr/>
        </p:nvSpPr>
        <p:spPr>
          <a:xfrm>
            <a:off x="809250" y="2562150"/>
            <a:ext cx="31053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Institution financière gérant 150 agences réparties sur le territoire et un parc de 3000 postes de travail interconnectés.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4261073" y="1238548"/>
            <a:ext cx="3534300" cy="2533800"/>
          </a:xfrm>
          <a:prstGeom prst="roundRect">
            <a:avLst>
              <a:gd fmla="val 1628" name="adj"/>
            </a:avLst>
          </a:prstGeom>
          <a:solidFill>
            <a:srgbClr val="FEE2E2"/>
          </a:solidFill>
          <a:ln cap="flat" cmpd="sng" w="12700">
            <a:solidFill>
              <a:srgbClr val="000000">
                <a:alpha val="471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6250680" y="1476756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9" name="Google Shape;5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4183" y="16093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 txBox="1"/>
          <p:nvPr/>
        </p:nvSpPr>
        <p:spPr>
          <a:xfrm>
            <a:off x="6461150" y="1705356"/>
            <a:ext cx="1262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chivo Black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DÉFI MAJEUR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 txBox="1"/>
          <p:nvPr/>
        </p:nvSpPr>
        <p:spPr>
          <a:xfrm>
            <a:off x="5586630" y="2200046"/>
            <a:ext cx="21579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rgbClr val="7F1D1D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Attaque Ransomware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 txBox="1"/>
          <p:nvPr/>
        </p:nvSpPr>
        <p:spPr>
          <a:xfrm>
            <a:off x="4568350" y="2562150"/>
            <a:ext cx="3155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Infection par ransomware via phishing paralysant 30% des systèmes critiques et menaçant l'intégrité des données clients.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8089697" y="1238098"/>
            <a:ext cx="3534300" cy="2533800"/>
          </a:xfrm>
          <a:prstGeom prst="roundRect">
            <a:avLst>
              <a:gd fmla="val 1628" name="adj"/>
            </a:avLst>
          </a:prstGeom>
          <a:solidFill>
            <a:srgbClr val="DBEAFE"/>
          </a:solidFill>
          <a:ln cap="flat" cmpd="sng" w="12700">
            <a:solidFill>
              <a:srgbClr val="000000">
                <a:alpha val="471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10616829" y="1476756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3192" y="1609344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6"/>
          <p:cNvSpPr txBox="1"/>
          <p:nvPr/>
        </p:nvSpPr>
        <p:spPr>
          <a:xfrm>
            <a:off x="10577779" y="1705356"/>
            <a:ext cx="9099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chivo Black"/>
              <a:buNone/>
            </a:pPr>
            <a:r>
              <a:rPr lang="en-US" sz="1000">
                <a:latin typeface="Archivo Black"/>
                <a:ea typeface="Archivo Black"/>
                <a:cs typeface="Archivo Black"/>
                <a:sym typeface="Archivo Black"/>
              </a:rPr>
              <a:t>AIDE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9225380" y="2200046"/>
            <a:ext cx="2262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rgbClr val="1E3A8A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Défense en Profondeur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8328355" y="2562149"/>
            <a:ext cx="31053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Déploiement d'urgence EDR sur tous les endpoints, segmentation stricte du réseau et campagne de formation massive des utilisateurs.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571500" y="4000500"/>
            <a:ext cx="11048700" cy="2019300"/>
          </a:xfrm>
          <a:prstGeom prst="roundRect">
            <a:avLst>
              <a:gd fmla="val 2380" name="adj"/>
            </a:avLst>
          </a:prstGeom>
          <a:solidFill>
            <a:srgbClr val="F9FAFB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809244" y="4468360"/>
            <a:ext cx="1867200" cy="9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 txBox="1"/>
          <p:nvPr/>
        </p:nvSpPr>
        <p:spPr>
          <a:xfrm>
            <a:off x="809244" y="4286707"/>
            <a:ext cx="1967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chivo Black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RÉSULTATS </a:t>
            </a:r>
            <a:r>
              <a:rPr lang="en-US" sz="1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ATTENDUS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2" name="Google Shape;602;p16"/>
          <p:cNvPicPr preferRelativeResize="0"/>
          <p:nvPr/>
        </p:nvPicPr>
        <p:blipFill rotWithShape="1">
          <a:blip r:embed="rId6">
            <a:alphaModFix/>
          </a:blip>
          <a:srcRect b="-536" l="0" r="0" t="-526"/>
          <a:stretch/>
        </p:blipFill>
        <p:spPr>
          <a:xfrm>
            <a:off x="2294994" y="4701212"/>
            <a:ext cx="29689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6"/>
          <p:cNvSpPr txBox="1"/>
          <p:nvPr/>
        </p:nvSpPr>
        <p:spPr>
          <a:xfrm>
            <a:off x="1832462" y="5173803"/>
            <a:ext cx="137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3100"/>
              <a:buFont typeface="Archivo Black"/>
              <a:buNone/>
            </a:pPr>
            <a:r>
              <a:rPr lang="en-US" sz="3100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60min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761134" y="5676595"/>
            <a:ext cx="15198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TEMPS DE </a:t>
            </a:r>
            <a:r>
              <a:rPr b="1" lang="en-US" sz="10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L’EXERCICE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5409245" y="5153034"/>
            <a:ext cx="137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3100"/>
              <a:buFont typeface="Archivo Black"/>
              <a:buNone/>
            </a:pPr>
            <a:r>
              <a:rPr lang="en-US" sz="3100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5386730" y="5676595"/>
            <a:ext cx="15198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1" lang="en-US" sz="10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NOMBRE D’ETUDIANT</a:t>
            </a:r>
            <a:endParaRPr b="1" sz="100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1" lang="en-US" sz="10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POUR LE PROJET</a:t>
            </a:r>
            <a:endParaRPr b="1" sz="100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7" name="Google Shape;607;p16"/>
          <p:cNvSpPr txBox="1"/>
          <p:nvPr/>
        </p:nvSpPr>
        <p:spPr>
          <a:xfrm>
            <a:off x="9122969" y="5171846"/>
            <a:ext cx="1500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30%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9012387" y="5677716"/>
            <a:ext cx="1643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1" lang="en-US" sz="10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% DANS NOTE FINALE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571500" y="6915607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571500" y="7086600"/>
            <a:ext cx="342900" cy="342900"/>
          </a:xfrm>
          <a:prstGeom prst="roundRect">
            <a:avLst>
              <a:gd fmla="val 2963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1" name="Google Shape;611;p16"/>
          <p:cNvPicPr preferRelativeResize="0"/>
          <p:nvPr/>
        </p:nvPicPr>
        <p:blipFill rotWithShape="1">
          <a:blip r:embed="rId7">
            <a:alphaModFix/>
          </a:blip>
          <a:srcRect b="0" l="-2576" r="-2565" t="0"/>
          <a:stretch/>
        </p:blipFill>
        <p:spPr>
          <a:xfrm>
            <a:off x="690372" y="7200900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6"/>
          <p:cNvSpPr txBox="1"/>
          <p:nvPr/>
        </p:nvSpPr>
        <p:spPr>
          <a:xfrm>
            <a:off x="1067105" y="7172554"/>
            <a:ext cx="11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Charte graphique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11329416" y="7172554"/>
            <a:ext cx="3960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6/22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7251" y="4611134"/>
            <a:ext cx="457199" cy="45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52395" y="45675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6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8" name="Google Shape;618;p16" title="cybersup-wordmark-blanc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6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0" name="Google Shape;620;p16" title="cybersup-logo-symbole-original-monochrome-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6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880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17" title="cybersup-logo-symbole-original-monochrom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17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571500" y="866851"/>
            <a:ext cx="11048695" cy="192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7"/>
          <p:cNvSpPr txBox="1"/>
          <p:nvPr/>
        </p:nvSpPr>
        <p:spPr>
          <a:xfrm>
            <a:off x="571500" y="362102"/>
            <a:ext cx="6143854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RÉSUMÉ — FIN DE </a:t>
            </a:r>
            <a:r>
              <a:rPr lang="en-US" sz="27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CHAPITRE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571500" y="1314907"/>
            <a:ext cx="2619756" cy="2428646"/>
          </a:xfrm>
          <a:prstGeom prst="roundRect">
            <a:avLst>
              <a:gd fmla="val 1772" name="adj"/>
            </a:avLst>
          </a:prstGeom>
          <a:solidFill>
            <a:srgbClr val="FFFFFF">
              <a:alpha val="9804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1595628" y="1466698"/>
            <a:ext cx="571500" cy="571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4" name="Google Shape;6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619402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17"/>
          <p:cNvSpPr txBox="1"/>
          <p:nvPr/>
        </p:nvSpPr>
        <p:spPr>
          <a:xfrm>
            <a:off x="1441777" y="2162556"/>
            <a:ext cx="843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 txBox="1"/>
          <p:nvPr/>
        </p:nvSpPr>
        <p:spPr>
          <a:xfrm>
            <a:off x="1085393" y="2638044"/>
            <a:ext cx="170078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MODULES COMPLÉTÉS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3381451" y="1314907"/>
            <a:ext cx="2619756" cy="2428646"/>
          </a:xfrm>
          <a:prstGeom prst="roundRect">
            <a:avLst>
              <a:gd fmla="val 1772" name="adj"/>
            </a:avLst>
          </a:prstGeom>
          <a:solidFill>
            <a:srgbClr val="FFFFFF">
              <a:alpha val="9804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4405579" y="1466698"/>
            <a:ext cx="571500" cy="571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9" name="Google Shape;639;p17"/>
          <p:cNvPicPr preferRelativeResize="0"/>
          <p:nvPr/>
        </p:nvPicPr>
        <p:blipFill rotWithShape="1">
          <a:blip r:embed="rId5">
            <a:alphaModFix/>
          </a:blip>
          <a:srcRect b="0" l="-685" r="-685" t="0"/>
          <a:stretch/>
        </p:blipFill>
        <p:spPr>
          <a:xfrm>
            <a:off x="4539082" y="1619402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17"/>
          <p:cNvSpPr txBox="1"/>
          <p:nvPr/>
        </p:nvSpPr>
        <p:spPr>
          <a:xfrm>
            <a:off x="4109769" y="2162556"/>
            <a:ext cx="1243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95%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 txBox="1"/>
          <p:nvPr/>
        </p:nvSpPr>
        <p:spPr>
          <a:xfrm>
            <a:off x="4006306" y="2638044"/>
            <a:ext cx="1405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TAUX DE RÉUSSITE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6191402" y="1314907"/>
            <a:ext cx="2619756" cy="2428646"/>
          </a:xfrm>
          <a:prstGeom prst="roundRect">
            <a:avLst>
              <a:gd fmla="val 1772" name="adj"/>
            </a:avLst>
          </a:prstGeom>
          <a:solidFill>
            <a:srgbClr val="FFFFFF">
              <a:alpha val="9804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7215530" y="1466698"/>
            <a:ext cx="571500" cy="571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4" name="Google Shape;644;p17"/>
          <p:cNvPicPr preferRelativeResize="0"/>
          <p:nvPr/>
        </p:nvPicPr>
        <p:blipFill rotWithShape="1">
          <a:blip r:embed="rId6">
            <a:alphaModFix/>
          </a:blip>
          <a:srcRect b="0" l="-881" r="-881" t="0"/>
          <a:stretch/>
        </p:blipFill>
        <p:spPr>
          <a:xfrm>
            <a:off x="7381951" y="1619402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7"/>
          <p:cNvSpPr txBox="1"/>
          <p:nvPr/>
        </p:nvSpPr>
        <p:spPr>
          <a:xfrm>
            <a:off x="7061679" y="2162556"/>
            <a:ext cx="843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18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6762900" y="2638066"/>
            <a:ext cx="15765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COMPÉTENCES CLÉS</a:t>
            </a:r>
            <a:endParaRPr b="0" i="0" sz="1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POUR LA CERTIFICATION</a:t>
            </a:r>
            <a:endParaRPr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9001354" y="1314907"/>
            <a:ext cx="2619756" cy="2428646"/>
          </a:xfrm>
          <a:prstGeom prst="roundRect">
            <a:avLst>
              <a:gd fmla="val 1772" name="adj"/>
            </a:avLst>
          </a:prstGeom>
          <a:solidFill>
            <a:srgbClr val="FFFFFF">
              <a:alpha val="9804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10025482" y="1466698"/>
            <a:ext cx="571500" cy="571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9" name="Google Shape;6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77272" y="1619402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7"/>
          <p:cNvSpPr txBox="1"/>
          <p:nvPr/>
        </p:nvSpPr>
        <p:spPr>
          <a:xfrm>
            <a:off x="9751114" y="2162556"/>
            <a:ext cx="1176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chivo Black"/>
              <a:buNone/>
            </a:pPr>
            <a:r>
              <a:rPr lang="en-US" sz="3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35</a:t>
            </a:r>
            <a:r>
              <a:rPr b="0" i="0" lang="en-US" sz="31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 txBox="1"/>
          <p:nvPr/>
        </p:nvSpPr>
        <p:spPr>
          <a:xfrm>
            <a:off x="9516161" y="2638044"/>
            <a:ext cx="169072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TEMPS DE 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571500" y="4028846"/>
            <a:ext cx="11048700" cy="1790400"/>
          </a:xfrm>
          <a:prstGeom prst="roundRect">
            <a:avLst>
              <a:gd fmla="val 3260" name="adj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571500" y="4028846"/>
            <a:ext cx="57600" cy="17904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7"/>
          <p:cNvSpPr txBox="1"/>
          <p:nvPr/>
        </p:nvSpPr>
        <p:spPr>
          <a:xfrm>
            <a:off x="914400" y="4295851"/>
            <a:ext cx="250088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CLÉS À RETENIR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5" name="Google Shape;65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7055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17"/>
          <p:cNvSpPr txBox="1"/>
          <p:nvPr/>
        </p:nvSpPr>
        <p:spPr>
          <a:xfrm>
            <a:off x="1181405" y="4677156"/>
            <a:ext cx="69348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Maîtrise complète des vecteurs d'attaque et des stratégies de défense (Blue Team vs Red Team).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7" name="Google Shape;6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50484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7"/>
          <p:cNvSpPr txBox="1"/>
          <p:nvPr/>
        </p:nvSpPr>
        <p:spPr>
          <a:xfrm>
            <a:off x="1181405" y="5020056"/>
            <a:ext cx="738195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Capacité à mettre en œuvre des protocoles de sécurité robustes et à répondre aux incidents critiques.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9" name="Google Shape;65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53913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7"/>
          <p:cNvSpPr txBox="1"/>
          <p:nvPr/>
        </p:nvSpPr>
        <p:spPr>
          <a:xfrm>
            <a:off x="1181405" y="5362956"/>
            <a:ext cx="694395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Acquisition des bonnes pratiques pour sécuriser l'infrastructure et sensibiliser les collaborateurs.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3" name="Google Shape;663;p17" title="cybersup-wordmark-blanc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7" title="cybersup-connecteur-gradi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65" name="Google Shape;665;p17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880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8"/>
          <p:cNvSpPr/>
          <p:nvPr/>
        </p:nvSpPr>
        <p:spPr>
          <a:xfrm>
            <a:off x="3945075" y="5545644"/>
            <a:ext cx="3379800" cy="304500"/>
          </a:xfrm>
          <a:prstGeom prst="roundRect">
            <a:avLst>
              <a:gd fmla="val 13290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 txBox="1"/>
          <p:nvPr/>
        </p:nvSpPr>
        <p:spPr>
          <a:xfrm>
            <a:off x="571500" y="552298"/>
            <a:ext cx="46863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POUR ALLER PLUS LOIN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787977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18"/>
          <p:cNvPicPr preferRelativeResize="0"/>
          <p:nvPr/>
        </p:nvPicPr>
        <p:blipFill rotWithShape="1">
          <a:blip r:embed="rId3">
            <a:alphaModFix/>
          </a:blip>
          <a:srcRect b="0" l="-1653" r="-1642" t="0"/>
          <a:stretch/>
        </p:blipFill>
        <p:spPr>
          <a:xfrm>
            <a:off x="787977" y="1200607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8"/>
          <p:cNvSpPr txBox="1"/>
          <p:nvPr/>
        </p:nvSpPr>
        <p:spPr>
          <a:xfrm>
            <a:off x="1074184" y="1200607"/>
            <a:ext cx="1433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RESSOURCES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787977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1" name="Google Shape;6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931" y="185714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8"/>
          <p:cNvSpPr txBox="1"/>
          <p:nvPr/>
        </p:nvSpPr>
        <p:spPr>
          <a:xfrm>
            <a:off x="1206772" y="1742846"/>
            <a:ext cx="562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ANSSI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1206772" y="1954987"/>
            <a:ext cx="2615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Guides d'hygiène informatique &amp; bonnes pratiques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787977" y="254934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5" name="Google Shape;6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31" y="263438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8"/>
          <p:cNvSpPr txBox="1"/>
          <p:nvPr/>
        </p:nvSpPr>
        <p:spPr>
          <a:xfrm>
            <a:off x="1206772" y="2520086"/>
            <a:ext cx="1181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OWASP Top 10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1206772" y="2732227"/>
            <a:ext cx="2882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Standard de sensibilisation aux vulnérabilités web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787977" y="332658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9" name="Google Shape;689;p18"/>
          <p:cNvPicPr preferRelativeResize="0"/>
          <p:nvPr/>
        </p:nvPicPr>
        <p:blipFill rotWithShape="1">
          <a:blip r:embed="rId6">
            <a:alphaModFix/>
          </a:blip>
          <a:srcRect b="0" l="-834" r="-844" t="0"/>
          <a:stretch/>
        </p:blipFill>
        <p:spPr>
          <a:xfrm>
            <a:off x="863872" y="3411626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8"/>
          <p:cNvSpPr txBox="1"/>
          <p:nvPr/>
        </p:nvSpPr>
        <p:spPr>
          <a:xfrm>
            <a:off x="1206772" y="3297326"/>
            <a:ext cx="781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NIST CSF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 txBox="1"/>
          <p:nvPr/>
        </p:nvSpPr>
        <p:spPr>
          <a:xfrm>
            <a:off x="1206772" y="3509467"/>
            <a:ext cx="2662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Cadre de référence pour la cybersécurité (Identify, Protect...)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787977" y="410382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3" name="Google Shape;693;p18"/>
          <p:cNvPicPr preferRelativeResize="0"/>
          <p:nvPr/>
        </p:nvPicPr>
        <p:blipFill rotWithShape="1">
          <a:blip r:embed="rId7">
            <a:alphaModFix/>
          </a:blip>
          <a:srcRect b="-1094" l="0" r="0" t="-1104"/>
          <a:stretch/>
        </p:blipFill>
        <p:spPr>
          <a:xfrm>
            <a:off x="883075" y="4189781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18"/>
          <p:cNvSpPr txBox="1"/>
          <p:nvPr/>
        </p:nvSpPr>
        <p:spPr>
          <a:xfrm>
            <a:off x="1206772" y="4075481"/>
            <a:ext cx="1209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MITRE ATT&amp;CK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1206772" y="4286707"/>
            <a:ext cx="3024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Base de connaissances des tactiques adverses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4381805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805" y="120060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8"/>
          <p:cNvSpPr txBox="1"/>
          <p:nvPr/>
        </p:nvSpPr>
        <p:spPr>
          <a:xfrm>
            <a:off x="4686300" y="1200607"/>
            <a:ext cx="2005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OUTILS PRATIQUES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4381805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0" name="Google Shape;700;p18"/>
          <p:cNvPicPr preferRelativeResize="0"/>
          <p:nvPr/>
        </p:nvPicPr>
        <p:blipFill rotWithShape="1">
          <a:blip r:embed="rId9">
            <a:alphaModFix/>
          </a:blip>
          <a:srcRect b="0" l="-1504" r="-1514" t="0"/>
          <a:stretch/>
        </p:blipFill>
        <p:spPr>
          <a:xfrm>
            <a:off x="4448556" y="185714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8"/>
          <p:cNvSpPr txBox="1"/>
          <p:nvPr/>
        </p:nvSpPr>
        <p:spPr>
          <a:xfrm>
            <a:off x="4800600" y="1742846"/>
            <a:ext cx="886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Wireshark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 txBox="1"/>
          <p:nvPr/>
        </p:nvSpPr>
        <p:spPr>
          <a:xfrm>
            <a:off x="4800600" y="1954987"/>
            <a:ext cx="3044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Analyseur de paquets réseau pour le diagnostic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4381805" y="2375611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4" name="Google Shape;704;p18"/>
          <p:cNvPicPr preferRelativeResize="0"/>
          <p:nvPr/>
        </p:nvPicPr>
        <p:blipFill rotWithShape="1">
          <a:blip r:embed="rId10">
            <a:alphaModFix/>
          </a:blip>
          <a:srcRect b="0" l="-834" r="-844" t="0"/>
          <a:stretch/>
        </p:blipFill>
        <p:spPr>
          <a:xfrm>
            <a:off x="4457700" y="2461565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8"/>
          <p:cNvSpPr txBox="1"/>
          <p:nvPr/>
        </p:nvSpPr>
        <p:spPr>
          <a:xfrm>
            <a:off x="4800600" y="2347265"/>
            <a:ext cx="886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Zeek (Bro)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 txBox="1"/>
          <p:nvPr/>
        </p:nvSpPr>
        <p:spPr>
          <a:xfrm>
            <a:off x="4800600" y="2558491"/>
            <a:ext cx="3062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Framework de surveillance de la sécurité réseau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4381805" y="2979115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8" name="Google Shape;70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66844" y="306506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8"/>
          <p:cNvSpPr txBox="1"/>
          <p:nvPr/>
        </p:nvSpPr>
        <p:spPr>
          <a:xfrm>
            <a:off x="4800600" y="2950769"/>
            <a:ext cx="1010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Elastic SIEM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4800600" y="3161995"/>
            <a:ext cx="290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Centralisation et analyse des logs de sécurité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4381805" y="3583534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2" name="Google Shape;71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6844" y="3669487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8"/>
          <p:cNvSpPr txBox="1"/>
          <p:nvPr/>
        </p:nvSpPr>
        <p:spPr>
          <a:xfrm>
            <a:off x="4800600" y="3555187"/>
            <a:ext cx="8961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Burp Suite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 txBox="1"/>
          <p:nvPr/>
        </p:nvSpPr>
        <p:spPr>
          <a:xfrm>
            <a:off x="4800600" y="3766414"/>
            <a:ext cx="2948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Outil de test de sécurité des applications web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4381805" y="4187038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6" name="Google Shape;716;p18"/>
          <p:cNvPicPr preferRelativeResize="0"/>
          <p:nvPr/>
        </p:nvPicPr>
        <p:blipFill rotWithShape="1">
          <a:blip r:embed="rId13">
            <a:alphaModFix/>
          </a:blip>
          <a:srcRect b="0" l="-834" r="-844" t="0"/>
          <a:stretch/>
        </p:blipFill>
        <p:spPr>
          <a:xfrm>
            <a:off x="4457700" y="4272991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8"/>
          <p:cNvSpPr txBox="1"/>
          <p:nvPr/>
        </p:nvSpPr>
        <p:spPr>
          <a:xfrm>
            <a:off x="4800600" y="4158691"/>
            <a:ext cx="924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Metasploit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 txBox="1"/>
          <p:nvPr/>
        </p:nvSpPr>
        <p:spPr>
          <a:xfrm>
            <a:off x="4800600" y="4369918"/>
            <a:ext cx="3110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Framework pour le développement et l'exécution d'exploits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7983377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0" name="Google Shape;72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83377" y="1200607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8"/>
          <p:cNvSpPr txBox="1"/>
          <p:nvPr/>
        </p:nvSpPr>
        <p:spPr>
          <a:xfrm>
            <a:off x="8336336" y="1200607"/>
            <a:ext cx="1539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COMMUNAUTÉ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7983377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3" name="Google Shape;723;p18"/>
          <p:cNvPicPr preferRelativeResize="0"/>
          <p:nvPr/>
        </p:nvPicPr>
        <p:blipFill rotWithShape="1">
          <a:blip r:embed="rId15">
            <a:alphaModFix/>
          </a:blip>
          <a:srcRect b="0" l="-1504" r="-1514" t="0"/>
          <a:stretch/>
        </p:blipFill>
        <p:spPr>
          <a:xfrm>
            <a:off x="8050128" y="185714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18"/>
          <p:cNvSpPr txBox="1"/>
          <p:nvPr/>
        </p:nvSpPr>
        <p:spPr>
          <a:xfrm>
            <a:off x="8403087" y="1742846"/>
            <a:ext cx="1172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Forum Interne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 txBox="1"/>
          <p:nvPr/>
        </p:nvSpPr>
        <p:spPr>
          <a:xfrm>
            <a:off x="8403087" y="1954987"/>
            <a:ext cx="2424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Espace d'échange CYBERSUP pour les apprenants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7983377" y="254934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18"/>
          <p:cNvPicPr preferRelativeResize="0"/>
          <p:nvPr/>
        </p:nvPicPr>
        <p:blipFill rotWithShape="1">
          <a:blip r:embed="rId16">
            <a:alphaModFix/>
          </a:blip>
          <a:srcRect b="0" l="-1504" r="-1514" t="0"/>
          <a:stretch/>
        </p:blipFill>
        <p:spPr>
          <a:xfrm>
            <a:off x="8050128" y="263438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8"/>
          <p:cNvSpPr txBox="1"/>
          <p:nvPr/>
        </p:nvSpPr>
        <p:spPr>
          <a:xfrm>
            <a:off x="8403087" y="2520086"/>
            <a:ext cx="1286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Discord InfoSec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 txBox="1"/>
          <p:nvPr/>
        </p:nvSpPr>
        <p:spPr>
          <a:xfrm>
            <a:off x="8403087" y="2732227"/>
            <a:ext cx="28053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Canaux de veille et d'entraide en temps réel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7983377" y="3152851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1" name="Google Shape;731;p18"/>
          <p:cNvPicPr preferRelativeResize="0"/>
          <p:nvPr/>
        </p:nvPicPr>
        <p:blipFill rotWithShape="1">
          <a:blip r:embed="rId17">
            <a:alphaModFix/>
          </a:blip>
          <a:srcRect b="0" l="-2510" r="-2510" t="0"/>
          <a:stretch/>
        </p:blipFill>
        <p:spPr>
          <a:xfrm>
            <a:off x="8083961" y="3238805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8"/>
          <p:cNvSpPr txBox="1"/>
          <p:nvPr/>
        </p:nvSpPr>
        <p:spPr>
          <a:xfrm>
            <a:off x="8403087" y="3124505"/>
            <a:ext cx="1353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SSTIC / BlackHat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 txBox="1"/>
          <p:nvPr/>
        </p:nvSpPr>
        <p:spPr>
          <a:xfrm>
            <a:off x="8403087" y="3335731"/>
            <a:ext cx="2777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Conférences techniques majeures (Replays disponibles)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571500" y="5545644"/>
            <a:ext cx="3243300" cy="304500"/>
          </a:xfrm>
          <a:prstGeom prst="roundRect">
            <a:avLst>
              <a:gd fmla="val 13290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5" name="Google Shape;735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3349" y="563575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8"/>
          <p:cNvSpPr txBox="1"/>
          <p:nvPr/>
        </p:nvSpPr>
        <p:spPr>
          <a:xfrm>
            <a:off x="961950" y="5589010"/>
            <a:ext cx="2805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5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{{MAIL}}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 txBox="1"/>
          <p:nvPr/>
        </p:nvSpPr>
        <p:spPr>
          <a:xfrm>
            <a:off x="4357604" y="5594233"/>
            <a:ext cx="1851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{{LINKEDIN}}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10746943" y="56482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8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1" name="Google Shape;741;p18" title="cybersup-wordmark-blanc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8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{{NOM_DU_CHAPITRE}}</a:t>
            </a:r>
            <a:endParaRPr b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4" name="Google Shape;744;p18"/>
          <p:cNvPicPr preferRelativeResize="0"/>
          <p:nvPr/>
        </p:nvPicPr>
        <p:blipFill rotWithShape="1">
          <a:blip r:embed="rId20">
            <a:alphaModFix/>
          </a:blip>
          <a:srcRect b="-50" l="0" r="0" t="-40"/>
          <a:stretch/>
        </p:blipFill>
        <p:spPr>
          <a:xfrm>
            <a:off x="4088876" y="5596771"/>
            <a:ext cx="171900" cy="19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18" title="cybersup-logo-symbole-original-monochrome-1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18" title="cybersup-connecteur-gradient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47" name="Google Shape;747;p18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9"/>
          <p:cNvSpPr txBox="1"/>
          <p:nvPr/>
        </p:nvSpPr>
        <p:spPr>
          <a:xfrm>
            <a:off x="952805" y="3124505"/>
            <a:ext cx="6477610" cy="1524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Archivo Black"/>
              <a:buNone/>
            </a:pPr>
            <a:r>
              <a:rPr b="0" i="0" lang="en-US" sz="12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952805" y="5219395"/>
            <a:ext cx="10287000" cy="192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{{AN1-AN2}}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19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9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{{NOM_DU_COURS}}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{{CLASSE}}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9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